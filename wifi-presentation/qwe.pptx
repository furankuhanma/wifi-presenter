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Signika Bold" charset="1" panose="02010003020600000004"/>
      <p:regular r:id="rId30"/>
    </p:embeddedFont>
    <p:embeddedFont>
      <p:font typeface="Space Mono Bold" charset="1" panose="02000809030000020004"/>
      <p:regular r:id="rId31"/>
    </p:embeddedFont>
    <p:embeddedFont>
      <p:font typeface="Signika" charset="1" panose="02010003020600000004"/>
      <p:regular r:id="rId32"/>
    </p:embeddedFont>
    <p:embeddedFont>
      <p:font typeface="Tomorrow" charset="1" panose="00000000000000000000"/>
      <p:regular r:id="rId33"/>
    </p:embeddedFont>
    <p:embeddedFont>
      <p:font typeface="Pattanakarn Bold Italics" charset="1" panose="00000000000000000000"/>
      <p:regular r:id="rId34"/>
    </p:embeddedFont>
    <p:embeddedFont>
      <p:font typeface="Pattanakarn" charset="1" panose="00000000000000000000"/>
      <p:regular r:id="rId35"/>
    </p:embeddedFont>
    <p:embeddedFont>
      <p:font typeface="Pattanakarn Italics" charset="1" panose="0000000000000000000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2" Target="../media/image6.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13" Target="../media/image17.png" Type="http://schemas.openxmlformats.org/officeDocument/2006/relationships/image"/><Relationship Id="rId2" Target="../media/image6.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svg" Type="http://schemas.openxmlformats.org/officeDocument/2006/relationships/image"/><Relationship Id="rId11" Target="../media/image18.png" Type="http://schemas.openxmlformats.org/officeDocument/2006/relationships/image"/><Relationship Id="rId2" Target="../media/image6.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5.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2" Target="../media/image6.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2" Target="../media/image6.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2" Target="../media/image6.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13" Target="../media/image19.jpeg" Type="http://schemas.openxmlformats.org/officeDocument/2006/relationships/image"/><Relationship Id="rId2" Target="../media/image6.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2" Target="../media/image6.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2" Target="../media/image6.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2" Target="../media/image6.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2" Target="../media/image6.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2" Target="../media/image6.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2" Target="../media/image6.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svg" Type="http://schemas.openxmlformats.org/officeDocument/2006/relationships/image"/><Relationship Id="rId2" Target="../media/image6.jpeg" Type="http://schemas.openxmlformats.org/officeDocument/2006/relationships/image"/><Relationship Id="rId3" Target="../media/image7.png" Type="http://schemas.openxmlformats.org/officeDocument/2006/relationships/image"/><Relationship Id="rId4" Target="../media/image8.svg" Type="http://schemas.openxmlformats.org/officeDocument/2006/relationships/image"/><Relationship Id="rId5" Target="../media/image9.png" Type="http://schemas.openxmlformats.org/officeDocument/2006/relationships/image"/><Relationship Id="rId6" Target="../media/image10.sv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23.png" Type="http://schemas.openxmlformats.org/officeDocument/2006/relationships/image"/><Relationship Id="rId6" Target="../media/image24.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0.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23.png" Type="http://schemas.openxmlformats.org/officeDocument/2006/relationships/image"/><Relationship Id="rId6" Target="../media/image24.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 Id="rId7" Target="../media/image27.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 Id="rId3" Target="../media/image23.png" Type="http://schemas.openxmlformats.org/officeDocument/2006/relationships/image"/><Relationship Id="rId4" Target="../media/image24.svg" Type="http://schemas.openxmlformats.org/officeDocument/2006/relationships/image"/><Relationship Id="rId5" Target="../media/image21.png" Type="http://schemas.openxmlformats.org/officeDocument/2006/relationships/image"/><Relationship Id="rId6" Target="../media/image22.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 Id="rId3" Target="../media/image22.sv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jpeg" Type="http://schemas.openxmlformats.org/officeDocument/2006/relationships/image"/><Relationship Id="rId3" Target="../media/image21.png" Type="http://schemas.openxmlformats.org/officeDocument/2006/relationships/image"/><Relationship Id="rId4" Target="../media/image22.svg" Type="http://schemas.openxmlformats.org/officeDocument/2006/relationships/image"/><Relationship Id="rId5" Target="../media/image23.png" Type="http://schemas.openxmlformats.org/officeDocument/2006/relationships/image"/><Relationship Id="rId6" Target="../media/image24.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jpeg" Type="http://schemas.openxmlformats.org/officeDocument/2006/relationships/image"/><Relationship Id="rId3" Target="../media/image28.png" Type="http://schemas.openxmlformats.org/officeDocument/2006/relationships/image"/><Relationship Id="rId4" Target="../media/image23.png" Type="http://schemas.openxmlformats.org/officeDocument/2006/relationships/image"/><Relationship Id="rId5" Target="../media/image24.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6.svg" Type="http://schemas.openxmlformats.org/officeDocument/2006/relationships/image"/><Relationship Id="rId11" Target="../media/image4.png" Type="http://schemas.openxmlformats.org/officeDocument/2006/relationships/image"/><Relationship Id="rId12" Target="../media/image5.svg" Type="http://schemas.openxmlformats.org/officeDocument/2006/relationships/image"/><Relationship Id="rId13" Target="../media/image2.png" Type="http://schemas.openxmlformats.org/officeDocument/2006/relationships/image"/><Relationship Id="rId14" Target="../media/image3.svg" Type="http://schemas.openxmlformats.org/officeDocument/2006/relationships/image"/><Relationship Id="rId2" Target="../media/image1.jpeg" Type="http://schemas.openxmlformats.org/officeDocument/2006/relationships/image"/><Relationship Id="rId3" Target="../media/image29.png" Type="http://schemas.openxmlformats.org/officeDocument/2006/relationships/image"/><Relationship Id="rId4" Target="../media/image30.svg" Type="http://schemas.openxmlformats.org/officeDocument/2006/relationships/image"/><Relationship Id="rId5" Target="../media/image31.png" Type="http://schemas.openxmlformats.org/officeDocument/2006/relationships/image"/><Relationship Id="rId6" Target="../media/image32.svg" Type="http://schemas.openxmlformats.org/officeDocument/2006/relationships/image"/><Relationship Id="rId7" Target="../media/image33.png" Type="http://schemas.openxmlformats.org/officeDocument/2006/relationships/image"/><Relationship Id="rId8" Target="../media/image34.svg" Type="http://schemas.openxmlformats.org/officeDocument/2006/relationships/image"/><Relationship Id="rId9" Target="../media/image35.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3416" r="0" b="-83416"/>
            </a:stretch>
          </a:blipFill>
        </p:spPr>
      </p:sp>
      <p:sp>
        <p:nvSpPr>
          <p:cNvPr name="Freeform 3" id="3"/>
          <p:cNvSpPr/>
          <p:nvPr/>
        </p:nvSpPr>
        <p:spPr>
          <a:xfrm flipH="false" flipV="false" rot="0">
            <a:off x="15895463" y="7990557"/>
            <a:ext cx="1654387" cy="1654387"/>
          </a:xfrm>
          <a:custGeom>
            <a:avLst/>
            <a:gdLst/>
            <a:ahLst/>
            <a:cxnLst/>
            <a:rect r="r" b="b" t="t" l="l"/>
            <a:pathLst>
              <a:path h="1654387" w="1654387">
                <a:moveTo>
                  <a:pt x="0" y="0"/>
                </a:moveTo>
                <a:lnTo>
                  <a:pt x="1654388" y="0"/>
                </a:lnTo>
                <a:lnTo>
                  <a:pt x="1654388" y="1654387"/>
                </a:lnTo>
                <a:lnTo>
                  <a:pt x="0" y="16543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AutoShape 4" id="4"/>
          <p:cNvSpPr/>
          <p:nvPr/>
        </p:nvSpPr>
        <p:spPr>
          <a:xfrm>
            <a:off x="1028700" y="3690462"/>
            <a:ext cx="16230600" cy="0"/>
          </a:xfrm>
          <a:prstGeom prst="line">
            <a:avLst/>
          </a:prstGeom>
          <a:ln cap="flat" w="104775">
            <a:solidFill>
              <a:srgbClr val="FFFFFF"/>
            </a:solidFill>
            <a:prstDash val="solid"/>
            <a:headEnd type="none" len="sm" w="sm"/>
            <a:tailEnd type="none" len="sm" w="sm"/>
          </a:ln>
        </p:spPr>
      </p:sp>
      <p:sp>
        <p:nvSpPr>
          <p:cNvPr name="Freeform 5" id="5"/>
          <p:cNvSpPr/>
          <p:nvPr/>
        </p:nvSpPr>
        <p:spPr>
          <a:xfrm flipH="false" flipV="false" rot="-1093760">
            <a:off x="485158" y="7873748"/>
            <a:ext cx="1737696" cy="1737696"/>
          </a:xfrm>
          <a:custGeom>
            <a:avLst/>
            <a:gdLst/>
            <a:ahLst/>
            <a:cxnLst/>
            <a:rect r="r" b="b" t="t" l="l"/>
            <a:pathLst>
              <a:path h="1737696" w="1737696">
                <a:moveTo>
                  <a:pt x="0" y="0"/>
                </a:moveTo>
                <a:lnTo>
                  <a:pt x="1737695" y="0"/>
                </a:lnTo>
                <a:lnTo>
                  <a:pt x="1737695" y="1737695"/>
                </a:lnTo>
                <a:lnTo>
                  <a:pt x="0" y="173769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6" id="6"/>
          <p:cNvSpPr txBox="true"/>
          <p:nvPr/>
        </p:nvSpPr>
        <p:spPr>
          <a:xfrm rot="0">
            <a:off x="3949307" y="4910271"/>
            <a:ext cx="10389386" cy="3080286"/>
          </a:xfrm>
          <a:prstGeom prst="rect">
            <a:avLst/>
          </a:prstGeom>
        </p:spPr>
        <p:txBody>
          <a:bodyPr anchor="t" rtlCol="false" tIns="0" lIns="0" bIns="0" rIns="0">
            <a:spAutoFit/>
          </a:bodyPr>
          <a:lstStyle/>
          <a:p>
            <a:pPr algn="l">
              <a:lnSpc>
                <a:spcPts val="8001"/>
              </a:lnSpc>
            </a:pPr>
            <a:r>
              <a:rPr lang="en-US" sz="8001" b="true">
                <a:solidFill>
                  <a:srgbClr val="FFFFFF"/>
                </a:solidFill>
                <a:latin typeface="Signika Bold"/>
                <a:ea typeface="Signika Bold"/>
                <a:cs typeface="Signika Bold"/>
                <a:sym typeface="Signika Bold"/>
              </a:rPr>
              <a:t>&gt; Inverting Circu</a:t>
            </a:r>
            <a:r>
              <a:rPr lang="en-US" b="true" sz="8001">
                <a:solidFill>
                  <a:srgbClr val="FFFFFF"/>
                </a:solidFill>
                <a:latin typeface="Signika Bold"/>
                <a:ea typeface="Signika Bold"/>
                <a:cs typeface="Signika Bold"/>
                <a:sym typeface="Signika Bold"/>
              </a:rPr>
              <a:t>it </a:t>
            </a:r>
          </a:p>
          <a:p>
            <a:pPr algn="l">
              <a:lnSpc>
                <a:spcPts val="8001"/>
              </a:lnSpc>
            </a:pPr>
            <a:r>
              <a:rPr lang="en-US" b="true" sz="8001">
                <a:solidFill>
                  <a:srgbClr val="FFFFFF"/>
                </a:solidFill>
                <a:latin typeface="Signika Bold"/>
                <a:ea typeface="Signika Bold"/>
                <a:cs typeface="Signika Bold"/>
                <a:sym typeface="Signika Bold"/>
              </a:rPr>
              <a:t>&gt; Non-inverting Circuit</a:t>
            </a:r>
          </a:p>
          <a:p>
            <a:pPr algn="l">
              <a:lnSpc>
                <a:spcPts val="8001"/>
              </a:lnSpc>
            </a:pPr>
            <a:r>
              <a:rPr lang="en-US" b="true" sz="8001">
                <a:solidFill>
                  <a:srgbClr val="FFFFFF"/>
                </a:solidFill>
                <a:latin typeface="Signika Bold"/>
                <a:ea typeface="Signika Bold"/>
                <a:cs typeface="Signika Bold"/>
                <a:sym typeface="Signika Bold"/>
              </a:rPr>
              <a:t>&gt; Impedance </a:t>
            </a:r>
          </a:p>
        </p:txBody>
      </p:sp>
      <p:sp>
        <p:nvSpPr>
          <p:cNvPr name="TextBox 7" id="7"/>
          <p:cNvSpPr txBox="true"/>
          <p:nvPr/>
        </p:nvSpPr>
        <p:spPr>
          <a:xfrm rot="0">
            <a:off x="1937247" y="2549342"/>
            <a:ext cx="14413505" cy="930275"/>
          </a:xfrm>
          <a:prstGeom prst="rect">
            <a:avLst/>
          </a:prstGeom>
        </p:spPr>
        <p:txBody>
          <a:bodyPr anchor="t" rtlCol="false" tIns="0" lIns="0" bIns="0" rIns="0">
            <a:spAutoFit/>
          </a:bodyPr>
          <a:lstStyle/>
          <a:p>
            <a:pPr algn="l">
              <a:lnSpc>
                <a:spcPts val="6999"/>
              </a:lnSpc>
            </a:pPr>
            <a:r>
              <a:rPr lang="en-US" sz="6999" b="true">
                <a:solidFill>
                  <a:srgbClr val="FFFFFF"/>
                </a:solidFill>
                <a:latin typeface="Signika Bold"/>
                <a:ea typeface="Signika Bold"/>
                <a:cs typeface="Signika Bold"/>
                <a:sym typeface="Signika Bold"/>
              </a:rPr>
              <a:t>TOPIC 2: OPERATIONAL AMPLIFIER</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true" flipV="false" rot="344870">
            <a:off x="15386876" y="7760663"/>
            <a:ext cx="1781093" cy="1913284"/>
          </a:xfrm>
          <a:custGeom>
            <a:avLst/>
            <a:gdLst/>
            <a:ahLst/>
            <a:cxnLst/>
            <a:rect r="r" b="b" t="t" l="l"/>
            <a:pathLst>
              <a:path h="1913284" w="1781093">
                <a:moveTo>
                  <a:pt x="1781093" y="0"/>
                </a:moveTo>
                <a:lnTo>
                  <a:pt x="0" y="0"/>
                </a:lnTo>
                <a:lnTo>
                  <a:pt x="0" y="1913284"/>
                </a:lnTo>
                <a:lnTo>
                  <a:pt x="1781093" y="1913284"/>
                </a:lnTo>
                <a:lnTo>
                  <a:pt x="178109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808180">
            <a:off x="789558" y="723472"/>
            <a:ext cx="1529617" cy="1529617"/>
          </a:xfrm>
          <a:custGeom>
            <a:avLst/>
            <a:gdLst/>
            <a:ahLst/>
            <a:cxnLst/>
            <a:rect r="r" b="b" t="t" l="l"/>
            <a:pathLst>
              <a:path h="1529617" w="1529617">
                <a:moveTo>
                  <a:pt x="0" y="0"/>
                </a:moveTo>
                <a:lnTo>
                  <a:pt x="1529617" y="0"/>
                </a:lnTo>
                <a:lnTo>
                  <a:pt x="1529617" y="1529617"/>
                </a:lnTo>
                <a:lnTo>
                  <a:pt x="0" y="152961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1093760">
            <a:off x="735652" y="3716965"/>
            <a:ext cx="785915" cy="785915"/>
          </a:xfrm>
          <a:custGeom>
            <a:avLst/>
            <a:gdLst/>
            <a:ahLst/>
            <a:cxnLst/>
            <a:rect r="r" b="b" t="t" l="l"/>
            <a:pathLst>
              <a:path h="785915" w="785915">
                <a:moveTo>
                  <a:pt x="0" y="0"/>
                </a:moveTo>
                <a:lnTo>
                  <a:pt x="785915" y="0"/>
                </a:lnTo>
                <a:lnTo>
                  <a:pt x="785915" y="785915"/>
                </a:lnTo>
                <a:lnTo>
                  <a:pt x="0" y="78591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6573101" y="5347517"/>
            <a:ext cx="961386" cy="961386"/>
          </a:xfrm>
          <a:custGeom>
            <a:avLst/>
            <a:gdLst/>
            <a:ahLst/>
            <a:cxnLst/>
            <a:rect r="r" b="b" t="t" l="l"/>
            <a:pathLst>
              <a:path h="961386" w="961386">
                <a:moveTo>
                  <a:pt x="0" y="0"/>
                </a:moveTo>
                <a:lnTo>
                  <a:pt x="961385" y="0"/>
                </a:lnTo>
                <a:lnTo>
                  <a:pt x="961385" y="961385"/>
                </a:lnTo>
                <a:lnTo>
                  <a:pt x="0" y="9613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177077" y="5862504"/>
            <a:ext cx="5427189" cy="5427189"/>
          </a:xfrm>
          <a:custGeom>
            <a:avLst/>
            <a:gdLst/>
            <a:ahLst/>
            <a:cxnLst/>
            <a:rect r="r" b="b" t="t" l="l"/>
            <a:pathLst>
              <a:path h="5427189" w="5427189">
                <a:moveTo>
                  <a:pt x="0" y="0"/>
                </a:moveTo>
                <a:lnTo>
                  <a:pt x="5427189" y="0"/>
                </a:lnTo>
                <a:lnTo>
                  <a:pt x="5427189" y="5427189"/>
                </a:lnTo>
                <a:lnTo>
                  <a:pt x="0" y="542718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true" flipV="true" rot="0">
            <a:off x="14037888" y="-1002693"/>
            <a:ext cx="5427189" cy="5427189"/>
          </a:xfrm>
          <a:custGeom>
            <a:avLst/>
            <a:gdLst/>
            <a:ahLst/>
            <a:cxnLst/>
            <a:rect r="r" b="b" t="t" l="l"/>
            <a:pathLst>
              <a:path h="5427189" w="5427189">
                <a:moveTo>
                  <a:pt x="5427189" y="5427189"/>
                </a:moveTo>
                <a:lnTo>
                  <a:pt x="0" y="5427189"/>
                </a:lnTo>
                <a:lnTo>
                  <a:pt x="0" y="0"/>
                </a:lnTo>
                <a:lnTo>
                  <a:pt x="5427189" y="0"/>
                </a:lnTo>
                <a:lnTo>
                  <a:pt x="5427189" y="5427189"/>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AutoShape 9" id="9"/>
          <p:cNvSpPr/>
          <p:nvPr/>
        </p:nvSpPr>
        <p:spPr>
          <a:xfrm>
            <a:off x="3097882" y="9106030"/>
            <a:ext cx="6492240" cy="0"/>
          </a:xfrm>
          <a:prstGeom prst="line">
            <a:avLst/>
          </a:prstGeom>
          <a:ln cap="flat" w="19050">
            <a:solidFill>
              <a:srgbClr val="000A47"/>
            </a:solidFill>
            <a:prstDash val="solid"/>
            <a:headEnd type="none" len="sm" w="sm"/>
            <a:tailEnd type="none" len="sm" w="sm"/>
          </a:ln>
        </p:spPr>
      </p:sp>
      <p:sp>
        <p:nvSpPr>
          <p:cNvPr name="TextBox 10" id="10"/>
          <p:cNvSpPr txBox="true"/>
          <p:nvPr/>
        </p:nvSpPr>
        <p:spPr>
          <a:xfrm rot="0">
            <a:off x="3097882" y="3621405"/>
            <a:ext cx="12423141" cy="3282315"/>
          </a:xfrm>
          <a:prstGeom prst="rect">
            <a:avLst/>
          </a:prstGeom>
        </p:spPr>
        <p:txBody>
          <a:bodyPr anchor="t" rtlCol="false" tIns="0" lIns="0" bIns="0" rIns="0">
            <a:spAutoFit/>
          </a:bodyPr>
          <a:lstStyle/>
          <a:p>
            <a:pPr algn="ctr">
              <a:lnSpc>
                <a:spcPts val="12600"/>
              </a:lnSpc>
            </a:pPr>
            <a:r>
              <a:rPr lang="en-US" b="true" sz="12600">
                <a:solidFill>
                  <a:srgbClr val="191E6B"/>
                </a:solidFill>
                <a:latin typeface="Space Mono Bold"/>
                <a:ea typeface="Space Mono Bold"/>
                <a:cs typeface="Space Mono Bold"/>
                <a:sym typeface="Space Mono Bold"/>
              </a:rPr>
              <a:t>OPERATIONAL</a:t>
            </a:r>
          </a:p>
          <a:p>
            <a:pPr algn="ctr">
              <a:lnSpc>
                <a:spcPts val="12600"/>
              </a:lnSpc>
            </a:pPr>
            <a:r>
              <a:rPr lang="en-US" b="true" sz="12600">
                <a:solidFill>
                  <a:srgbClr val="191E6B"/>
                </a:solidFill>
                <a:latin typeface="Space Mono Bold"/>
                <a:ea typeface="Space Mono Bold"/>
                <a:cs typeface="Space Mono Bold"/>
                <a:sym typeface="Space Mono Bold"/>
              </a:rPr>
              <a:t>AMPLIFIER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true" flipV="false" rot="344870">
            <a:off x="15386876" y="7760663"/>
            <a:ext cx="1781093" cy="1913284"/>
          </a:xfrm>
          <a:custGeom>
            <a:avLst/>
            <a:gdLst/>
            <a:ahLst/>
            <a:cxnLst/>
            <a:rect r="r" b="b" t="t" l="l"/>
            <a:pathLst>
              <a:path h="1913284" w="1781093">
                <a:moveTo>
                  <a:pt x="1781093" y="0"/>
                </a:moveTo>
                <a:lnTo>
                  <a:pt x="0" y="0"/>
                </a:lnTo>
                <a:lnTo>
                  <a:pt x="0" y="1913284"/>
                </a:lnTo>
                <a:lnTo>
                  <a:pt x="1781093" y="1913284"/>
                </a:lnTo>
                <a:lnTo>
                  <a:pt x="178109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808180">
            <a:off x="789558" y="723472"/>
            <a:ext cx="1529617" cy="1529617"/>
          </a:xfrm>
          <a:custGeom>
            <a:avLst/>
            <a:gdLst/>
            <a:ahLst/>
            <a:cxnLst/>
            <a:rect r="r" b="b" t="t" l="l"/>
            <a:pathLst>
              <a:path h="1529617" w="1529617">
                <a:moveTo>
                  <a:pt x="0" y="0"/>
                </a:moveTo>
                <a:lnTo>
                  <a:pt x="1529617" y="0"/>
                </a:lnTo>
                <a:lnTo>
                  <a:pt x="1529617" y="1529617"/>
                </a:lnTo>
                <a:lnTo>
                  <a:pt x="0" y="152961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1093760">
            <a:off x="735652" y="3716965"/>
            <a:ext cx="785915" cy="785915"/>
          </a:xfrm>
          <a:custGeom>
            <a:avLst/>
            <a:gdLst/>
            <a:ahLst/>
            <a:cxnLst/>
            <a:rect r="r" b="b" t="t" l="l"/>
            <a:pathLst>
              <a:path h="785915" w="785915">
                <a:moveTo>
                  <a:pt x="0" y="0"/>
                </a:moveTo>
                <a:lnTo>
                  <a:pt x="785915" y="0"/>
                </a:lnTo>
                <a:lnTo>
                  <a:pt x="785915" y="785915"/>
                </a:lnTo>
                <a:lnTo>
                  <a:pt x="0" y="78591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6573101" y="5347517"/>
            <a:ext cx="961386" cy="961386"/>
          </a:xfrm>
          <a:custGeom>
            <a:avLst/>
            <a:gdLst/>
            <a:ahLst/>
            <a:cxnLst/>
            <a:rect r="r" b="b" t="t" l="l"/>
            <a:pathLst>
              <a:path h="961386" w="961386">
                <a:moveTo>
                  <a:pt x="0" y="0"/>
                </a:moveTo>
                <a:lnTo>
                  <a:pt x="961385" y="0"/>
                </a:lnTo>
                <a:lnTo>
                  <a:pt x="961385" y="961385"/>
                </a:lnTo>
                <a:lnTo>
                  <a:pt x="0" y="9613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177077" y="5862504"/>
            <a:ext cx="5427189" cy="5427189"/>
          </a:xfrm>
          <a:custGeom>
            <a:avLst/>
            <a:gdLst/>
            <a:ahLst/>
            <a:cxnLst/>
            <a:rect r="r" b="b" t="t" l="l"/>
            <a:pathLst>
              <a:path h="5427189" w="5427189">
                <a:moveTo>
                  <a:pt x="0" y="0"/>
                </a:moveTo>
                <a:lnTo>
                  <a:pt x="5427189" y="0"/>
                </a:lnTo>
                <a:lnTo>
                  <a:pt x="5427189" y="5427189"/>
                </a:lnTo>
                <a:lnTo>
                  <a:pt x="0" y="542718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true" flipV="true" rot="0">
            <a:off x="14037888" y="-1002693"/>
            <a:ext cx="5427189" cy="5427189"/>
          </a:xfrm>
          <a:custGeom>
            <a:avLst/>
            <a:gdLst/>
            <a:ahLst/>
            <a:cxnLst/>
            <a:rect r="r" b="b" t="t" l="l"/>
            <a:pathLst>
              <a:path h="5427189" w="5427189">
                <a:moveTo>
                  <a:pt x="5427189" y="5427189"/>
                </a:moveTo>
                <a:lnTo>
                  <a:pt x="0" y="5427189"/>
                </a:lnTo>
                <a:lnTo>
                  <a:pt x="0" y="0"/>
                </a:lnTo>
                <a:lnTo>
                  <a:pt x="5427189" y="0"/>
                </a:lnTo>
                <a:lnTo>
                  <a:pt x="5427189" y="5427189"/>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9" id="9"/>
          <p:cNvSpPr txBox="true"/>
          <p:nvPr/>
        </p:nvSpPr>
        <p:spPr>
          <a:xfrm rot="0">
            <a:off x="3097882" y="9163180"/>
            <a:ext cx="905023" cy="595146"/>
          </a:xfrm>
          <a:prstGeom prst="rect">
            <a:avLst/>
          </a:prstGeom>
        </p:spPr>
        <p:txBody>
          <a:bodyPr anchor="t" rtlCol="false" tIns="0" lIns="0" bIns="0" rIns="0">
            <a:spAutoFit/>
          </a:bodyPr>
          <a:lstStyle/>
          <a:p>
            <a:pPr algn="ctr">
              <a:lnSpc>
                <a:spcPts val="4405"/>
              </a:lnSpc>
            </a:pPr>
            <a:r>
              <a:rPr lang="en-US" b="true" sz="4405">
                <a:solidFill>
                  <a:srgbClr val="191E6B"/>
                </a:solidFill>
                <a:latin typeface="Space Mono Bold"/>
                <a:ea typeface="Space Mono Bold"/>
                <a:cs typeface="Space Mono Bold"/>
                <a:sym typeface="Space Mono Bold"/>
              </a:rPr>
              <a:t>1</a:t>
            </a:r>
          </a:p>
        </p:txBody>
      </p:sp>
      <p:sp>
        <p:nvSpPr>
          <p:cNvPr name="AutoShape 10" id="10"/>
          <p:cNvSpPr/>
          <p:nvPr/>
        </p:nvSpPr>
        <p:spPr>
          <a:xfrm>
            <a:off x="3097882" y="9106030"/>
            <a:ext cx="6492240" cy="0"/>
          </a:xfrm>
          <a:prstGeom prst="line">
            <a:avLst/>
          </a:prstGeom>
          <a:ln cap="flat" w="19050">
            <a:solidFill>
              <a:srgbClr val="000A47"/>
            </a:solidFill>
            <a:prstDash val="solid"/>
            <a:headEnd type="none" len="sm" w="sm"/>
            <a:tailEnd type="none" len="sm" w="sm"/>
          </a:ln>
        </p:spPr>
      </p:sp>
      <p:sp>
        <p:nvSpPr>
          <p:cNvPr name="Freeform 11" id="11"/>
          <p:cNvSpPr/>
          <p:nvPr/>
        </p:nvSpPr>
        <p:spPr>
          <a:xfrm flipH="false" flipV="false" rot="0">
            <a:off x="5083766" y="4424496"/>
            <a:ext cx="8120468" cy="3799335"/>
          </a:xfrm>
          <a:custGeom>
            <a:avLst/>
            <a:gdLst/>
            <a:ahLst/>
            <a:cxnLst/>
            <a:rect r="r" b="b" t="t" l="l"/>
            <a:pathLst>
              <a:path h="3799335" w="8120468">
                <a:moveTo>
                  <a:pt x="0" y="0"/>
                </a:moveTo>
                <a:lnTo>
                  <a:pt x="8120468" y="0"/>
                </a:lnTo>
                <a:lnTo>
                  <a:pt x="8120468" y="3799335"/>
                </a:lnTo>
                <a:lnTo>
                  <a:pt x="0" y="3799335"/>
                </a:lnTo>
                <a:lnTo>
                  <a:pt x="0" y="0"/>
                </a:lnTo>
                <a:close/>
              </a:path>
            </a:pathLst>
          </a:custGeom>
          <a:blipFill>
            <a:blip r:embed="rId13"/>
            <a:stretch>
              <a:fillRect l="0" t="0" r="0" b="0"/>
            </a:stretch>
          </a:blipFill>
        </p:spPr>
      </p:sp>
      <p:sp>
        <p:nvSpPr>
          <p:cNvPr name="TextBox 12" id="12"/>
          <p:cNvSpPr txBox="true"/>
          <p:nvPr/>
        </p:nvSpPr>
        <p:spPr>
          <a:xfrm rot="0">
            <a:off x="2397803" y="2368309"/>
            <a:ext cx="13492394" cy="2006735"/>
          </a:xfrm>
          <a:prstGeom prst="rect">
            <a:avLst/>
          </a:prstGeom>
        </p:spPr>
        <p:txBody>
          <a:bodyPr anchor="t" rtlCol="false" tIns="0" lIns="0" bIns="0" rIns="0">
            <a:spAutoFit/>
          </a:bodyPr>
          <a:lstStyle/>
          <a:p>
            <a:pPr algn="just">
              <a:lnSpc>
                <a:spcPts val="5231"/>
              </a:lnSpc>
            </a:pPr>
            <a:r>
              <a:rPr lang="en-US" sz="5231">
                <a:solidFill>
                  <a:srgbClr val="191E6B"/>
                </a:solidFill>
                <a:latin typeface="Signika"/>
                <a:ea typeface="Signika"/>
                <a:cs typeface="Signika"/>
                <a:sym typeface="Signika"/>
              </a:rPr>
              <a:t>An </a:t>
            </a:r>
            <a:r>
              <a:rPr lang="en-US" sz="5231" b="true">
                <a:solidFill>
                  <a:srgbClr val="191E6B"/>
                </a:solidFill>
                <a:latin typeface="Signika Bold"/>
                <a:ea typeface="Signika Bold"/>
                <a:cs typeface="Signika Bold"/>
                <a:sym typeface="Signika Bold"/>
              </a:rPr>
              <a:t>operational amplifier</a:t>
            </a:r>
            <a:r>
              <a:rPr lang="en-US" sz="5231">
                <a:solidFill>
                  <a:srgbClr val="191E6B"/>
                </a:solidFill>
                <a:latin typeface="Signika"/>
                <a:ea typeface="Signika"/>
                <a:cs typeface="Signika"/>
                <a:sym typeface="Signika"/>
              </a:rPr>
              <a:t> (</a:t>
            </a:r>
            <a:r>
              <a:rPr lang="en-US" sz="5231" b="true">
                <a:solidFill>
                  <a:srgbClr val="191E6B"/>
                </a:solidFill>
                <a:latin typeface="Signika Bold"/>
                <a:ea typeface="Signika Bold"/>
                <a:cs typeface="Signika Bold"/>
                <a:sym typeface="Signika Bold"/>
              </a:rPr>
              <a:t>op-amp</a:t>
            </a:r>
            <a:r>
              <a:rPr lang="en-US" sz="5231">
                <a:solidFill>
                  <a:srgbClr val="191E6B"/>
                </a:solidFill>
                <a:latin typeface="Signika"/>
                <a:ea typeface="Signika"/>
                <a:cs typeface="Signika"/>
                <a:sym typeface="Signika"/>
              </a:rPr>
              <a:t>) is a 3-terminal, high-gain DC differential voltage amplifier</a:t>
            </a:r>
          </a:p>
        </p:txBody>
      </p:sp>
      <p:sp>
        <p:nvSpPr>
          <p:cNvPr name="TextBox 13" id="13"/>
          <p:cNvSpPr txBox="true"/>
          <p:nvPr/>
        </p:nvSpPr>
        <p:spPr>
          <a:xfrm rot="0">
            <a:off x="4012430" y="9315450"/>
            <a:ext cx="6122817" cy="392812"/>
          </a:xfrm>
          <a:prstGeom prst="rect">
            <a:avLst/>
          </a:prstGeom>
        </p:spPr>
        <p:txBody>
          <a:bodyPr anchor="t" rtlCol="false" tIns="0" lIns="0" bIns="0" rIns="0">
            <a:spAutoFit/>
          </a:bodyPr>
          <a:lstStyle/>
          <a:p>
            <a:pPr algn="l">
              <a:lnSpc>
                <a:spcPts val="2983"/>
              </a:lnSpc>
            </a:pPr>
            <a:r>
              <a:rPr lang="en-US" sz="2983" b="true">
                <a:solidFill>
                  <a:srgbClr val="191E6B"/>
                </a:solidFill>
                <a:latin typeface="Space Mono Bold"/>
                <a:ea typeface="Space Mono Bold"/>
                <a:cs typeface="Space Mono Bold"/>
                <a:sym typeface="Space Mono Bold"/>
              </a:rPr>
              <a:t>SENSORS, WAVES &amp; DATA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true" flipV="false" rot="344870">
            <a:off x="15386876" y="7760663"/>
            <a:ext cx="1781093" cy="1913284"/>
          </a:xfrm>
          <a:custGeom>
            <a:avLst/>
            <a:gdLst/>
            <a:ahLst/>
            <a:cxnLst/>
            <a:rect r="r" b="b" t="t" l="l"/>
            <a:pathLst>
              <a:path h="1913284" w="1781093">
                <a:moveTo>
                  <a:pt x="1781093" y="0"/>
                </a:moveTo>
                <a:lnTo>
                  <a:pt x="0" y="0"/>
                </a:lnTo>
                <a:lnTo>
                  <a:pt x="0" y="1913284"/>
                </a:lnTo>
                <a:lnTo>
                  <a:pt x="1781093" y="1913284"/>
                </a:lnTo>
                <a:lnTo>
                  <a:pt x="178109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808180">
            <a:off x="789558" y="723472"/>
            <a:ext cx="1529617" cy="1529617"/>
          </a:xfrm>
          <a:custGeom>
            <a:avLst/>
            <a:gdLst/>
            <a:ahLst/>
            <a:cxnLst/>
            <a:rect r="r" b="b" t="t" l="l"/>
            <a:pathLst>
              <a:path h="1529617" w="1529617">
                <a:moveTo>
                  <a:pt x="0" y="0"/>
                </a:moveTo>
                <a:lnTo>
                  <a:pt x="1529617" y="0"/>
                </a:lnTo>
                <a:lnTo>
                  <a:pt x="1529617" y="1529617"/>
                </a:lnTo>
                <a:lnTo>
                  <a:pt x="0" y="152961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1093760">
            <a:off x="735652" y="3716965"/>
            <a:ext cx="785915" cy="785915"/>
          </a:xfrm>
          <a:custGeom>
            <a:avLst/>
            <a:gdLst/>
            <a:ahLst/>
            <a:cxnLst/>
            <a:rect r="r" b="b" t="t" l="l"/>
            <a:pathLst>
              <a:path h="785915" w="785915">
                <a:moveTo>
                  <a:pt x="0" y="0"/>
                </a:moveTo>
                <a:lnTo>
                  <a:pt x="785915" y="0"/>
                </a:lnTo>
                <a:lnTo>
                  <a:pt x="785915" y="785915"/>
                </a:lnTo>
                <a:lnTo>
                  <a:pt x="0" y="78591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177077" y="5862504"/>
            <a:ext cx="5427189" cy="5427189"/>
          </a:xfrm>
          <a:custGeom>
            <a:avLst/>
            <a:gdLst/>
            <a:ahLst/>
            <a:cxnLst/>
            <a:rect r="r" b="b" t="t" l="l"/>
            <a:pathLst>
              <a:path h="5427189" w="5427189">
                <a:moveTo>
                  <a:pt x="0" y="0"/>
                </a:moveTo>
                <a:lnTo>
                  <a:pt x="5427189" y="0"/>
                </a:lnTo>
                <a:lnTo>
                  <a:pt x="5427189" y="5427189"/>
                </a:lnTo>
                <a:lnTo>
                  <a:pt x="0" y="542718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true" flipV="true" rot="0">
            <a:off x="14037888" y="-1002693"/>
            <a:ext cx="5427189" cy="5427189"/>
          </a:xfrm>
          <a:custGeom>
            <a:avLst/>
            <a:gdLst/>
            <a:ahLst/>
            <a:cxnLst/>
            <a:rect r="r" b="b" t="t" l="l"/>
            <a:pathLst>
              <a:path h="5427189" w="5427189">
                <a:moveTo>
                  <a:pt x="5427189" y="5427189"/>
                </a:moveTo>
                <a:lnTo>
                  <a:pt x="0" y="5427189"/>
                </a:lnTo>
                <a:lnTo>
                  <a:pt x="0" y="0"/>
                </a:lnTo>
                <a:lnTo>
                  <a:pt x="5427189" y="0"/>
                </a:lnTo>
                <a:lnTo>
                  <a:pt x="5427189" y="5427189"/>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AutoShape 8" id="8"/>
          <p:cNvSpPr/>
          <p:nvPr/>
        </p:nvSpPr>
        <p:spPr>
          <a:xfrm>
            <a:off x="3097882" y="9106030"/>
            <a:ext cx="6492240" cy="0"/>
          </a:xfrm>
          <a:prstGeom prst="line">
            <a:avLst/>
          </a:prstGeom>
          <a:ln cap="flat" w="19050">
            <a:solidFill>
              <a:srgbClr val="000A47"/>
            </a:solidFill>
            <a:prstDash val="solid"/>
            <a:headEnd type="none" len="sm" w="sm"/>
            <a:tailEnd type="none" len="sm" w="sm"/>
          </a:ln>
        </p:spPr>
      </p:sp>
      <p:sp>
        <p:nvSpPr>
          <p:cNvPr name="Freeform 9" id="9"/>
          <p:cNvSpPr/>
          <p:nvPr/>
        </p:nvSpPr>
        <p:spPr>
          <a:xfrm flipH="false" flipV="false" rot="0">
            <a:off x="11003549" y="2475659"/>
            <a:ext cx="5273874" cy="5200625"/>
          </a:xfrm>
          <a:custGeom>
            <a:avLst/>
            <a:gdLst/>
            <a:ahLst/>
            <a:cxnLst/>
            <a:rect r="r" b="b" t="t" l="l"/>
            <a:pathLst>
              <a:path h="5200625" w="5273874">
                <a:moveTo>
                  <a:pt x="0" y="0"/>
                </a:moveTo>
                <a:lnTo>
                  <a:pt x="5273874" y="0"/>
                </a:lnTo>
                <a:lnTo>
                  <a:pt x="5273874" y="5200625"/>
                </a:lnTo>
                <a:lnTo>
                  <a:pt x="0" y="5200625"/>
                </a:lnTo>
                <a:lnTo>
                  <a:pt x="0" y="0"/>
                </a:lnTo>
                <a:close/>
              </a:path>
            </a:pathLst>
          </a:custGeom>
          <a:blipFill>
            <a:blip r:embed="rId11"/>
            <a:stretch>
              <a:fillRect l="0" t="0" r="0" b="0"/>
            </a:stretch>
          </a:blipFill>
        </p:spPr>
      </p:sp>
      <p:sp>
        <p:nvSpPr>
          <p:cNvPr name="TextBox 10" id="10"/>
          <p:cNvSpPr txBox="true"/>
          <p:nvPr/>
        </p:nvSpPr>
        <p:spPr>
          <a:xfrm rot="0">
            <a:off x="632448" y="1815677"/>
            <a:ext cx="12423141" cy="684530"/>
          </a:xfrm>
          <a:prstGeom prst="rect">
            <a:avLst/>
          </a:prstGeom>
        </p:spPr>
        <p:txBody>
          <a:bodyPr anchor="t" rtlCol="false" tIns="0" lIns="0" bIns="0" rIns="0">
            <a:spAutoFit/>
          </a:bodyPr>
          <a:lstStyle/>
          <a:p>
            <a:pPr algn="ctr">
              <a:lnSpc>
                <a:spcPts val="5199"/>
              </a:lnSpc>
            </a:pPr>
            <a:r>
              <a:rPr lang="en-US" b="true" sz="5199">
                <a:solidFill>
                  <a:srgbClr val="191E6B"/>
                </a:solidFill>
                <a:latin typeface="Space Mono Bold"/>
                <a:ea typeface="Space Mono Bold"/>
                <a:cs typeface="Space Mono Bold"/>
                <a:sym typeface="Space Mono Bold"/>
              </a:rPr>
              <a:t>THE DIFFERENTIAL PAIR</a:t>
            </a:r>
          </a:p>
        </p:txBody>
      </p:sp>
      <p:sp>
        <p:nvSpPr>
          <p:cNvPr name="TextBox 11" id="11"/>
          <p:cNvSpPr txBox="true"/>
          <p:nvPr/>
        </p:nvSpPr>
        <p:spPr>
          <a:xfrm rot="0">
            <a:off x="2476286" y="3228658"/>
            <a:ext cx="7745878" cy="3975100"/>
          </a:xfrm>
          <a:prstGeom prst="rect">
            <a:avLst/>
          </a:prstGeom>
        </p:spPr>
        <p:txBody>
          <a:bodyPr anchor="t" rtlCol="false" tIns="0" lIns="0" bIns="0" rIns="0">
            <a:spAutoFit/>
          </a:bodyPr>
          <a:lstStyle/>
          <a:p>
            <a:pPr algn="just">
              <a:lnSpc>
                <a:spcPts val="3500"/>
              </a:lnSpc>
            </a:pPr>
            <a:r>
              <a:rPr lang="en-US" sz="3500">
                <a:solidFill>
                  <a:srgbClr val="191E6B"/>
                </a:solidFill>
                <a:latin typeface="Signika"/>
                <a:ea typeface="Signika"/>
                <a:cs typeface="Signika"/>
                <a:sym typeface="Signika"/>
              </a:rPr>
              <a:t>▪︎The input stage of every operational amplifier is a Differential Amplifier.</a:t>
            </a:r>
          </a:p>
          <a:p>
            <a:pPr algn="just">
              <a:lnSpc>
                <a:spcPts val="3500"/>
              </a:lnSpc>
            </a:pPr>
          </a:p>
          <a:p>
            <a:pPr algn="just">
              <a:lnSpc>
                <a:spcPts val="3500"/>
              </a:lnSpc>
            </a:pPr>
            <a:r>
              <a:rPr lang="en-US" sz="3500">
                <a:solidFill>
                  <a:srgbClr val="191E6B"/>
                </a:solidFill>
                <a:latin typeface="Signika"/>
                <a:ea typeface="Signika"/>
                <a:cs typeface="Signika"/>
                <a:sym typeface="Signika"/>
              </a:rPr>
              <a:t>▪︎Amplifies only the difference between input voltages</a:t>
            </a:r>
          </a:p>
          <a:p>
            <a:pPr algn="just">
              <a:lnSpc>
                <a:spcPts val="3500"/>
              </a:lnSpc>
            </a:pPr>
          </a:p>
          <a:p>
            <a:pPr algn="just">
              <a:lnSpc>
                <a:spcPts val="3500"/>
              </a:lnSpc>
            </a:pPr>
            <a:r>
              <a:rPr lang="en-US" sz="3500">
                <a:solidFill>
                  <a:srgbClr val="191E6B"/>
                </a:solidFill>
                <a:latin typeface="Signika"/>
                <a:ea typeface="Signika"/>
                <a:cs typeface="Signika"/>
                <a:sym typeface="Signika"/>
              </a:rPr>
              <a:t>▪︎Cancels out signals present on both inputs simultaneously (Common-Mode signals like background electrical noise).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true" flipV="false" rot="344870">
            <a:off x="15860936" y="7873886"/>
            <a:ext cx="1781093" cy="1913284"/>
          </a:xfrm>
          <a:custGeom>
            <a:avLst/>
            <a:gdLst/>
            <a:ahLst/>
            <a:cxnLst/>
            <a:rect r="r" b="b" t="t" l="l"/>
            <a:pathLst>
              <a:path h="1913284" w="1781093">
                <a:moveTo>
                  <a:pt x="1781093" y="0"/>
                </a:moveTo>
                <a:lnTo>
                  <a:pt x="0" y="0"/>
                </a:lnTo>
                <a:lnTo>
                  <a:pt x="0" y="1913283"/>
                </a:lnTo>
                <a:lnTo>
                  <a:pt x="1781093" y="1913283"/>
                </a:lnTo>
                <a:lnTo>
                  <a:pt x="178109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808180">
            <a:off x="789558" y="723472"/>
            <a:ext cx="1529617" cy="1529617"/>
          </a:xfrm>
          <a:custGeom>
            <a:avLst/>
            <a:gdLst/>
            <a:ahLst/>
            <a:cxnLst/>
            <a:rect r="r" b="b" t="t" l="l"/>
            <a:pathLst>
              <a:path h="1529617" w="1529617">
                <a:moveTo>
                  <a:pt x="0" y="0"/>
                </a:moveTo>
                <a:lnTo>
                  <a:pt x="1529617" y="0"/>
                </a:lnTo>
                <a:lnTo>
                  <a:pt x="1529617" y="1529617"/>
                </a:lnTo>
                <a:lnTo>
                  <a:pt x="0" y="152961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1093760">
            <a:off x="735652" y="3911060"/>
            <a:ext cx="785915" cy="785915"/>
          </a:xfrm>
          <a:custGeom>
            <a:avLst/>
            <a:gdLst/>
            <a:ahLst/>
            <a:cxnLst/>
            <a:rect r="r" b="b" t="t" l="l"/>
            <a:pathLst>
              <a:path h="785915" w="785915">
                <a:moveTo>
                  <a:pt x="0" y="0"/>
                </a:moveTo>
                <a:lnTo>
                  <a:pt x="785915" y="0"/>
                </a:lnTo>
                <a:lnTo>
                  <a:pt x="785915" y="785915"/>
                </a:lnTo>
                <a:lnTo>
                  <a:pt x="0" y="78591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6778607" y="5266643"/>
            <a:ext cx="961386" cy="961386"/>
          </a:xfrm>
          <a:custGeom>
            <a:avLst/>
            <a:gdLst/>
            <a:ahLst/>
            <a:cxnLst/>
            <a:rect r="r" b="b" t="t" l="l"/>
            <a:pathLst>
              <a:path h="961386" w="961386">
                <a:moveTo>
                  <a:pt x="0" y="0"/>
                </a:moveTo>
                <a:lnTo>
                  <a:pt x="961386" y="0"/>
                </a:lnTo>
                <a:lnTo>
                  <a:pt x="961386" y="961386"/>
                </a:lnTo>
                <a:lnTo>
                  <a:pt x="0" y="96138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177077" y="5862504"/>
            <a:ext cx="5427189" cy="5427189"/>
          </a:xfrm>
          <a:custGeom>
            <a:avLst/>
            <a:gdLst/>
            <a:ahLst/>
            <a:cxnLst/>
            <a:rect r="r" b="b" t="t" l="l"/>
            <a:pathLst>
              <a:path h="5427189" w="5427189">
                <a:moveTo>
                  <a:pt x="0" y="0"/>
                </a:moveTo>
                <a:lnTo>
                  <a:pt x="5427189" y="0"/>
                </a:lnTo>
                <a:lnTo>
                  <a:pt x="5427189" y="5427189"/>
                </a:lnTo>
                <a:lnTo>
                  <a:pt x="0" y="542718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true" flipV="true" rot="0">
            <a:off x="14037888" y="-1002693"/>
            <a:ext cx="5427189" cy="5427189"/>
          </a:xfrm>
          <a:custGeom>
            <a:avLst/>
            <a:gdLst/>
            <a:ahLst/>
            <a:cxnLst/>
            <a:rect r="r" b="b" t="t" l="l"/>
            <a:pathLst>
              <a:path h="5427189" w="5427189">
                <a:moveTo>
                  <a:pt x="5427189" y="5427189"/>
                </a:moveTo>
                <a:lnTo>
                  <a:pt x="0" y="5427189"/>
                </a:lnTo>
                <a:lnTo>
                  <a:pt x="0" y="0"/>
                </a:lnTo>
                <a:lnTo>
                  <a:pt x="5427189" y="0"/>
                </a:lnTo>
                <a:lnTo>
                  <a:pt x="5427189" y="5427189"/>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9" id="9"/>
          <p:cNvSpPr txBox="true"/>
          <p:nvPr/>
        </p:nvSpPr>
        <p:spPr>
          <a:xfrm rot="0">
            <a:off x="3003817" y="1143000"/>
            <a:ext cx="11034071" cy="915670"/>
          </a:xfrm>
          <a:prstGeom prst="rect">
            <a:avLst/>
          </a:prstGeom>
        </p:spPr>
        <p:txBody>
          <a:bodyPr anchor="t" rtlCol="false" tIns="0" lIns="0" bIns="0" rIns="0">
            <a:spAutoFit/>
          </a:bodyPr>
          <a:lstStyle/>
          <a:p>
            <a:pPr algn="just">
              <a:lnSpc>
                <a:spcPts val="6800"/>
              </a:lnSpc>
            </a:pPr>
            <a:r>
              <a:rPr lang="en-US" sz="6800">
                <a:solidFill>
                  <a:srgbClr val="191E6B"/>
                </a:solidFill>
                <a:latin typeface="Signika"/>
                <a:ea typeface="Signika"/>
                <a:cs typeface="Signika"/>
                <a:sym typeface="Signika"/>
              </a:rPr>
              <a:t> Id</a:t>
            </a:r>
            <a:r>
              <a:rPr lang="en-US" sz="6800">
                <a:solidFill>
                  <a:srgbClr val="191E6B"/>
                </a:solidFill>
                <a:latin typeface="Signika"/>
                <a:ea typeface="Signika"/>
                <a:cs typeface="Signika"/>
                <a:sym typeface="Signika"/>
              </a:rPr>
              <a:t>eal </a:t>
            </a:r>
            <a:r>
              <a:rPr lang="en-US" sz="6800">
                <a:solidFill>
                  <a:srgbClr val="191E6B"/>
                </a:solidFill>
                <a:latin typeface="Signika"/>
                <a:ea typeface="Signika"/>
                <a:cs typeface="Signika"/>
                <a:sym typeface="Signika"/>
              </a:rPr>
              <a:t>O</a:t>
            </a:r>
            <a:r>
              <a:rPr lang="en-US" sz="6800">
                <a:solidFill>
                  <a:srgbClr val="191E6B"/>
                </a:solidFill>
                <a:latin typeface="Signika"/>
                <a:ea typeface="Signika"/>
                <a:cs typeface="Signika"/>
                <a:sym typeface="Signika"/>
              </a:rPr>
              <a:t>p-</a:t>
            </a:r>
            <a:r>
              <a:rPr lang="en-US" sz="6800">
                <a:solidFill>
                  <a:srgbClr val="191E6B"/>
                </a:solidFill>
                <a:latin typeface="Signika"/>
                <a:ea typeface="Signika"/>
                <a:cs typeface="Signika"/>
                <a:sym typeface="Signika"/>
              </a:rPr>
              <a:t>A</a:t>
            </a:r>
            <a:r>
              <a:rPr lang="en-US" sz="6800">
                <a:solidFill>
                  <a:srgbClr val="191E6B"/>
                </a:solidFill>
                <a:latin typeface="Signika"/>
                <a:ea typeface="Signika"/>
                <a:cs typeface="Signika"/>
                <a:sym typeface="Signika"/>
              </a:rPr>
              <a:t>mp</a:t>
            </a:r>
            <a:r>
              <a:rPr lang="en-US" sz="6800">
                <a:solidFill>
                  <a:srgbClr val="191E6B"/>
                </a:solidFill>
                <a:latin typeface="Signika"/>
                <a:ea typeface="Signika"/>
                <a:cs typeface="Signika"/>
                <a:sym typeface="Signika"/>
              </a:rPr>
              <a:t> Characteristics</a:t>
            </a:r>
          </a:p>
        </p:txBody>
      </p:sp>
      <p:sp>
        <p:nvSpPr>
          <p:cNvPr name="TextBox 10" id="10"/>
          <p:cNvSpPr txBox="true"/>
          <p:nvPr/>
        </p:nvSpPr>
        <p:spPr>
          <a:xfrm rot="0">
            <a:off x="2211045" y="2897856"/>
            <a:ext cx="13865910" cy="5756110"/>
          </a:xfrm>
          <a:prstGeom prst="rect">
            <a:avLst/>
          </a:prstGeom>
        </p:spPr>
        <p:txBody>
          <a:bodyPr anchor="t" rtlCol="false" tIns="0" lIns="0" bIns="0" rIns="0">
            <a:spAutoFit/>
          </a:bodyPr>
          <a:lstStyle/>
          <a:p>
            <a:pPr algn="l" marL="710037" indent="-355018" lvl="1">
              <a:lnSpc>
                <a:spcPts val="3288"/>
              </a:lnSpc>
              <a:buFont typeface="Arial"/>
              <a:buChar char="•"/>
            </a:pPr>
            <a:r>
              <a:rPr lang="en-US" b="true" sz="3288">
                <a:solidFill>
                  <a:srgbClr val="191E6B"/>
                </a:solidFill>
                <a:latin typeface="Space Mono Bold"/>
                <a:ea typeface="Space Mono Bold"/>
                <a:cs typeface="Space Mono Bold"/>
                <a:sym typeface="Space Mono Bold"/>
              </a:rPr>
              <a:t>INFINITE OPEN-LOOP GAIN (A = ∞) — AMPLIFIES EVEN THE TINIEST VOLTAGE DIFFERENCE</a:t>
            </a:r>
          </a:p>
          <a:p>
            <a:pPr algn="l">
              <a:lnSpc>
                <a:spcPts val="3288"/>
              </a:lnSpc>
            </a:pPr>
          </a:p>
          <a:p>
            <a:pPr algn="l" marL="710037" indent="-355018" lvl="1">
              <a:lnSpc>
                <a:spcPts val="3288"/>
              </a:lnSpc>
              <a:buFont typeface="Arial"/>
              <a:buChar char="•"/>
            </a:pPr>
            <a:r>
              <a:rPr lang="en-US" b="true" sz="3288">
                <a:solidFill>
                  <a:srgbClr val="191E6B"/>
                </a:solidFill>
                <a:latin typeface="Space Mono Bold"/>
                <a:ea typeface="Space Mono Bold"/>
                <a:cs typeface="Space Mono Bold"/>
                <a:sym typeface="Space Mono Bold"/>
              </a:rPr>
              <a:t>INFINITE INPUT IMPEDANCE (ZIN = ∞) — DRAWS ZERO CURRENT FROM THE INPUT SOURCE</a:t>
            </a:r>
          </a:p>
          <a:p>
            <a:pPr algn="l">
              <a:lnSpc>
                <a:spcPts val="3288"/>
              </a:lnSpc>
            </a:pPr>
          </a:p>
          <a:p>
            <a:pPr algn="l" marL="710037" indent="-355018" lvl="1">
              <a:lnSpc>
                <a:spcPts val="3288"/>
              </a:lnSpc>
              <a:buFont typeface="Arial"/>
              <a:buChar char="•"/>
            </a:pPr>
            <a:r>
              <a:rPr lang="en-US" b="true" sz="3288">
                <a:solidFill>
                  <a:srgbClr val="191E6B"/>
                </a:solidFill>
                <a:latin typeface="Space Mono Bold"/>
                <a:ea typeface="Space Mono Bold"/>
                <a:cs typeface="Space Mono Bold"/>
                <a:sym typeface="Space Mono Bold"/>
              </a:rPr>
              <a:t>ZERO OUTPUT IMPEDANCE (ZOUT = 0) — CAN DRIVE A LOAD WITHOUT VOLTAGE DROP</a:t>
            </a:r>
          </a:p>
          <a:p>
            <a:pPr algn="l">
              <a:lnSpc>
                <a:spcPts val="3288"/>
              </a:lnSpc>
            </a:pPr>
          </a:p>
          <a:p>
            <a:pPr algn="l" marL="710037" indent="-355018" lvl="1">
              <a:lnSpc>
                <a:spcPts val="3288"/>
              </a:lnSpc>
              <a:buFont typeface="Arial"/>
              <a:buChar char="•"/>
            </a:pPr>
            <a:r>
              <a:rPr lang="en-US" b="true" sz="3288">
                <a:solidFill>
                  <a:srgbClr val="191E6B"/>
                </a:solidFill>
                <a:latin typeface="Space Mono Bold"/>
                <a:ea typeface="Space Mono Bold"/>
                <a:cs typeface="Space Mono Bold"/>
                <a:sym typeface="Space Mono Bold"/>
              </a:rPr>
              <a:t>INFINITE BANDWIDTH — RESPONDS EQUALLY TO ALL FREQUENCIES</a:t>
            </a:r>
          </a:p>
          <a:p>
            <a:pPr algn="l">
              <a:lnSpc>
                <a:spcPts val="3288"/>
              </a:lnSpc>
            </a:pPr>
          </a:p>
          <a:p>
            <a:pPr algn="l" marL="710037" indent="-355018" lvl="1">
              <a:lnSpc>
                <a:spcPts val="3288"/>
              </a:lnSpc>
              <a:buFont typeface="Arial"/>
              <a:buChar char="•"/>
            </a:pPr>
            <a:r>
              <a:rPr lang="en-US" b="true" sz="3288">
                <a:solidFill>
                  <a:srgbClr val="191E6B"/>
                </a:solidFill>
                <a:latin typeface="Space Mono Bold"/>
                <a:ea typeface="Space Mono Bold"/>
                <a:cs typeface="Space Mono Bold"/>
                <a:sym typeface="Space Mono Bold"/>
              </a:rPr>
              <a:t>ZERO OFFSET VOLTAGE — OUTPUT IS EXACTLY ZERO WHEN INPUTS ARE EQUAL</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true" flipV="false" rot="344870">
            <a:off x="15860936" y="7873886"/>
            <a:ext cx="1781093" cy="1913284"/>
          </a:xfrm>
          <a:custGeom>
            <a:avLst/>
            <a:gdLst/>
            <a:ahLst/>
            <a:cxnLst/>
            <a:rect r="r" b="b" t="t" l="l"/>
            <a:pathLst>
              <a:path h="1913284" w="1781093">
                <a:moveTo>
                  <a:pt x="1781093" y="0"/>
                </a:moveTo>
                <a:lnTo>
                  <a:pt x="0" y="0"/>
                </a:lnTo>
                <a:lnTo>
                  <a:pt x="0" y="1913283"/>
                </a:lnTo>
                <a:lnTo>
                  <a:pt x="1781093" y="1913283"/>
                </a:lnTo>
                <a:lnTo>
                  <a:pt x="178109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808180">
            <a:off x="789558" y="723472"/>
            <a:ext cx="1529617" cy="1529617"/>
          </a:xfrm>
          <a:custGeom>
            <a:avLst/>
            <a:gdLst/>
            <a:ahLst/>
            <a:cxnLst/>
            <a:rect r="r" b="b" t="t" l="l"/>
            <a:pathLst>
              <a:path h="1529617" w="1529617">
                <a:moveTo>
                  <a:pt x="0" y="0"/>
                </a:moveTo>
                <a:lnTo>
                  <a:pt x="1529617" y="0"/>
                </a:lnTo>
                <a:lnTo>
                  <a:pt x="1529617" y="1529617"/>
                </a:lnTo>
                <a:lnTo>
                  <a:pt x="0" y="152961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1093760">
            <a:off x="735652" y="3911060"/>
            <a:ext cx="785915" cy="785915"/>
          </a:xfrm>
          <a:custGeom>
            <a:avLst/>
            <a:gdLst/>
            <a:ahLst/>
            <a:cxnLst/>
            <a:rect r="r" b="b" t="t" l="l"/>
            <a:pathLst>
              <a:path h="785915" w="785915">
                <a:moveTo>
                  <a:pt x="0" y="0"/>
                </a:moveTo>
                <a:lnTo>
                  <a:pt x="785915" y="0"/>
                </a:lnTo>
                <a:lnTo>
                  <a:pt x="785915" y="785915"/>
                </a:lnTo>
                <a:lnTo>
                  <a:pt x="0" y="78591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6778607" y="5266643"/>
            <a:ext cx="961386" cy="961386"/>
          </a:xfrm>
          <a:custGeom>
            <a:avLst/>
            <a:gdLst/>
            <a:ahLst/>
            <a:cxnLst/>
            <a:rect r="r" b="b" t="t" l="l"/>
            <a:pathLst>
              <a:path h="961386" w="961386">
                <a:moveTo>
                  <a:pt x="0" y="0"/>
                </a:moveTo>
                <a:lnTo>
                  <a:pt x="961386" y="0"/>
                </a:lnTo>
                <a:lnTo>
                  <a:pt x="961386" y="961386"/>
                </a:lnTo>
                <a:lnTo>
                  <a:pt x="0" y="96138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177077" y="5862504"/>
            <a:ext cx="5427189" cy="5427189"/>
          </a:xfrm>
          <a:custGeom>
            <a:avLst/>
            <a:gdLst/>
            <a:ahLst/>
            <a:cxnLst/>
            <a:rect r="r" b="b" t="t" l="l"/>
            <a:pathLst>
              <a:path h="5427189" w="5427189">
                <a:moveTo>
                  <a:pt x="0" y="0"/>
                </a:moveTo>
                <a:lnTo>
                  <a:pt x="5427189" y="0"/>
                </a:lnTo>
                <a:lnTo>
                  <a:pt x="5427189" y="5427189"/>
                </a:lnTo>
                <a:lnTo>
                  <a:pt x="0" y="542718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true" flipV="true" rot="0">
            <a:off x="14037888" y="-1002693"/>
            <a:ext cx="5427189" cy="5427189"/>
          </a:xfrm>
          <a:custGeom>
            <a:avLst/>
            <a:gdLst/>
            <a:ahLst/>
            <a:cxnLst/>
            <a:rect r="r" b="b" t="t" l="l"/>
            <a:pathLst>
              <a:path h="5427189" w="5427189">
                <a:moveTo>
                  <a:pt x="5427189" y="5427189"/>
                </a:moveTo>
                <a:lnTo>
                  <a:pt x="0" y="5427189"/>
                </a:lnTo>
                <a:lnTo>
                  <a:pt x="0" y="0"/>
                </a:lnTo>
                <a:lnTo>
                  <a:pt x="5427189" y="0"/>
                </a:lnTo>
                <a:lnTo>
                  <a:pt x="5427189" y="5427189"/>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9" id="9"/>
          <p:cNvSpPr txBox="true"/>
          <p:nvPr/>
        </p:nvSpPr>
        <p:spPr>
          <a:xfrm rot="0">
            <a:off x="2599452" y="1339331"/>
            <a:ext cx="12388111" cy="866966"/>
          </a:xfrm>
          <a:prstGeom prst="rect">
            <a:avLst/>
          </a:prstGeom>
        </p:spPr>
        <p:txBody>
          <a:bodyPr anchor="t" rtlCol="false" tIns="0" lIns="0" bIns="0" rIns="0">
            <a:spAutoFit/>
          </a:bodyPr>
          <a:lstStyle/>
          <a:p>
            <a:pPr algn="just">
              <a:lnSpc>
                <a:spcPts val="6541"/>
              </a:lnSpc>
            </a:pPr>
            <a:r>
              <a:rPr lang="en-US" sz="6541">
                <a:solidFill>
                  <a:srgbClr val="191E6B"/>
                </a:solidFill>
                <a:latin typeface="Signika"/>
                <a:ea typeface="Signika"/>
                <a:cs typeface="Signika"/>
                <a:sym typeface="Signika"/>
              </a:rPr>
              <a:t>THE GOLDEN RULES</a:t>
            </a:r>
            <a:r>
              <a:rPr lang="en-US" sz="6541">
                <a:solidFill>
                  <a:srgbClr val="191E6B"/>
                </a:solidFill>
                <a:latin typeface="Signika"/>
                <a:ea typeface="Signika"/>
                <a:cs typeface="Signika"/>
                <a:sym typeface="Signika"/>
              </a:rPr>
              <a:t> </a:t>
            </a:r>
            <a:r>
              <a:rPr lang="en-US" sz="6541">
                <a:solidFill>
                  <a:srgbClr val="191E6B"/>
                </a:solidFill>
                <a:latin typeface="Signika"/>
                <a:ea typeface="Signika"/>
                <a:cs typeface="Signika"/>
                <a:sym typeface="Signika"/>
              </a:rPr>
              <a:t>OF OP</a:t>
            </a:r>
            <a:r>
              <a:rPr lang="en-US" sz="6541">
                <a:solidFill>
                  <a:srgbClr val="191E6B"/>
                </a:solidFill>
                <a:latin typeface="Signika"/>
                <a:ea typeface="Signika"/>
                <a:cs typeface="Signika"/>
                <a:sym typeface="Signika"/>
              </a:rPr>
              <a:t>-</a:t>
            </a:r>
            <a:r>
              <a:rPr lang="en-US" sz="6541">
                <a:solidFill>
                  <a:srgbClr val="191E6B"/>
                </a:solidFill>
                <a:latin typeface="Signika"/>
                <a:ea typeface="Signika"/>
                <a:cs typeface="Signika"/>
                <a:sym typeface="Signika"/>
              </a:rPr>
              <a:t>AMPS</a:t>
            </a:r>
          </a:p>
        </p:txBody>
      </p:sp>
      <p:sp>
        <p:nvSpPr>
          <p:cNvPr name="TextBox 10" id="10"/>
          <p:cNvSpPr txBox="true"/>
          <p:nvPr/>
        </p:nvSpPr>
        <p:spPr>
          <a:xfrm rot="0">
            <a:off x="2086645" y="3153017"/>
            <a:ext cx="14114710" cy="5255313"/>
          </a:xfrm>
          <a:prstGeom prst="rect">
            <a:avLst/>
          </a:prstGeom>
        </p:spPr>
        <p:txBody>
          <a:bodyPr anchor="t" rtlCol="false" tIns="0" lIns="0" bIns="0" rIns="0">
            <a:spAutoFit/>
          </a:bodyPr>
          <a:lstStyle/>
          <a:p>
            <a:pPr algn="l" marL="824084" indent="-412042" lvl="1">
              <a:lnSpc>
                <a:spcPts val="3816"/>
              </a:lnSpc>
              <a:buFont typeface="Arial"/>
              <a:buChar char="•"/>
            </a:pPr>
            <a:r>
              <a:rPr lang="en-US" b="true" sz="3816">
                <a:solidFill>
                  <a:srgbClr val="191E6B"/>
                </a:solidFill>
                <a:latin typeface="Space Mono Bold"/>
                <a:ea typeface="Space Mono Bold"/>
                <a:cs typeface="Space Mono Bold"/>
                <a:sym typeface="Space Mono Bold"/>
              </a:rPr>
              <a:t>RUL</a:t>
            </a:r>
            <a:r>
              <a:rPr lang="en-US" b="true" sz="3816">
                <a:solidFill>
                  <a:srgbClr val="191E6B"/>
                </a:solidFill>
                <a:latin typeface="Space Mono Bold"/>
                <a:ea typeface="Space Mono Bold"/>
                <a:cs typeface="Space Mono Bold"/>
                <a:sym typeface="Space Mono Bold"/>
              </a:rPr>
              <a:t>E 1: NO CURRENT FLOWS INTO EITHER INPUT TERMINAL (BECAUSE INPUT IMPEDANCE IS INFINITE)</a:t>
            </a:r>
          </a:p>
          <a:p>
            <a:pPr algn="l">
              <a:lnSpc>
                <a:spcPts val="3816"/>
              </a:lnSpc>
            </a:pPr>
          </a:p>
          <a:p>
            <a:pPr algn="l" marL="824084" indent="-412042" lvl="1">
              <a:lnSpc>
                <a:spcPts val="3816"/>
              </a:lnSpc>
              <a:buFont typeface="Arial"/>
              <a:buChar char="•"/>
            </a:pPr>
            <a:r>
              <a:rPr lang="en-US" b="true" sz="3816">
                <a:solidFill>
                  <a:srgbClr val="191E6B"/>
                </a:solidFill>
                <a:latin typeface="Space Mono Bold"/>
                <a:ea typeface="Space Mono Bold"/>
                <a:cs typeface="Space Mono Bold"/>
                <a:sym typeface="Space Mono Bold"/>
              </a:rPr>
              <a:t>RULE 2: V+ ≈ V− WHEN NEGATIVE FEEDBACK IS APPLIED (CALLED THE "VIRTUAL SHORT")</a:t>
            </a:r>
          </a:p>
          <a:p>
            <a:pPr algn="l">
              <a:lnSpc>
                <a:spcPts val="3816"/>
              </a:lnSpc>
            </a:pPr>
          </a:p>
          <a:p>
            <a:pPr algn="l" marL="824084" indent="-412042" lvl="1">
              <a:lnSpc>
                <a:spcPts val="3816"/>
              </a:lnSpc>
              <a:buFont typeface="Arial"/>
              <a:buChar char="•"/>
            </a:pPr>
            <a:r>
              <a:rPr lang="en-US" b="true" sz="3816">
                <a:solidFill>
                  <a:srgbClr val="191E6B"/>
                </a:solidFill>
                <a:latin typeface="Space Mono Bold"/>
                <a:ea typeface="Space Mono Bold"/>
                <a:cs typeface="Space Mono Bold"/>
                <a:sym typeface="Space Mono Bold"/>
              </a:rPr>
              <a:t>THESE TWO RULES ARE USED TO DERIVE EVERY OP-AMP CIRCUIT FORMULA — INCLUDING INVERTING AND NON-INVERTING GAIN EQUATIONS</a:t>
            </a:r>
          </a:p>
          <a:p>
            <a:pPr algn="l">
              <a:lnSpc>
                <a:spcPts val="3816"/>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true" flipV="false" rot="344870">
            <a:off x="15386876" y="7760663"/>
            <a:ext cx="1781093" cy="1913284"/>
          </a:xfrm>
          <a:custGeom>
            <a:avLst/>
            <a:gdLst/>
            <a:ahLst/>
            <a:cxnLst/>
            <a:rect r="r" b="b" t="t" l="l"/>
            <a:pathLst>
              <a:path h="1913284" w="1781093">
                <a:moveTo>
                  <a:pt x="1781093" y="0"/>
                </a:moveTo>
                <a:lnTo>
                  <a:pt x="0" y="0"/>
                </a:lnTo>
                <a:lnTo>
                  <a:pt x="0" y="1913284"/>
                </a:lnTo>
                <a:lnTo>
                  <a:pt x="1781093" y="1913284"/>
                </a:lnTo>
                <a:lnTo>
                  <a:pt x="178109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808180">
            <a:off x="789558" y="723472"/>
            <a:ext cx="1529617" cy="1529617"/>
          </a:xfrm>
          <a:custGeom>
            <a:avLst/>
            <a:gdLst/>
            <a:ahLst/>
            <a:cxnLst/>
            <a:rect r="r" b="b" t="t" l="l"/>
            <a:pathLst>
              <a:path h="1529617" w="1529617">
                <a:moveTo>
                  <a:pt x="0" y="0"/>
                </a:moveTo>
                <a:lnTo>
                  <a:pt x="1529617" y="0"/>
                </a:lnTo>
                <a:lnTo>
                  <a:pt x="1529617" y="1529617"/>
                </a:lnTo>
                <a:lnTo>
                  <a:pt x="0" y="152961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1093760">
            <a:off x="735652" y="3716965"/>
            <a:ext cx="785915" cy="785915"/>
          </a:xfrm>
          <a:custGeom>
            <a:avLst/>
            <a:gdLst/>
            <a:ahLst/>
            <a:cxnLst/>
            <a:rect r="r" b="b" t="t" l="l"/>
            <a:pathLst>
              <a:path h="785915" w="785915">
                <a:moveTo>
                  <a:pt x="0" y="0"/>
                </a:moveTo>
                <a:lnTo>
                  <a:pt x="785915" y="0"/>
                </a:lnTo>
                <a:lnTo>
                  <a:pt x="785915" y="785915"/>
                </a:lnTo>
                <a:lnTo>
                  <a:pt x="0" y="78591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6573101" y="5347517"/>
            <a:ext cx="961386" cy="961386"/>
          </a:xfrm>
          <a:custGeom>
            <a:avLst/>
            <a:gdLst/>
            <a:ahLst/>
            <a:cxnLst/>
            <a:rect r="r" b="b" t="t" l="l"/>
            <a:pathLst>
              <a:path h="961386" w="961386">
                <a:moveTo>
                  <a:pt x="0" y="0"/>
                </a:moveTo>
                <a:lnTo>
                  <a:pt x="961385" y="0"/>
                </a:lnTo>
                <a:lnTo>
                  <a:pt x="961385" y="961385"/>
                </a:lnTo>
                <a:lnTo>
                  <a:pt x="0" y="9613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true" flipV="true" rot="0">
            <a:off x="14037888" y="-1002693"/>
            <a:ext cx="5427189" cy="5427189"/>
          </a:xfrm>
          <a:custGeom>
            <a:avLst/>
            <a:gdLst/>
            <a:ahLst/>
            <a:cxnLst/>
            <a:rect r="r" b="b" t="t" l="l"/>
            <a:pathLst>
              <a:path h="5427189" w="5427189">
                <a:moveTo>
                  <a:pt x="5427189" y="5427189"/>
                </a:moveTo>
                <a:lnTo>
                  <a:pt x="0" y="5427189"/>
                </a:lnTo>
                <a:lnTo>
                  <a:pt x="0" y="0"/>
                </a:lnTo>
                <a:lnTo>
                  <a:pt x="5427189" y="0"/>
                </a:lnTo>
                <a:lnTo>
                  <a:pt x="5427189" y="5427189"/>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1177077" y="5862504"/>
            <a:ext cx="5427189" cy="5427189"/>
          </a:xfrm>
          <a:custGeom>
            <a:avLst/>
            <a:gdLst/>
            <a:ahLst/>
            <a:cxnLst/>
            <a:rect r="r" b="b" t="t" l="l"/>
            <a:pathLst>
              <a:path h="5427189" w="5427189">
                <a:moveTo>
                  <a:pt x="0" y="0"/>
                </a:moveTo>
                <a:lnTo>
                  <a:pt x="5427189" y="0"/>
                </a:lnTo>
                <a:lnTo>
                  <a:pt x="5427189" y="5427189"/>
                </a:lnTo>
                <a:lnTo>
                  <a:pt x="0" y="542718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9" id="9"/>
          <p:cNvSpPr txBox="true"/>
          <p:nvPr/>
        </p:nvSpPr>
        <p:spPr>
          <a:xfrm rot="0">
            <a:off x="2942371" y="3765437"/>
            <a:ext cx="4009145" cy="1056591"/>
          </a:xfrm>
          <a:prstGeom prst="rect">
            <a:avLst/>
          </a:prstGeom>
        </p:spPr>
        <p:txBody>
          <a:bodyPr anchor="t" rtlCol="false" tIns="0" lIns="0" bIns="0" rIns="0">
            <a:spAutoFit/>
          </a:bodyPr>
          <a:lstStyle/>
          <a:p>
            <a:pPr algn="l">
              <a:lnSpc>
                <a:spcPts val="4097"/>
              </a:lnSpc>
            </a:pPr>
            <a:r>
              <a:rPr lang="en-US" sz="4097" b="true">
                <a:solidFill>
                  <a:srgbClr val="191E6B"/>
                </a:solidFill>
                <a:latin typeface="Space Mono Bold"/>
                <a:ea typeface="Space Mono Bold"/>
                <a:cs typeface="Space Mono Bold"/>
                <a:sym typeface="Space Mono Bold"/>
              </a:rPr>
              <a:t>TEMPERATURE</a:t>
            </a:r>
            <a:r>
              <a:rPr lang="en-US" b="true" sz="4097">
                <a:solidFill>
                  <a:srgbClr val="191E6B"/>
                </a:solidFill>
                <a:latin typeface="Space Mono Bold"/>
                <a:ea typeface="Space Mono Bold"/>
                <a:cs typeface="Space Mono Bold"/>
                <a:sym typeface="Space Mono Bold"/>
              </a:rPr>
              <a:t> SENSORS</a:t>
            </a:r>
          </a:p>
        </p:txBody>
      </p:sp>
      <p:sp>
        <p:nvSpPr>
          <p:cNvPr name="TextBox 10" id="10"/>
          <p:cNvSpPr txBox="true"/>
          <p:nvPr/>
        </p:nvSpPr>
        <p:spPr>
          <a:xfrm rot="0">
            <a:off x="2544244" y="1854078"/>
            <a:ext cx="13199512" cy="1196722"/>
          </a:xfrm>
          <a:prstGeom prst="rect">
            <a:avLst/>
          </a:prstGeom>
        </p:spPr>
        <p:txBody>
          <a:bodyPr anchor="t" rtlCol="false" tIns="0" lIns="0" bIns="0" rIns="0">
            <a:spAutoFit/>
          </a:bodyPr>
          <a:lstStyle/>
          <a:p>
            <a:pPr algn="ctr">
              <a:lnSpc>
                <a:spcPts val="8915"/>
              </a:lnSpc>
            </a:pPr>
            <a:r>
              <a:rPr lang="en-US" b="true" sz="8915">
                <a:solidFill>
                  <a:srgbClr val="191E6B"/>
                </a:solidFill>
                <a:latin typeface="Space Mono Bold"/>
                <a:ea typeface="Space Mono Bold"/>
                <a:cs typeface="Space Mono Bold"/>
                <a:sym typeface="Space Mono Bold"/>
              </a:rPr>
              <a:t>TYPES </a:t>
            </a:r>
            <a:r>
              <a:rPr lang="en-US" b="true" sz="8915">
                <a:solidFill>
                  <a:srgbClr val="191E6B"/>
                </a:solidFill>
                <a:latin typeface="Space Mono Bold"/>
                <a:ea typeface="Space Mono Bold"/>
                <a:cs typeface="Space Mono Bold"/>
                <a:sym typeface="Space Mono Bold"/>
              </a:rPr>
              <a:t>OF SENSORS</a:t>
            </a:r>
          </a:p>
        </p:txBody>
      </p:sp>
      <p:sp>
        <p:nvSpPr>
          <p:cNvPr name="TextBox 11" id="11"/>
          <p:cNvSpPr txBox="true"/>
          <p:nvPr/>
        </p:nvSpPr>
        <p:spPr>
          <a:xfrm rot="0">
            <a:off x="7199393" y="3572388"/>
            <a:ext cx="8146236" cy="1423638"/>
          </a:xfrm>
          <a:prstGeom prst="rect">
            <a:avLst/>
          </a:prstGeom>
        </p:spPr>
        <p:txBody>
          <a:bodyPr anchor="t" rtlCol="false" tIns="0" lIns="0" bIns="0" rIns="0">
            <a:spAutoFit/>
          </a:bodyPr>
          <a:lstStyle/>
          <a:p>
            <a:pPr algn="l">
              <a:lnSpc>
                <a:spcPts val="2802"/>
              </a:lnSpc>
            </a:pPr>
            <a:r>
              <a:rPr lang="en-US" sz="2802">
                <a:solidFill>
                  <a:srgbClr val="191E6B"/>
                </a:solidFill>
                <a:latin typeface="Signika"/>
                <a:ea typeface="Signika"/>
                <a:cs typeface="Signika"/>
                <a:sym typeface="Signika"/>
              </a:rPr>
              <a:t>Lorem ipsum dolor sit amet, consectetur adipiscing elit. Quisque non elit mauris. Cras euismod, metus ac finibus finibus, felis dui suscipit purus, a maximus leo ligula at dolor. Morbi et malesuada purus.</a:t>
            </a:r>
          </a:p>
        </p:txBody>
      </p:sp>
      <p:sp>
        <p:nvSpPr>
          <p:cNvPr name="TextBox 12" id="12"/>
          <p:cNvSpPr txBox="true"/>
          <p:nvPr/>
        </p:nvSpPr>
        <p:spPr>
          <a:xfrm rot="0">
            <a:off x="2942371" y="5564847"/>
            <a:ext cx="4009145" cy="1056591"/>
          </a:xfrm>
          <a:prstGeom prst="rect">
            <a:avLst/>
          </a:prstGeom>
        </p:spPr>
        <p:txBody>
          <a:bodyPr anchor="t" rtlCol="false" tIns="0" lIns="0" bIns="0" rIns="0">
            <a:spAutoFit/>
          </a:bodyPr>
          <a:lstStyle/>
          <a:p>
            <a:pPr algn="l">
              <a:lnSpc>
                <a:spcPts val="4097"/>
              </a:lnSpc>
            </a:pPr>
            <a:r>
              <a:rPr lang="en-US" sz="4097" b="true">
                <a:solidFill>
                  <a:srgbClr val="191E6B"/>
                </a:solidFill>
                <a:latin typeface="Space Mono Bold"/>
                <a:ea typeface="Space Mono Bold"/>
                <a:cs typeface="Space Mono Bold"/>
                <a:sym typeface="Space Mono Bold"/>
              </a:rPr>
              <a:t>LIGHT</a:t>
            </a:r>
            <a:r>
              <a:rPr lang="en-US" b="true" sz="4097">
                <a:solidFill>
                  <a:srgbClr val="191E6B"/>
                </a:solidFill>
                <a:latin typeface="Space Mono Bold"/>
                <a:ea typeface="Space Mono Bold"/>
                <a:cs typeface="Space Mono Bold"/>
                <a:sym typeface="Space Mono Bold"/>
              </a:rPr>
              <a:t> SENSORS</a:t>
            </a:r>
          </a:p>
        </p:txBody>
      </p:sp>
      <p:sp>
        <p:nvSpPr>
          <p:cNvPr name="TextBox 13" id="13"/>
          <p:cNvSpPr txBox="true"/>
          <p:nvPr/>
        </p:nvSpPr>
        <p:spPr>
          <a:xfrm rot="0">
            <a:off x="2942371" y="7364257"/>
            <a:ext cx="4009145" cy="1056591"/>
          </a:xfrm>
          <a:prstGeom prst="rect">
            <a:avLst/>
          </a:prstGeom>
        </p:spPr>
        <p:txBody>
          <a:bodyPr anchor="t" rtlCol="false" tIns="0" lIns="0" bIns="0" rIns="0">
            <a:spAutoFit/>
          </a:bodyPr>
          <a:lstStyle/>
          <a:p>
            <a:pPr algn="l">
              <a:lnSpc>
                <a:spcPts val="4097"/>
              </a:lnSpc>
            </a:pPr>
            <a:r>
              <a:rPr lang="en-US" sz="4097" b="true">
                <a:solidFill>
                  <a:srgbClr val="191E6B"/>
                </a:solidFill>
                <a:latin typeface="Space Mono Bold"/>
                <a:ea typeface="Space Mono Bold"/>
                <a:cs typeface="Space Mono Bold"/>
                <a:sym typeface="Space Mono Bold"/>
              </a:rPr>
              <a:t>PRESSURE</a:t>
            </a:r>
            <a:r>
              <a:rPr lang="en-US" b="true" sz="4097">
                <a:solidFill>
                  <a:srgbClr val="191E6B"/>
                </a:solidFill>
                <a:latin typeface="Space Mono Bold"/>
                <a:ea typeface="Space Mono Bold"/>
                <a:cs typeface="Space Mono Bold"/>
                <a:sym typeface="Space Mono Bold"/>
              </a:rPr>
              <a:t> SENSORS</a:t>
            </a:r>
          </a:p>
        </p:txBody>
      </p:sp>
      <p:sp>
        <p:nvSpPr>
          <p:cNvPr name="TextBox 14" id="14"/>
          <p:cNvSpPr txBox="true"/>
          <p:nvPr/>
        </p:nvSpPr>
        <p:spPr>
          <a:xfrm rot="0">
            <a:off x="7199393" y="5371798"/>
            <a:ext cx="8146236" cy="1423638"/>
          </a:xfrm>
          <a:prstGeom prst="rect">
            <a:avLst/>
          </a:prstGeom>
        </p:spPr>
        <p:txBody>
          <a:bodyPr anchor="t" rtlCol="false" tIns="0" lIns="0" bIns="0" rIns="0">
            <a:spAutoFit/>
          </a:bodyPr>
          <a:lstStyle/>
          <a:p>
            <a:pPr algn="l">
              <a:lnSpc>
                <a:spcPts val="2802"/>
              </a:lnSpc>
            </a:pPr>
            <a:r>
              <a:rPr lang="en-US" sz="2802">
                <a:solidFill>
                  <a:srgbClr val="191E6B"/>
                </a:solidFill>
                <a:latin typeface="Signika"/>
                <a:ea typeface="Signika"/>
                <a:cs typeface="Signika"/>
                <a:sym typeface="Signika"/>
              </a:rPr>
              <a:t>Lorem ipsum dolor sit amet, consectetur adipiscing elit. Quisque non elit mauris. Cras euismod, metus ac finibus finibus, felis dui suscipit purus, a maximus leo ligula at dolor. Morbi et malesuada purus.</a:t>
            </a:r>
          </a:p>
        </p:txBody>
      </p:sp>
      <p:sp>
        <p:nvSpPr>
          <p:cNvPr name="TextBox 15" id="15"/>
          <p:cNvSpPr txBox="true"/>
          <p:nvPr/>
        </p:nvSpPr>
        <p:spPr>
          <a:xfrm rot="0">
            <a:off x="7199393" y="7171209"/>
            <a:ext cx="8146236" cy="1423638"/>
          </a:xfrm>
          <a:prstGeom prst="rect">
            <a:avLst/>
          </a:prstGeom>
        </p:spPr>
        <p:txBody>
          <a:bodyPr anchor="t" rtlCol="false" tIns="0" lIns="0" bIns="0" rIns="0">
            <a:spAutoFit/>
          </a:bodyPr>
          <a:lstStyle/>
          <a:p>
            <a:pPr algn="l">
              <a:lnSpc>
                <a:spcPts val="2802"/>
              </a:lnSpc>
            </a:pPr>
            <a:r>
              <a:rPr lang="en-US" sz="2802">
                <a:solidFill>
                  <a:srgbClr val="191E6B"/>
                </a:solidFill>
                <a:latin typeface="Signika"/>
                <a:ea typeface="Signika"/>
                <a:cs typeface="Signika"/>
                <a:sym typeface="Signika"/>
              </a:rPr>
              <a:t>Lorem ipsum dolor sit amet, consectetur adipiscing elit. Quisque non elit mauris. Cras euismod, metus ac finibus finibus, felis dui suscipit purus, a maximus leo ligula at dolor. Morbi et malesuada purus.</a:t>
            </a:r>
          </a:p>
        </p:txBody>
      </p:sp>
      <p:sp>
        <p:nvSpPr>
          <p:cNvPr name="TextBox 16" id="16"/>
          <p:cNvSpPr txBox="true"/>
          <p:nvPr/>
        </p:nvSpPr>
        <p:spPr>
          <a:xfrm rot="0">
            <a:off x="3097882" y="9163180"/>
            <a:ext cx="905023" cy="595146"/>
          </a:xfrm>
          <a:prstGeom prst="rect">
            <a:avLst/>
          </a:prstGeom>
        </p:spPr>
        <p:txBody>
          <a:bodyPr anchor="t" rtlCol="false" tIns="0" lIns="0" bIns="0" rIns="0">
            <a:spAutoFit/>
          </a:bodyPr>
          <a:lstStyle/>
          <a:p>
            <a:pPr algn="ctr">
              <a:lnSpc>
                <a:spcPts val="4405"/>
              </a:lnSpc>
            </a:pPr>
            <a:r>
              <a:rPr lang="en-US" b="true" sz="4405">
                <a:solidFill>
                  <a:srgbClr val="191E6B"/>
                </a:solidFill>
                <a:latin typeface="Space Mono Bold"/>
                <a:ea typeface="Space Mono Bold"/>
                <a:cs typeface="Space Mono Bold"/>
                <a:sym typeface="Space Mono Bold"/>
              </a:rPr>
              <a:t>2</a:t>
            </a:r>
          </a:p>
        </p:txBody>
      </p:sp>
      <p:sp>
        <p:nvSpPr>
          <p:cNvPr name="TextBox 17" id="17"/>
          <p:cNvSpPr txBox="true"/>
          <p:nvPr/>
        </p:nvSpPr>
        <p:spPr>
          <a:xfrm rot="0">
            <a:off x="4012430" y="9315450"/>
            <a:ext cx="6122817" cy="392812"/>
          </a:xfrm>
          <a:prstGeom prst="rect">
            <a:avLst/>
          </a:prstGeom>
        </p:spPr>
        <p:txBody>
          <a:bodyPr anchor="t" rtlCol="false" tIns="0" lIns="0" bIns="0" rIns="0">
            <a:spAutoFit/>
          </a:bodyPr>
          <a:lstStyle/>
          <a:p>
            <a:pPr algn="l">
              <a:lnSpc>
                <a:spcPts val="2983"/>
              </a:lnSpc>
            </a:pPr>
            <a:r>
              <a:rPr lang="en-US" sz="2983" b="true">
                <a:solidFill>
                  <a:srgbClr val="191E6B"/>
                </a:solidFill>
                <a:latin typeface="Space Mono Bold"/>
                <a:ea typeface="Space Mono Bold"/>
                <a:cs typeface="Space Mono Bold"/>
                <a:sym typeface="Space Mono Bold"/>
              </a:rPr>
              <a:t>SENSORS, WAVES &amp; DATA</a:t>
            </a:r>
          </a:p>
        </p:txBody>
      </p:sp>
      <p:sp>
        <p:nvSpPr>
          <p:cNvPr name="AutoShape 18" id="18"/>
          <p:cNvSpPr/>
          <p:nvPr/>
        </p:nvSpPr>
        <p:spPr>
          <a:xfrm>
            <a:off x="3097882" y="9106030"/>
            <a:ext cx="6492240" cy="0"/>
          </a:xfrm>
          <a:prstGeom prst="line">
            <a:avLst/>
          </a:prstGeom>
          <a:ln cap="flat" w="19050">
            <a:solidFill>
              <a:srgbClr val="000A47"/>
            </a:solidFill>
            <a:prstDash val="solid"/>
            <a:headEnd type="none" len="sm" w="sm"/>
            <a:tailEnd type="none" len="sm" w="sm"/>
          </a:ln>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true" flipV="false" rot="344870">
            <a:off x="15386876" y="7760663"/>
            <a:ext cx="1781093" cy="1913284"/>
          </a:xfrm>
          <a:custGeom>
            <a:avLst/>
            <a:gdLst/>
            <a:ahLst/>
            <a:cxnLst/>
            <a:rect r="r" b="b" t="t" l="l"/>
            <a:pathLst>
              <a:path h="1913284" w="1781093">
                <a:moveTo>
                  <a:pt x="1781093" y="0"/>
                </a:moveTo>
                <a:lnTo>
                  <a:pt x="0" y="0"/>
                </a:lnTo>
                <a:lnTo>
                  <a:pt x="0" y="1913284"/>
                </a:lnTo>
                <a:lnTo>
                  <a:pt x="1781093" y="1913284"/>
                </a:lnTo>
                <a:lnTo>
                  <a:pt x="178109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808180">
            <a:off x="789558" y="723472"/>
            <a:ext cx="1529617" cy="1529617"/>
          </a:xfrm>
          <a:custGeom>
            <a:avLst/>
            <a:gdLst/>
            <a:ahLst/>
            <a:cxnLst/>
            <a:rect r="r" b="b" t="t" l="l"/>
            <a:pathLst>
              <a:path h="1529617" w="1529617">
                <a:moveTo>
                  <a:pt x="0" y="0"/>
                </a:moveTo>
                <a:lnTo>
                  <a:pt x="1529617" y="0"/>
                </a:lnTo>
                <a:lnTo>
                  <a:pt x="1529617" y="1529617"/>
                </a:lnTo>
                <a:lnTo>
                  <a:pt x="0" y="152961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1093760">
            <a:off x="735652" y="3716965"/>
            <a:ext cx="785915" cy="785915"/>
          </a:xfrm>
          <a:custGeom>
            <a:avLst/>
            <a:gdLst/>
            <a:ahLst/>
            <a:cxnLst/>
            <a:rect r="r" b="b" t="t" l="l"/>
            <a:pathLst>
              <a:path h="785915" w="785915">
                <a:moveTo>
                  <a:pt x="0" y="0"/>
                </a:moveTo>
                <a:lnTo>
                  <a:pt x="785915" y="0"/>
                </a:lnTo>
                <a:lnTo>
                  <a:pt x="785915" y="785915"/>
                </a:lnTo>
                <a:lnTo>
                  <a:pt x="0" y="78591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6573101" y="5347517"/>
            <a:ext cx="961386" cy="961386"/>
          </a:xfrm>
          <a:custGeom>
            <a:avLst/>
            <a:gdLst/>
            <a:ahLst/>
            <a:cxnLst/>
            <a:rect r="r" b="b" t="t" l="l"/>
            <a:pathLst>
              <a:path h="961386" w="961386">
                <a:moveTo>
                  <a:pt x="0" y="0"/>
                </a:moveTo>
                <a:lnTo>
                  <a:pt x="961385" y="0"/>
                </a:lnTo>
                <a:lnTo>
                  <a:pt x="961385" y="961385"/>
                </a:lnTo>
                <a:lnTo>
                  <a:pt x="0" y="9613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true" flipV="true" rot="0">
            <a:off x="14037888" y="-1002693"/>
            <a:ext cx="5427189" cy="5427189"/>
          </a:xfrm>
          <a:custGeom>
            <a:avLst/>
            <a:gdLst/>
            <a:ahLst/>
            <a:cxnLst/>
            <a:rect r="r" b="b" t="t" l="l"/>
            <a:pathLst>
              <a:path h="5427189" w="5427189">
                <a:moveTo>
                  <a:pt x="5427189" y="5427189"/>
                </a:moveTo>
                <a:lnTo>
                  <a:pt x="0" y="5427189"/>
                </a:lnTo>
                <a:lnTo>
                  <a:pt x="0" y="0"/>
                </a:lnTo>
                <a:lnTo>
                  <a:pt x="5427189" y="0"/>
                </a:lnTo>
                <a:lnTo>
                  <a:pt x="5427189" y="5427189"/>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8" id="8"/>
          <p:cNvSpPr txBox="true"/>
          <p:nvPr/>
        </p:nvSpPr>
        <p:spPr>
          <a:xfrm rot="0">
            <a:off x="2544244" y="2067689"/>
            <a:ext cx="13199512" cy="1196722"/>
          </a:xfrm>
          <a:prstGeom prst="rect">
            <a:avLst/>
          </a:prstGeom>
        </p:spPr>
        <p:txBody>
          <a:bodyPr anchor="t" rtlCol="false" tIns="0" lIns="0" bIns="0" rIns="0">
            <a:spAutoFit/>
          </a:bodyPr>
          <a:lstStyle/>
          <a:p>
            <a:pPr algn="ctr">
              <a:lnSpc>
                <a:spcPts val="8915"/>
              </a:lnSpc>
            </a:pPr>
            <a:r>
              <a:rPr lang="en-US" b="true" sz="8915">
                <a:solidFill>
                  <a:srgbClr val="191E6B"/>
                </a:solidFill>
                <a:latin typeface="Space Mono Bold"/>
                <a:ea typeface="Space Mono Bold"/>
                <a:cs typeface="Space Mono Bold"/>
                <a:sym typeface="Space Mono Bold"/>
              </a:rPr>
              <a:t>H</a:t>
            </a:r>
            <a:r>
              <a:rPr lang="en-US" b="true" sz="8915">
                <a:solidFill>
                  <a:srgbClr val="191E6B"/>
                </a:solidFill>
                <a:latin typeface="Space Mono Bold"/>
                <a:ea typeface="Space Mono Bold"/>
                <a:cs typeface="Space Mono Bold"/>
                <a:sym typeface="Space Mono Bold"/>
              </a:rPr>
              <a:t>OW SENSORS WORK</a:t>
            </a:r>
          </a:p>
        </p:txBody>
      </p:sp>
      <p:grpSp>
        <p:nvGrpSpPr>
          <p:cNvPr name="Group 9" id="9"/>
          <p:cNvGrpSpPr/>
          <p:nvPr/>
        </p:nvGrpSpPr>
        <p:grpSpPr>
          <a:xfrm rot="0">
            <a:off x="10010751" y="3728849"/>
            <a:ext cx="5275846" cy="4652386"/>
            <a:chOff x="0" y="0"/>
            <a:chExt cx="817367" cy="720776"/>
          </a:xfrm>
        </p:grpSpPr>
        <p:sp>
          <p:nvSpPr>
            <p:cNvPr name="Freeform 10" id="10"/>
            <p:cNvSpPr/>
            <p:nvPr/>
          </p:nvSpPr>
          <p:spPr>
            <a:xfrm flipH="false" flipV="false" rot="0">
              <a:off x="0" y="0"/>
              <a:ext cx="817367" cy="720776"/>
            </a:xfrm>
            <a:custGeom>
              <a:avLst/>
              <a:gdLst/>
              <a:ahLst/>
              <a:cxnLst/>
              <a:rect r="r" b="b" t="t" l="l"/>
              <a:pathLst>
                <a:path h="720776" w="817367">
                  <a:moveTo>
                    <a:pt x="0" y="0"/>
                  </a:moveTo>
                  <a:lnTo>
                    <a:pt x="817367" y="0"/>
                  </a:lnTo>
                  <a:lnTo>
                    <a:pt x="817367" y="720776"/>
                  </a:lnTo>
                  <a:lnTo>
                    <a:pt x="0" y="720776"/>
                  </a:lnTo>
                  <a:close/>
                </a:path>
              </a:pathLst>
            </a:custGeom>
            <a:blipFill>
              <a:blip r:embed="rId13"/>
              <a:stretch>
                <a:fillRect l="-21206" t="0" r="-11150" b="0"/>
              </a:stretch>
            </a:blipFill>
          </p:spPr>
        </p:sp>
      </p:grpSp>
      <p:sp>
        <p:nvSpPr>
          <p:cNvPr name="Freeform 11" id="11"/>
          <p:cNvSpPr/>
          <p:nvPr/>
        </p:nvSpPr>
        <p:spPr>
          <a:xfrm flipH="false" flipV="false" rot="0">
            <a:off x="-1177077" y="5862504"/>
            <a:ext cx="5427189" cy="5427189"/>
          </a:xfrm>
          <a:custGeom>
            <a:avLst/>
            <a:gdLst/>
            <a:ahLst/>
            <a:cxnLst/>
            <a:rect r="r" b="b" t="t" l="l"/>
            <a:pathLst>
              <a:path h="5427189" w="5427189">
                <a:moveTo>
                  <a:pt x="0" y="0"/>
                </a:moveTo>
                <a:lnTo>
                  <a:pt x="5427189" y="0"/>
                </a:lnTo>
                <a:lnTo>
                  <a:pt x="5427189" y="5427189"/>
                </a:lnTo>
                <a:lnTo>
                  <a:pt x="0" y="542718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2" id="12"/>
          <p:cNvSpPr txBox="true"/>
          <p:nvPr/>
        </p:nvSpPr>
        <p:spPr>
          <a:xfrm rot="0">
            <a:off x="3001403" y="3785999"/>
            <a:ext cx="6165608" cy="4595236"/>
          </a:xfrm>
          <a:prstGeom prst="rect">
            <a:avLst/>
          </a:prstGeom>
        </p:spPr>
        <p:txBody>
          <a:bodyPr anchor="t" rtlCol="false" tIns="0" lIns="0" bIns="0" rIns="0">
            <a:spAutoFit/>
          </a:bodyPr>
          <a:lstStyle/>
          <a:p>
            <a:pPr algn="l">
              <a:lnSpc>
                <a:spcPts val="2802"/>
              </a:lnSpc>
            </a:pPr>
            <a:r>
              <a:rPr lang="en-US" sz="2802">
                <a:solidFill>
                  <a:srgbClr val="191E6B"/>
                </a:solidFill>
                <a:latin typeface="Signika"/>
                <a:ea typeface="Signika"/>
                <a:cs typeface="Signika"/>
                <a:sym typeface="Signika"/>
              </a:rPr>
              <a:t>Lorem ipsum dolor sit amet, consectetur adipiscing elit. Quisque non elit mauris. Cras euismod, metus ac finibus finibus, felis dui suscipit purus, a maximus leo ligula at dolor. Morbi et malesuada purus. Phasellus a lacus sit amet urna tempor sollicitudin. Cras pretium tempor elit blandit egestas. Donec sed dignissim augue. Suspendisse ac vulputate leo. Cras aliquet nunc ac velit cursus viverra. In hac habitasse platea dictumst. Nam tortor urna, semper ac nulla id, porttitor semper felis.</a:t>
            </a:r>
          </a:p>
        </p:txBody>
      </p:sp>
      <p:sp>
        <p:nvSpPr>
          <p:cNvPr name="TextBox 13" id="13"/>
          <p:cNvSpPr txBox="true"/>
          <p:nvPr/>
        </p:nvSpPr>
        <p:spPr>
          <a:xfrm rot="0">
            <a:off x="3097882" y="9163180"/>
            <a:ext cx="905023" cy="595146"/>
          </a:xfrm>
          <a:prstGeom prst="rect">
            <a:avLst/>
          </a:prstGeom>
        </p:spPr>
        <p:txBody>
          <a:bodyPr anchor="t" rtlCol="false" tIns="0" lIns="0" bIns="0" rIns="0">
            <a:spAutoFit/>
          </a:bodyPr>
          <a:lstStyle/>
          <a:p>
            <a:pPr algn="ctr">
              <a:lnSpc>
                <a:spcPts val="4405"/>
              </a:lnSpc>
            </a:pPr>
            <a:r>
              <a:rPr lang="en-US" b="true" sz="4405">
                <a:solidFill>
                  <a:srgbClr val="191E6B"/>
                </a:solidFill>
                <a:latin typeface="Space Mono Bold"/>
                <a:ea typeface="Space Mono Bold"/>
                <a:cs typeface="Space Mono Bold"/>
                <a:sym typeface="Space Mono Bold"/>
              </a:rPr>
              <a:t>3</a:t>
            </a:r>
          </a:p>
        </p:txBody>
      </p:sp>
      <p:sp>
        <p:nvSpPr>
          <p:cNvPr name="TextBox 14" id="14"/>
          <p:cNvSpPr txBox="true"/>
          <p:nvPr/>
        </p:nvSpPr>
        <p:spPr>
          <a:xfrm rot="0">
            <a:off x="4012430" y="9315450"/>
            <a:ext cx="6122817" cy="392812"/>
          </a:xfrm>
          <a:prstGeom prst="rect">
            <a:avLst/>
          </a:prstGeom>
        </p:spPr>
        <p:txBody>
          <a:bodyPr anchor="t" rtlCol="false" tIns="0" lIns="0" bIns="0" rIns="0">
            <a:spAutoFit/>
          </a:bodyPr>
          <a:lstStyle/>
          <a:p>
            <a:pPr algn="l">
              <a:lnSpc>
                <a:spcPts val="2983"/>
              </a:lnSpc>
            </a:pPr>
            <a:r>
              <a:rPr lang="en-US" sz="2983" b="true">
                <a:solidFill>
                  <a:srgbClr val="191E6B"/>
                </a:solidFill>
                <a:latin typeface="Space Mono Bold"/>
                <a:ea typeface="Space Mono Bold"/>
                <a:cs typeface="Space Mono Bold"/>
                <a:sym typeface="Space Mono Bold"/>
              </a:rPr>
              <a:t>SENSORS, WAVES &amp; DATA</a:t>
            </a:r>
          </a:p>
        </p:txBody>
      </p:sp>
      <p:sp>
        <p:nvSpPr>
          <p:cNvPr name="AutoShape 15" id="15"/>
          <p:cNvSpPr/>
          <p:nvPr/>
        </p:nvSpPr>
        <p:spPr>
          <a:xfrm>
            <a:off x="3097882" y="9106030"/>
            <a:ext cx="6492240" cy="0"/>
          </a:xfrm>
          <a:prstGeom prst="line">
            <a:avLst/>
          </a:prstGeom>
          <a:ln cap="flat" w="19050">
            <a:solidFill>
              <a:srgbClr val="000A47"/>
            </a:solidFill>
            <a:prstDash val="solid"/>
            <a:headEnd type="none" len="sm" w="sm"/>
            <a:tailEnd type="none" len="sm" w="sm"/>
          </a:ln>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true" flipV="false" rot="344870">
            <a:off x="15386876" y="7760663"/>
            <a:ext cx="1781093" cy="1913284"/>
          </a:xfrm>
          <a:custGeom>
            <a:avLst/>
            <a:gdLst/>
            <a:ahLst/>
            <a:cxnLst/>
            <a:rect r="r" b="b" t="t" l="l"/>
            <a:pathLst>
              <a:path h="1913284" w="1781093">
                <a:moveTo>
                  <a:pt x="1781093" y="0"/>
                </a:moveTo>
                <a:lnTo>
                  <a:pt x="0" y="0"/>
                </a:lnTo>
                <a:lnTo>
                  <a:pt x="0" y="1913284"/>
                </a:lnTo>
                <a:lnTo>
                  <a:pt x="1781093" y="1913284"/>
                </a:lnTo>
                <a:lnTo>
                  <a:pt x="178109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808180">
            <a:off x="789558" y="723472"/>
            <a:ext cx="1529617" cy="1529617"/>
          </a:xfrm>
          <a:custGeom>
            <a:avLst/>
            <a:gdLst/>
            <a:ahLst/>
            <a:cxnLst/>
            <a:rect r="r" b="b" t="t" l="l"/>
            <a:pathLst>
              <a:path h="1529617" w="1529617">
                <a:moveTo>
                  <a:pt x="0" y="0"/>
                </a:moveTo>
                <a:lnTo>
                  <a:pt x="1529617" y="0"/>
                </a:lnTo>
                <a:lnTo>
                  <a:pt x="1529617" y="1529617"/>
                </a:lnTo>
                <a:lnTo>
                  <a:pt x="0" y="152961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1093760">
            <a:off x="735652" y="3716965"/>
            <a:ext cx="785915" cy="785915"/>
          </a:xfrm>
          <a:custGeom>
            <a:avLst/>
            <a:gdLst/>
            <a:ahLst/>
            <a:cxnLst/>
            <a:rect r="r" b="b" t="t" l="l"/>
            <a:pathLst>
              <a:path h="785915" w="785915">
                <a:moveTo>
                  <a:pt x="0" y="0"/>
                </a:moveTo>
                <a:lnTo>
                  <a:pt x="785915" y="0"/>
                </a:lnTo>
                <a:lnTo>
                  <a:pt x="785915" y="785915"/>
                </a:lnTo>
                <a:lnTo>
                  <a:pt x="0" y="78591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6573101" y="5347517"/>
            <a:ext cx="961386" cy="961386"/>
          </a:xfrm>
          <a:custGeom>
            <a:avLst/>
            <a:gdLst/>
            <a:ahLst/>
            <a:cxnLst/>
            <a:rect r="r" b="b" t="t" l="l"/>
            <a:pathLst>
              <a:path h="961386" w="961386">
                <a:moveTo>
                  <a:pt x="0" y="0"/>
                </a:moveTo>
                <a:lnTo>
                  <a:pt x="961385" y="0"/>
                </a:lnTo>
                <a:lnTo>
                  <a:pt x="961385" y="961385"/>
                </a:lnTo>
                <a:lnTo>
                  <a:pt x="0" y="9613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177077" y="5862504"/>
            <a:ext cx="5427189" cy="5427189"/>
          </a:xfrm>
          <a:custGeom>
            <a:avLst/>
            <a:gdLst/>
            <a:ahLst/>
            <a:cxnLst/>
            <a:rect r="r" b="b" t="t" l="l"/>
            <a:pathLst>
              <a:path h="5427189" w="5427189">
                <a:moveTo>
                  <a:pt x="0" y="0"/>
                </a:moveTo>
                <a:lnTo>
                  <a:pt x="5427189" y="0"/>
                </a:lnTo>
                <a:lnTo>
                  <a:pt x="5427189" y="5427189"/>
                </a:lnTo>
                <a:lnTo>
                  <a:pt x="0" y="542718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true" flipV="true" rot="0">
            <a:off x="14037888" y="-1002693"/>
            <a:ext cx="5427189" cy="5427189"/>
          </a:xfrm>
          <a:custGeom>
            <a:avLst/>
            <a:gdLst/>
            <a:ahLst/>
            <a:cxnLst/>
            <a:rect r="r" b="b" t="t" l="l"/>
            <a:pathLst>
              <a:path h="5427189" w="5427189">
                <a:moveTo>
                  <a:pt x="5427189" y="5427189"/>
                </a:moveTo>
                <a:lnTo>
                  <a:pt x="0" y="5427189"/>
                </a:lnTo>
                <a:lnTo>
                  <a:pt x="0" y="0"/>
                </a:lnTo>
                <a:lnTo>
                  <a:pt x="5427189" y="0"/>
                </a:lnTo>
                <a:lnTo>
                  <a:pt x="5427189" y="5427189"/>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9" id="9"/>
          <p:cNvSpPr txBox="true"/>
          <p:nvPr/>
        </p:nvSpPr>
        <p:spPr>
          <a:xfrm rot="0">
            <a:off x="3550394" y="4064046"/>
            <a:ext cx="11187212" cy="4017240"/>
          </a:xfrm>
          <a:prstGeom prst="rect">
            <a:avLst/>
          </a:prstGeom>
        </p:spPr>
        <p:txBody>
          <a:bodyPr anchor="t" rtlCol="false" tIns="0" lIns="0" bIns="0" rIns="0">
            <a:spAutoFit/>
          </a:bodyPr>
          <a:lstStyle/>
          <a:p>
            <a:pPr algn="ctr">
              <a:lnSpc>
                <a:spcPts val="3163"/>
              </a:lnSpc>
            </a:pPr>
            <a:r>
              <a:rPr lang="en-US" sz="3163">
                <a:solidFill>
                  <a:srgbClr val="191E6B"/>
                </a:solidFill>
                <a:latin typeface="Signika"/>
                <a:ea typeface="Signika"/>
                <a:cs typeface="Signika"/>
                <a:sym typeface="Signika"/>
              </a:rPr>
              <a:t>Lorem ipsum dolor sit amet, consectetur adipiscing elit. Quisque non elit mauris. Cras euismod, metus ac finibus finibus, felis dui suscipit purus, a maximus leo ligula at dolor. Morbi et malesuada purus. </a:t>
            </a:r>
            <a:r>
              <a:rPr lang="en-US" sz="3163">
                <a:solidFill>
                  <a:srgbClr val="191E6B"/>
                </a:solidFill>
                <a:latin typeface="Signika"/>
                <a:ea typeface="Signika"/>
                <a:cs typeface="Signika"/>
                <a:sym typeface="Signika"/>
              </a:rPr>
              <a:t>Phasellus a lacus sit amet urna tempor sollicitudin. Cras pretium tempor elit blandit egestas. Donec sed dignissim augue. Suspendisse ac vulputate leo. Cras aliquet nunc ac velit cursus viverra. In hac habitasse platea dictumst. Nam tortor urna, semper ac nulla id, porttitor semper felis. Phasellus blandit eros viverra, ultricies nibh nec, viverra ipsum. Ut nec gravida massa, eu convallis est.</a:t>
            </a:r>
          </a:p>
        </p:txBody>
      </p:sp>
      <p:sp>
        <p:nvSpPr>
          <p:cNvPr name="TextBox 10" id="10"/>
          <p:cNvSpPr txBox="true"/>
          <p:nvPr/>
        </p:nvSpPr>
        <p:spPr>
          <a:xfrm rot="0">
            <a:off x="3423368" y="2367639"/>
            <a:ext cx="11441264" cy="1196722"/>
          </a:xfrm>
          <a:prstGeom prst="rect">
            <a:avLst/>
          </a:prstGeom>
        </p:spPr>
        <p:txBody>
          <a:bodyPr anchor="t" rtlCol="false" tIns="0" lIns="0" bIns="0" rIns="0">
            <a:spAutoFit/>
          </a:bodyPr>
          <a:lstStyle/>
          <a:p>
            <a:pPr algn="ctr">
              <a:lnSpc>
                <a:spcPts val="8915"/>
              </a:lnSpc>
            </a:pPr>
            <a:r>
              <a:rPr lang="en-US" b="true" sz="8915">
                <a:solidFill>
                  <a:srgbClr val="191E6B"/>
                </a:solidFill>
                <a:latin typeface="Space Mono Bold"/>
                <a:ea typeface="Space Mono Bold"/>
                <a:cs typeface="Space Mono Bold"/>
                <a:sym typeface="Space Mono Bold"/>
              </a:rPr>
              <a:t>WHA</a:t>
            </a:r>
            <a:r>
              <a:rPr lang="en-US" b="true" sz="8915">
                <a:solidFill>
                  <a:srgbClr val="191E6B"/>
                </a:solidFill>
                <a:latin typeface="Space Mono Bold"/>
                <a:ea typeface="Space Mono Bold"/>
                <a:cs typeface="Space Mono Bold"/>
                <a:sym typeface="Space Mono Bold"/>
              </a:rPr>
              <a:t>T ARE WAVES?</a:t>
            </a:r>
          </a:p>
        </p:txBody>
      </p:sp>
      <p:sp>
        <p:nvSpPr>
          <p:cNvPr name="TextBox 11" id="11"/>
          <p:cNvSpPr txBox="true"/>
          <p:nvPr/>
        </p:nvSpPr>
        <p:spPr>
          <a:xfrm rot="0">
            <a:off x="3097882" y="9163180"/>
            <a:ext cx="905023" cy="595146"/>
          </a:xfrm>
          <a:prstGeom prst="rect">
            <a:avLst/>
          </a:prstGeom>
        </p:spPr>
        <p:txBody>
          <a:bodyPr anchor="t" rtlCol="false" tIns="0" lIns="0" bIns="0" rIns="0">
            <a:spAutoFit/>
          </a:bodyPr>
          <a:lstStyle/>
          <a:p>
            <a:pPr algn="ctr">
              <a:lnSpc>
                <a:spcPts val="4405"/>
              </a:lnSpc>
            </a:pPr>
            <a:r>
              <a:rPr lang="en-US" b="true" sz="4405">
                <a:solidFill>
                  <a:srgbClr val="191E6B"/>
                </a:solidFill>
                <a:latin typeface="Space Mono Bold"/>
                <a:ea typeface="Space Mono Bold"/>
                <a:cs typeface="Space Mono Bold"/>
                <a:sym typeface="Space Mono Bold"/>
              </a:rPr>
              <a:t>4</a:t>
            </a:r>
          </a:p>
        </p:txBody>
      </p:sp>
      <p:sp>
        <p:nvSpPr>
          <p:cNvPr name="TextBox 12" id="12"/>
          <p:cNvSpPr txBox="true"/>
          <p:nvPr/>
        </p:nvSpPr>
        <p:spPr>
          <a:xfrm rot="0">
            <a:off x="4012430" y="9315450"/>
            <a:ext cx="6122817" cy="392812"/>
          </a:xfrm>
          <a:prstGeom prst="rect">
            <a:avLst/>
          </a:prstGeom>
        </p:spPr>
        <p:txBody>
          <a:bodyPr anchor="t" rtlCol="false" tIns="0" lIns="0" bIns="0" rIns="0">
            <a:spAutoFit/>
          </a:bodyPr>
          <a:lstStyle/>
          <a:p>
            <a:pPr algn="l">
              <a:lnSpc>
                <a:spcPts val="2983"/>
              </a:lnSpc>
            </a:pPr>
            <a:r>
              <a:rPr lang="en-US" sz="2983" b="true">
                <a:solidFill>
                  <a:srgbClr val="191E6B"/>
                </a:solidFill>
                <a:latin typeface="Space Mono Bold"/>
                <a:ea typeface="Space Mono Bold"/>
                <a:cs typeface="Space Mono Bold"/>
                <a:sym typeface="Space Mono Bold"/>
              </a:rPr>
              <a:t>SENSORS, WAVES &amp; DATA</a:t>
            </a:r>
          </a:p>
        </p:txBody>
      </p:sp>
      <p:sp>
        <p:nvSpPr>
          <p:cNvPr name="AutoShape 13" id="13"/>
          <p:cNvSpPr/>
          <p:nvPr/>
        </p:nvSpPr>
        <p:spPr>
          <a:xfrm>
            <a:off x="3097882" y="9106030"/>
            <a:ext cx="6492240" cy="0"/>
          </a:xfrm>
          <a:prstGeom prst="line">
            <a:avLst/>
          </a:prstGeom>
          <a:ln cap="flat" w="19050">
            <a:solidFill>
              <a:srgbClr val="000A47"/>
            </a:solidFill>
            <a:prstDash val="solid"/>
            <a:headEnd type="none" len="sm" w="sm"/>
            <a:tailEnd type="none" len="sm" w="sm"/>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true" flipV="false" rot="344870">
            <a:off x="15386876" y="7760663"/>
            <a:ext cx="1781093" cy="1913284"/>
          </a:xfrm>
          <a:custGeom>
            <a:avLst/>
            <a:gdLst/>
            <a:ahLst/>
            <a:cxnLst/>
            <a:rect r="r" b="b" t="t" l="l"/>
            <a:pathLst>
              <a:path h="1913284" w="1781093">
                <a:moveTo>
                  <a:pt x="1781093" y="0"/>
                </a:moveTo>
                <a:lnTo>
                  <a:pt x="0" y="0"/>
                </a:lnTo>
                <a:lnTo>
                  <a:pt x="0" y="1913284"/>
                </a:lnTo>
                <a:lnTo>
                  <a:pt x="1781093" y="1913284"/>
                </a:lnTo>
                <a:lnTo>
                  <a:pt x="178109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808180">
            <a:off x="789558" y="723472"/>
            <a:ext cx="1529617" cy="1529617"/>
          </a:xfrm>
          <a:custGeom>
            <a:avLst/>
            <a:gdLst/>
            <a:ahLst/>
            <a:cxnLst/>
            <a:rect r="r" b="b" t="t" l="l"/>
            <a:pathLst>
              <a:path h="1529617" w="1529617">
                <a:moveTo>
                  <a:pt x="0" y="0"/>
                </a:moveTo>
                <a:lnTo>
                  <a:pt x="1529617" y="0"/>
                </a:lnTo>
                <a:lnTo>
                  <a:pt x="1529617" y="1529617"/>
                </a:lnTo>
                <a:lnTo>
                  <a:pt x="0" y="152961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1093760">
            <a:off x="735652" y="3716965"/>
            <a:ext cx="785915" cy="785915"/>
          </a:xfrm>
          <a:custGeom>
            <a:avLst/>
            <a:gdLst/>
            <a:ahLst/>
            <a:cxnLst/>
            <a:rect r="r" b="b" t="t" l="l"/>
            <a:pathLst>
              <a:path h="785915" w="785915">
                <a:moveTo>
                  <a:pt x="0" y="0"/>
                </a:moveTo>
                <a:lnTo>
                  <a:pt x="785915" y="0"/>
                </a:lnTo>
                <a:lnTo>
                  <a:pt x="785915" y="785915"/>
                </a:lnTo>
                <a:lnTo>
                  <a:pt x="0" y="78591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6573101" y="5347517"/>
            <a:ext cx="961386" cy="961386"/>
          </a:xfrm>
          <a:custGeom>
            <a:avLst/>
            <a:gdLst/>
            <a:ahLst/>
            <a:cxnLst/>
            <a:rect r="r" b="b" t="t" l="l"/>
            <a:pathLst>
              <a:path h="961386" w="961386">
                <a:moveTo>
                  <a:pt x="0" y="0"/>
                </a:moveTo>
                <a:lnTo>
                  <a:pt x="961385" y="0"/>
                </a:lnTo>
                <a:lnTo>
                  <a:pt x="961385" y="961385"/>
                </a:lnTo>
                <a:lnTo>
                  <a:pt x="0" y="9613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true" flipV="true" rot="0">
            <a:off x="14037888" y="-1002693"/>
            <a:ext cx="5427189" cy="5427189"/>
          </a:xfrm>
          <a:custGeom>
            <a:avLst/>
            <a:gdLst/>
            <a:ahLst/>
            <a:cxnLst/>
            <a:rect r="r" b="b" t="t" l="l"/>
            <a:pathLst>
              <a:path h="5427189" w="5427189">
                <a:moveTo>
                  <a:pt x="5427189" y="5427189"/>
                </a:moveTo>
                <a:lnTo>
                  <a:pt x="0" y="5427189"/>
                </a:lnTo>
                <a:lnTo>
                  <a:pt x="0" y="0"/>
                </a:lnTo>
                <a:lnTo>
                  <a:pt x="5427189" y="0"/>
                </a:lnTo>
                <a:lnTo>
                  <a:pt x="5427189" y="5427189"/>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1177077" y="5862504"/>
            <a:ext cx="5427189" cy="5427189"/>
          </a:xfrm>
          <a:custGeom>
            <a:avLst/>
            <a:gdLst/>
            <a:ahLst/>
            <a:cxnLst/>
            <a:rect r="r" b="b" t="t" l="l"/>
            <a:pathLst>
              <a:path h="5427189" w="5427189">
                <a:moveTo>
                  <a:pt x="0" y="0"/>
                </a:moveTo>
                <a:lnTo>
                  <a:pt x="5427189" y="0"/>
                </a:lnTo>
                <a:lnTo>
                  <a:pt x="5427189" y="5427189"/>
                </a:lnTo>
                <a:lnTo>
                  <a:pt x="0" y="542718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9" id="9"/>
          <p:cNvSpPr txBox="true"/>
          <p:nvPr/>
        </p:nvSpPr>
        <p:spPr>
          <a:xfrm rot="0">
            <a:off x="3423368" y="2505309"/>
            <a:ext cx="11441264" cy="1196722"/>
          </a:xfrm>
          <a:prstGeom prst="rect">
            <a:avLst/>
          </a:prstGeom>
        </p:spPr>
        <p:txBody>
          <a:bodyPr anchor="t" rtlCol="false" tIns="0" lIns="0" bIns="0" rIns="0">
            <a:spAutoFit/>
          </a:bodyPr>
          <a:lstStyle/>
          <a:p>
            <a:pPr algn="ctr">
              <a:lnSpc>
                <a:spcPts val="8915"/>
              </a:lnSpc>
            </a:pPr>
            <a:r>
              <a:rPr lang="en-US" b="true" sz="8915">
                <a:solidFill>
                  <a:srgbClr val="191E6B"/>
                </a:solidFill>
                <a:latin typeface="Space Mono Bold"/>
                <a:ea typeface="Space Mono Bold"/>
                <a:cs typeface="Space Mono Bold"/>
                <a:sym typeface="Space Mono Bold"/>
              </a:rPr>
              <a:t>TYPES</a:t>
            </a:r>
            <a:r>
              <a:rPr lang="en-US" b="true" sz="8915">
                <a:solidFill>
                  <a:srgbClr val="191E6B"/>
                </a:solidFill>
                <a:latin typeface="Space Mono Bold"/>
                <a:ea typeface="Space Mono Bold"/>
                <a:cs typeface="Space Mono Bold"/>
                <a:sym typeface="Space Mono Bold"/>
              </a:rPr>
              <a:t> OF WAVES</a:t>
            </a:r>
          </a:p>
        </p:txBody>
      </p:sp>
      <p:sp>
        <p:nvSpPr>
          <p:cNvPr name="TextBox 10" id="10"/>
          <p:cNvSpPr txBox="true"/>
          <p:nvPr/>
        </p:nvSpPr>
        <p:spPr>
          <a:xfrm rot="0">
            <a:off x="5478821" y="4201716"/>
            <a:ext cx="9888931" cy="1623300"/>
          </a:xfrm>
          <a:prstGeom prst="rect">
            <a:avLst/>
          </a:prstGeom>
        </p:spPr>
        <p:txBody>
          <a:bodyPr anchor="t" rtlCol="false" tIns="0" lIns="0" bIns="0" rIns="0">
            <a:spAutoFit/>
          </a:bodyPr>
          <a:lstStyle/>
          <a:p>
            <a:pPr algn="l">
              <a:lnSpc>
                <a:spcPts val="3163"/>
              </a:lnSpc>
            </a:pPr>
            <a:r>
              <a:rPr lang="en-US" sz="3163">
                <a:solidFill>
                  <a:srgbClr val="191E6B"/>
                </a:solidFill>
                <a:latin typeface="Signika"/>
                <a:ea typeface="Signika"/>
                <a:cs typeface="Signika"/>
                <a:sym typeface="Signika"/>
              </a:rPr>
              <a:t>Lorem ipsum dolor sit amet, consectetur adipiscing elit. Quisque non elit mauris. Cras euismod, metus ac finibus finibus, felis dui suscipit purus, a maximus leo ligula at dolor. Morbi et malesuada purus.</a:t>
            </a:r>
          </a:p>
        </p:txBody>
      </p:sp>
      <p:sp>
        <p:nvSpPr>
          <p:cNvPr name="TextBox 11" id="11"/>
          <p:cNvSpPr txBox="true"/>
          <p:nvPr/>
        </p:nvSpPr>
        <p:spPr>
          <a:xfrm rot="0">
            <a:off x="2920247" y="4467392"/>
            <a:ext cx="2107359" cy="1196722"/>
          </a:xfrm>
          <a:prstGeom prst="rect">
            <a:avLst/>
          </a:prstGeom>
        </p:spPr>
        <p:txBody>
          <a:bodyPr anchor="t" rtlCol="false" tIns="0" lIns="0" bIns="0" rIns="0">
            <a:spAutoFit/>
          </a:bodyPr>
          <a:lstStyle/>
          <a:p>
            <a:pPr algn="ctr">
              <a:lnSpc>
                <a:spcPts val="8915"/>
              </a:lnSpc>
            </a:pPr>
            <a:r>
              <a:rPr lang="en-US" b="true" sz="8915">
                <a:solidFill>
                  <a:srgbClr val="191E6B"/>
                </a:solidFill>
                <a:latin typeface="Space Mono Bold"/>
                <a:ea typeface="Space Mono Bold"/>
                <a:cs typeface="Space Mono Bold"/>
                <a:sym typeface="Space Mono Bold"/>
              </a:rPr>
              <a:t>01.</a:t>
            </a:r>
          </a:p>
        </p:txBody>
      </p:sp>
      <p:sp>
        <p:nvSpPr>
          <p:cNvPr name="TextBox 12" id="12"/>
          <p:cNvSpPr txBox="true"/>
          <p:nvPr/>
        </p:nvSpPr>
        <p:spPr>
          <a:xfrm rot="0">
            <a:off x="5478821" y="6320316"/>
            <a:ext cx="9888931" cy="1623300"/>
          </a:xfrm>
          <a:prstGeom prst="rect">
            <a:avLst/>
          </a:prstGeom>
        </p:spPr>
        <p:txBody>
          <a:bodyPr anchor="t" rtlCol="false" tIns="0" lIns="0" bIns="0" rIns="0">
            <a:spAutoFit/>
          </a:bodyPr>
          <a:lstStyle/>
          <a:p>
            <a:pPr algn="l">
              <a:lnSpc>
                <a:spcPts val="3163"/>
              </a:lnSpc>
            </a:pPr>
            <a:r>
              <a:rPr lang="en-US" sz="3163">
                <a:solidFill>
                  <a:srgbClr val="191E6B"/>
                </a:solidFill>
                <a:latin typeface="Signika"/>
                <a:ea typeface="Signika"/>
                <a:cs typeface="Signika"/>
                <a:sym typeface="Signika"/>
              </a:rPr>
              <a:t>Lorem ipsum dolor sit amet, consectetur adipiscing elit. Quisque non elit mauris. Cras euismod, metus ac finibus finibus, felis dui suscipit purus, a maximus leo ligula at dolor. Morbi et malesuada purus.</a:t>
            </a:r>
          </a:p>
        </p:txBody>
      </p:sp>
      <p:sp>
        <p:nvSpPr>
          <p:cNvPr name="TextBox 13" id="13"/>
          <p:cNvSpPr txBox="true"/>
          <p:nvPr/>
        </p:nvSpPr>
        <p:spPr>
          <a:xfrm rot="0">
            <a:off x="2920247" y="6585993"/>
            <a:ext cx="2107359" cy="1196722"/>
          </a:xfrm>
          <a:prstGeom prst="rect">
            <a:avLst/>
          </a:prstGeom>
        </p:spPr>
        <p:txBody>
          <a:bodyPr anchor="t" rtlCol="false" tIns="0" lIns="0" bIns="0" rIns="0">
            <a:spAutoFit/>
          </a:bodyPr>
          <a:lstStyle/>
          <a:p>
            <a:pPr algn="ctr">
              <a:lnSpc>
                <a:spcPts val="8915"/>
              </a:lnSpc>
            </a:pPr>
            <a:r>
              <a:rPr lang="en-US" b="true" sz="8915">
                <a:solidFill>
                  <a:srgbClr val="191E6B"/>
                </a:solidFill>
                <a:latin typeface="Space Mono Bold"/>
                <a:ea typeface="Space Mono Bold"/>
                <a:cs typeface="Space Mono Bold"/>
                <a:sym typeface="Space Mono Bold"/>
              </a:rPr>
              <a:t>02.</a:t>
            </a:r>
          </a:p>
        </p:txBody>
      </p:sp>
      <p:sp>
        <p:nvSpPr>
          <p:cNvPr name="TextBox 14" id="14"/>
          <p:cNvSpPr txBox="true"/>
          <p:nvPr/>
        </p:nvSpPr>
        <p:spPr>
          <a:xfrm rot="0">
            <a:off x="3097882" y="9163180"/>
            <a:ext cx="905023" cy="595146"/>
          </a:xfrm>
          <a:prstGeom prst="rect">
            <a:avLst/>
          </a:prstGeom>
        </p:spPr>
        <p:txBody>
          <a:bodyPr anchor="t" rtlCol="false" tIns="0" lIns="0" bIns="0" rIns="0">
            <a:spAutoFit/>
          </a:bodyPr>
          <a:lstStyle/>
          <a:p>
            <a:pPr algn="ctr">
              <a:lnSpc>
                <a:spcPts val="4405"/>
              </a:lnSpc>
            </a:pPr>
            <a:r>
              <a:rPr lang="en-US" b="true" sz="4405">
                <a:solidFill>
                  <a:srgbClr val="191E6B"/>
                </a:solidFill>
                <a:latin typeface="Space Mono Bold"/>
                <a:ea typeface="Space Mono Bold"/>
                <a:cs typeface="Space Mono Bold"/>
                <a:sym typeface="Space Mono Bold"/>
              </a:rPr>
              <a:t>5</a:t>
            </a:r>
          </a:p>
        </p:txBody>
      </p:sp>
      <p:sp>
        <p:nvSpPr>
          <p:cNvPr name="TextBox 15" id="15"/>
          <p:cNvSpPr txBox="true"/>
          <p:nvPr/>
        </p:nvSpPr>
        <p:spPr>
          <a:xfrm rot="0">
            <a:off x="4012430" y="9315450"/>
            <a:ext cx="6122817" cy="392812"/>
          </a:xfrm>
          <a:prstGeom prst="rect">
            <a:avLst/>
          </a:prstGeom>
        </p:spPr>
        <p:txBody>
          <a:bodyPr anchor="t" rtlCol="false" tIns="0" lIns="0" bIns="0" rIns="0">
            <a:spAutoFit/>
          </a:bodyPr>
          <a:lstStyle/>
          <a:p>
            <a:pPr algn="l">
              <a:lnSpc>
                <a:spcPts val="2983"/>
              </a:lnSpc>
            </a:pPr>
            <a:r>
              <a:rPr lang="en-US" sz="2983" b="true">
                <a:solidFill>
                  <a:srgbClr val="191E6B"/>
                </a:solidFill>
                <a:latin typeface="Space Mono Bold"/>
                <a:ea typeface="Space Mono Bold"/>
                <a:cs typeface="Space Mono Bold"/>
                <a:sym typeface="Space Mono Bold"/>
              </a:rPr>
              <a:t>SENSORS, WAVES &amp; DATA</a:t>
            </a:r>
          </a:p>
        </p:txBody>
      </p:sp>
      <p:sp>
        <p:nvSpPr>
          <p:cNvPr name="AutoShape 16" id="16"/>
          <p:cNvSpPr/>
          <p:nvPr/>
        </p:nvSpPr>
        <p:spPr>
          <a:xfrm>
            <a:off x="3097882" y="9106030"/>
            <a:ext cx="6492240" cy="0"/>
          </a:xfrm>
          <a:prstGeom prst="line">
            <a:avLst/>
          </a:prstGeom>
          <a:ln cap="flat" w="19050">
            <a:solidFill>
              <a:srgbClr val="000A47"/>
            </a:solidFill>
            <a:prstDash val="solid"/>
            <a:headEnd type="none" len="sm" w="sm"/>
            <a:tailEnd type="none" len="sm" w="sm"/>
          </a:ln>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true" flipV="false" rot="344870">
            <a:off x="15386876" y="7760663"/>
            <a:ext cx="1781093" cy="1913284"/>
          </a:xfrm>
          <a:custGeom>
            <a:avLst/>
            <a:gdLst/>
            <a:ahLst/>
            <a:cxnLst/>
            <a:rect r="r" b="b" t="t" l="l"/>
            <a:pathLst>
              <a:path h="1913284" w="1781093">
                <a:moveTo>
                  <a:pt x="1781093" y="0"/>
                </a:moveTo>
                <a:lnTo>
                  <a:pt x="0" y="0"/>
                </a:lnTo>
                <a:lnTo>
                  <a:pt x="0" y="1913284"/>
                </a:lnTo>
                <a:lnTo>
                  <a:pt x="1781093" y="1913284"/>
                </a:lnTo>
                <a:lnTo>
                  <a:pt x="178109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808180">
            <a:off x="789558" y="723472"/>
            <a:ext cx="1529617" cy="1529617"/>
          </a:xfrm>
          <a:custGeom>
            <a:avLst/>
            <a:gdLst/>
            <a:ahLst/>
            <a:cxnLst/>
            <a:rect r="r" b="b" t="t" l="l"/>
            <a:pathLst>
              <a:path h="1529617" w="1529617">
                <a:moveTo>
                  <a:pt x="0" y="0"/>
                </a:moveTo>
                <a:lnTo>
                  <a:pt x="1529617" y="0"/>
                </a:lnTo>
                <a:lnTo>
                  <a:pt x="1529617" y="1529617"/>
                </a:lnTo>
                <a:lnTo>
                  <a:pt x="0" y="152961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1093760">
            <a:off x="735652" y="3716965"/>
            <a:ext cx="785915" cy="785915"/>
          </a:xfrm>
          <a:custGeom>
            <a:avLst/>
            <a:gdLst/>
            <a:ahLst/>
            <a:cxnLst/>
            <a:rect r="r" b="b" t="t" l="l"/>
            <a:pathLst>
              <a:path h="785915" w="785915">
                <a:moveTo>
                  <a:pt x="0" y="0"/>
                </a:moveTo>
                <a:lnTo>
                  <a:pt x="785915" y="0"/>
                </a:lnTo>
                <a:lnTo>
                  <a:pt x="785915" y="785915"/>
                </a:lnTo>
                <a:lnTo>
                  <a:pt x="0" y="78591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6573101" y="5347517"/>
            <a:ext cx="961386" cy="961386"/>
          </a:xfrm>
          <a:custGeom>
            <a:avLst/>
            <a:gdLst/>
            <a:ahLst/>
            <a:cxnLst/>
            <a:rect r="r" b="b" t="t" l="l"/>
            <a:pathLst>
              <a:path h="961386" w="961386">
                <a:moveTo>
                  <a:pt x="0" y="0"/>
                </a:moveTo>
                <a:lnTo>
                  <a:pt x="961385" y="0"/>
                </a:lnTo>
                <a:lnTo>
                  <a:pt x="961385" y="961385"/>
                </a:lnTo>
                <a:lnTo>
                  <a:pt x="0" y="9613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177077" y="5862504"/>
            <a:ext cx="5427189" cy="5427189"/>
          </a:xfrm>
          <a:custGeom>
            <a:avLst/>
            <a:gdLst/>
            <a:ahLst/>
            <a:cxnLst/>
            <a:rect r="r" b="b" t="t" l="l"/>
            <a:pathLst>
              <a:path h="5427189" w="5427189">
                <a:moveTo>
                  <a:pt x="0" y="0"/>
                </a:moveTo>
                <a:lnTo>
                  <a:pt x="5427189" y="0"/>
                </a:lnTo>
                <a:lnTo>
                  <a:pt x="5427189" y="5427189"/>
                </a:lnTo>
                <a:lnTo>
                  <a:pt x="0" y="542718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true" flipV="true" rot="0">
            <a:off x="14037888" y="-1002693"/>
            <a:ext cx="5427189" cy="5427189"/>
          </a:xfrm>
          <a:custGeom>
            <a:avLst/>
            <a:gdLst/>
            <a:ahLst/>
            <a:cxnLst/>
            <a:rect r="r" b="b" t="t" l="l"/>
            <a:pathLst>
              <a:path h="5427189" w="5427189">
                <a:moveTo>
                  <a:pt x="5427189" y="5427189"/>
                </a:moveTo>
                <a:lnTo>
                  <a:pt x="0" y="5427189"/>
                </a:lnTo>
                <a:lnTo>
                  <a:pt x="0" y="0"/>
                </a:lnTo>
                <a:lnTo>
                  <a:pt x="5427189" y="0"/>
                </a:lnTo>
                <a:lnTo>
                  <a:pt x="5427189" y="5427189"/>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9" id="9"/>
          <p:cNvSpPr txBox="true"/>
          <p:nvPr/>
        </p:nvSpPr>
        <p:spPr>
          <a:xfrm rot="0">
            <a:off x="3423368" y="1926390"/>
            <a:ext cx="11441264" cy="2328927"/>
          </a:xfrm>
          <a:prstGeom prst="rect">
            <a:avLst/>
          </a:prstGeom>
        </p:spPr>
        <p:txBody>
          <a:bodyPr anchor="t" rtlCol="false" tIns="0" lIns="0" bIns="0" rIns="0">
            <a:spAutoFit/>
          </a:bodyPr>
          <a:lstStyle/>
          <a:p>
            <a:pPr algn="ctr">
              <a:lnSpc>
                <a:spcPts val="8915"/>
              </a:lnSpc>
            </a:pPr>
            <a:r>
              <a:rPr lang="en-US" b="true" sz="8915">
                <a:solidFill>
                  <a:srgbClr val="191E6B"/>
                </a:solidFill>
                <a:latin typeface="Space Mono Bold"/>
                <a:ea typeface="Space Mono Bold"/>
                <a:cs typeface="Space Mono Bold"/>
                <a:sym typeface="Space Mono Bold"/>
              </a:rPr>
              <a:t>WAVES</a:t>
            </a:r>
            <a:r>
              <a:rPr lang="en-US" b="true" sz="8915">
                <a:solidFill>
                  <a:srgbClr val="191E6B"/>
                </a:solidFill>
                <a:latin typeface="Space Mono Bold"/>
                <a:ea typeface="Space Mono Bold"/>
                <a:cs typeface="Space Mono Bold"/>
                <a:sym typeface="Space Mono Bold"/>
              </a:rPr>
              <a:t> &amp; SENSOR INTERACTION</a:t>
            </a:r>
          </a:p>
        </p:txBody>
      </p:sp>
      <p:sp>
        <p:nvSpPr>
          <p:cNvPr name="TextBox 10" id="10"/>
          <p:cNvSpPr txBox="true"/>
          <p:nvPr/>
        </p:nvSpPr>
        <p:spPr>
          <a:xfrm rot="0">
            <a:off x="2780486" y="4899111"/>
            <a:ext cx="6251317" cy="3623424"/>
          </a:xfrm>
          <a:prstGeom prst="rect">
            <a:avLst/>
          </a:prstGeom>
        </p:spPr>
        <p:txBody>
          <a:bodyPr anchor="t" rtlCol="false" tIns="0" lIns="0" bIns="0" rIns="0">
            <a:spAutoFit/>
          </a:bodyPr>
          <a:lstStyle/>
          <a:p>
            <a:pPr algn="l" marL="682985" indent="-341493" lvl="1">
              <a:lnSpc>
                <a:spcPts val="3163"/>
              </a:lnSpc>
              <a:buFont typeface="Arial"/>
              <a:buChar char="•"/>
            </a:pPr>
            <a:r>
              <a:rPr lang="en-US" sz="3163">
                <a:solidFill>
                  <a:srgbClr val="191E6B"/>
                </a:solidFill>
                <a:latin typeface="Signika"/>
                <a:ea typeface="Signika"/>
                <a:cs typeface="Signika"/>
                <a:sym typeface="Signika"/>
              </a:rPr>
              <a:t>Lorem ipsum dolor sit amet, consectetur adipiscing elit. Quisque non elit mauris. Cras euismod, metus ac finibus finibus, felis dui suscipit purus, a maximus leo ligula at dolor. Morbi et malesuada purus. </a:t>
            </a:r>
            <a:r>
              <a:rPr lang="en-US" sz="3163">
                <a:solidFill>
                  <a:srgbClr val="191E6B"/>
                </a:solidFill>
                <a:latin typeface="Signika"/>
                <a:ea typeface="Signika"/>
                <a:cs typeface="Signika"/>
                <a:sym typeface="Signika"/>
              </a:rPr>
              <a:t>Phasellus a lacus sit amet urna tempor sollicitudin.</a:t>
            </a:r>
          </a:p>
        </p:txBody>
      </p:sp>
      <p:sp>
        <p:nvSpPr>
          <p:cNvPr name="TextBox 11" id="11"/>
          <p:cNvSpPr txBox="true"/>
          <p:nvPr/>
        </p:nvSpPr>
        <p:spPr>
          <a:xfrm rot="0">
            <a:off x="9256198" y="4899111"/>
            <a:ext cx="6251317" cy="3623424"/>
          </a:xfrm>
          <a:prstGeom prst="rect">
            <a:avLst/>
          </a:prstGeom>
        </p:spPr>
        <p:txBody>
          <a:bodyPr anchor="t" rtlCol="false" tIns="0" lIns="0" bIns="0" rIns="0">
            <a:spAutoFit/>
          </a:bodyPr>
          <a:lstStyle/>
          <a:p>
            <a:pPr algn="l" marL="682985" indent="-341493" lvl="1">
              <a:lnSpc>
                <a:spcPts val="3163"/>
              </a:lnSpc>
              <a:buFont typeface="Arial"/>
              <a:buChar char="•"/>
            </a:pPr>
            <a:r>
              <a:rPr lang="en-US" sz="3163">
                <a:solidFill>
                  <a:srgbClr val="191E6B"/>
                </a:solidFill>
                <a:latin typeface="Signika"/>
                <a:ea typeface="Signika"/>
                <a:cs typeface="Signika"/>
                <a:sym typeface="Signika"/>
              </a:rPr>
              <a:t>Lorem ipsum dolor sit amet, consectetur adipiscing elit. Quisque non elit mauris. Cras euismod, metus ac finibus finibus, felis dui suscipit purus, a maximus leo ligula at dolor. Morbi et malesuada purus. </a:t>
            </a:r>
            <a:r>
              <a:rPr lang="en-US" sz="3163">
                <a:solidFill>
                  <a:srgbClr val="191E6B"/>
                </a:solidFill>
                <a:latin typeface="Signika"/>
                <a:ea typeface="Signika"/>
                <a:cs typeface="Signika"/>
                <a:sym typeface="Signika"/>
              </a:rPr>
              <a:t>Phasellus a lacus sit amet urna tempor sollicitudin.</a:t>
            </a:r>
          </a:p>
        </p:txBody>
      </p:sp>
      <p:sp>
        <p:nvSpPr>
          <p:cNvPr name="TextBox 12" id="12"/>
          <p:cNvSpPr txBox="true"/>
          <p:nvPr/>
        </p:nvSpPr>
        <p:spPr>
          <a:xfrm rot="0">
            <a:off x="3097882" y="9163180"/>
            <a:ext cx="905023" cy="595146"/>
          </a:xfrm>
          <a:prstGeom prst="rect">
            <a:avLst/>
          </a:prstGeom>
        </p:spPr>
        <p:txBody>
          <a:bodyPr anchor="t" rtlCol="false" tIns="0" lIns="0" bIns="0" rIns="0">
            <a:spAutoFit/>
          </a:bodyPr>
          <a:lstStyle/>
          <a:p>
            <a:pPr algn="ctr">
              <a:lnSpc>
                <a:spcPts val="4405"/>
              </a:lnSpc>
            </a:pPr>
            <a:r>
              <a:rPr lang="en-US" b="true" sz="4405">
                <a:solidFill>
                  <a:srgbClr val="191E6B"/>
                </a:solidFill>
                <a:latin typeface="Space Mono Bold"/>
                <a:ea typeface="Space Mono Bold"/>
                <a:cs typeface="Space Mono Bold"/>
                <a:sym typeface="Space Mono Bold"/>
              </a:rPr>
              <a:t>6</a:t>
            </a:r>
          </a:p>
        </p:txBody>
      </p:sp>
      <p:sp>
        <p:nvSpPr>
          <p:cNvPr name="TextBox 13" id="13"/>
          <p:cNvSpPr txBox="true"/>
          <p:nvPr/>
        </p:nvSpPr>
        <p:spPr>
          <a:xfrm rot="0">
            <a:off x="4012430" y="9315450"/>
            <a:ext cx="6122817" cy="392812"/>
          </a:xfrm>
          <a:prstGeom prst="rect">
            <a:avLst/>
          </a:prstGeom>
        </p:spPr>
        <p:txBody>
          <a:bodyPr anchor="t" rtlCol="false" tIns="0" lIns="0" bIns="0" rIns="0">
            <a:spAutoFit/>
          </a:bodyPr>
          <a:lstStyle/>
          <a:p>
            <a:pPr algn="l">
              <a:lnSpc>
                <a:spcPts val="2983"/>
              </a:lnSpc>
            </a:pPr>
            <a:r>
              <a:rPr lang="en-US" sz="2983" b="true">
                <a:solidFill>
                  <a:srgbClr val="191E6B"/>
                </a:solidFill>
                <a:latin typeface="Space Mono Bold"/>
                <a:ea typeface="Space Mono Bold"/>
                <a:cs typeface="Space Mono Bold"/>
                <a:sym typeface="Space Mono Bold"/>
              </a:rPr>
              <a:t>SENSORS, WAVES &amp; DATA</a:t>
            </a:r>
          </a:p>
        </p:txBody>
      </p:sp>
      <p:sp>
        <p:nvSpPr>
          <p:cNvPr name="AutoShape 14" id="14"/>
          <p:cNvSpPr/>
          <p:nvPr/>
        </p:nvSpPr>
        <p:spPr>
          <a:xfrm>
            <a:off x="3097882" y="9106030"/>
            <a:ext cx="6492240" cy="0"/>
          </a:xfrm>
          <a:prstGeom prst="line">
            <a:avLst/>
          </a:prstGeom>
          <a:ln cap="flat" w="19050">
            <a:solidFill>
              <a:srgbClr val="000A47"/>
            </a:solidFill>
            <a:prstDash val="solid"/>
            <a:headEnd type="none" len="sm" w="sm"/>
            <a:tailEnd type="none" len="sm" w="sm"/>
          </a:ln>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true" flipV="false" rot="344870">
            <a:off x="15386876" y="7760663"/>
            <a:ext cx="1781093" cy="1913284"/>
          </a:xfrm>
          <a:custGeom>
            <a:avLst/>
            <a:gdLst/>
            <a:ahLst/>
            <a:cxnLst/>
            <a:rect r="r" b="b" t="t" l="l"/>
            <a:pathLst>
              <a:path h="1913284" w="1781093">
                <a:moveTo>
                  <a:pt x="1781093" y="0"/>
                </a:moveTo>
                <a:lnTo>
                  <a:pt x="0" y="0"/>
                </a:lnTo>
                <a:lnTo>
                  <a:pt x="0" y="1913284"/>
                </a:lnTo>
                <a:lnTo>
                  <a:pt x="1781093" y="1913284"/>
                </a:lnTo>
                <a:lnTo>
                  <a:pt x="178109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808180">
            <a:off x="789558" y="723472"/>
            <a:ext cx="1529617" cy="1529617"/>
          </a:xfrm>
          <a:custGeom>
            <a:avLst/>
            <a:gdLst/>
            <a:ahLst/>
            <a:cxnLst/>
            <a:rect r="r" b="b" t="t" l="l"/>
            <a:pathLst>
              <a:path h="1529617" w="1529617">
                <a:moveTo>
                  <a:pt x="0" y="0"/>
                </a:moveTo>
                <a:lnTo>
                  <a:pt x="1529617" y="0"/>
                </a:lnTo>
                <a:lnTo>
                  <a:pt x="1529617" y="1529617"/>
                </a:lnTo>
                <a:lnTo>
                  <a:pt x="0" y="152961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1093760">
            <a:off x="735652" y="3716965"/>
            <a:ext cx="785915" cy="785915"/>
          </a:xfrm>
          <a:custGeom>
            <a:avLst/>
            <a:gdLst/>
            <a:ahLst/>
            <a:cxnLst/>
            <a:rect r="r" b="b" t="t" l="l"/>
            <a:pathLst>
              <a:path h="785915" w="785915">
                <a:moveTo>
                  <a:pt x="0" y="0"/>
                </a:moveTo>
                <a:lnTo>
                  <a:pt x="785915" y="0"/>
                </a:lnTo>
                <a:lnTo>
                  <a:pt x="785915" y="785915"/>
                </a:lnTo>
                <a:lnTo>
                  <a:pt x="0" y="78591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6573101" y="5347517"/>
            <a:ext cx="961386" cy="961386"/>
          </a:xfrm>
          <a:custGeom>
            <a:avLst/>
            <a:gdLst/>
            <a:ahLst/>
            <a:cxnLst/>
            <a:rect r="r" b="b" t="t" l="l"/>
            <a:pathLst>
              <a:path h="961386" w="961386">
                <a:moveTo>
                  <a:pt x="0" y="0"/>
                </a:moveTo>
                <a:lnTo>
                  <a:pt x="961385" y="0"/>
                </a:lnTo>
                <a:lnTo>
                  <a:pt x="961385" y="961385"/>
                </a:lnTo>
                <a:lnTo>
                  <a:pt x="0" y="9613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177077" y="5862504"/>
            <a:ext cx="5427189" cy="5427189"/>
          </a:xfrm>
          <a:custGeom>
            <a:avLst/>
            <a:gdLst/>
            <a:ahLst/>
            <a:cxnLst/>
            <a:rect r="r" b="b" t="t" l="l"/>
            <a:pathLst>
              <a:path h="5427189" w="5427189">
                <a:moveTo>
                  <a:pt x="0" y="0"/>
                </a:moveTo>
                <a:lnTo>
                  <a:pt x="5427189" y="0"/>
                </a:lnTo>
                <a:lnTo>
                  <a:pt x="5427189" y="5427189"/>
                </a:lnTo>
                <a:lnTo>
                  <a:pt x="0" y="542718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true" flipV="true" rot="0">
            <a:off x="14037888" y="-1002693"/>
            <a:ext cx="5427189" cy="5427189"/>
          </a:xfrm>
          <a:custGeom>
            <a:avLst/>
            <a:gdLst/>
            <a:ahLst/>
            <a:cxnLst/>
            <a:rect r="r" b="b" t="t" l="l"/>
            <a:pathLst>
              <a:path h="5427189" w="5427189">
                <a:moveTo>
                  <a:pt x="5427189" y="5427189"/>
                </a:moveTo>
                <a:lnTo>
                  <a:pt x="0" y="5427189"/>
                </a:lnTo>
                <a:lnTo>
                  <a:pt x="0" y="0"/>
                </a:lnTo>
                <a:lnTo>
                  <a:pt x="5427189" y="0"/>
                </a:lnTo>
                <a:lnTo>
                  <a:pt x="5427189" y="5427189"/>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9" id="9"/>
          <p:cNvSpPr txBox="true"/>
          <p:nvPr/>
        </p:nvSpPr>
        <p:spPr>
          <a:xfrm rot="0">
            <a:off x="3550394" y="4064046"/>
            <a:ext cx="11187212" cy="4017240"/>
          </a:xfrm>
          <a:prstGeom prst="rect">
            <a:avLst/>
          </a:prstGeom>
        </p:spPr>
        <p:txBody>
          <a:bodyPr anchor="t" rtlCol="false" tIns="0" lIns="0" bIns="0" rIns="0">
            <a:spAutoFit/>
          </a:bodyPr>
          <a:lstStyle/>
          <a:p>
            <a:pPr algn="ctr">
              <a:lnSpc>
                <a:spcPts val="3163"/>
              </a:lnSpc>
            </a:pPr>
            <a:r>
              <a:rPr lang="en-US" sz="3163">
                <a:solidFill>
                  <a:srgbClr val="191E6B"/>
                </a:solidFill>
                <a:latin typeface="Signika"/>
                <a:ea typeface="Signika"/>
                <a:cs typeface="Signika"/>
                <a:sym typeface="Signika"/>
              </a:rPr>
              <a:t>Lorem ipsum dolor sit amet, consectetur adipiscing elit. Quisque non elit mauris. Cras euismod, metus ac finibus finibus, felis dui suscipit purus, a maximus leo ligula at dolor. Morbi et malesuada purus. </a:t>
            </a:r>
            <a:r>
              <a:rPr lang="en-US" sz="3163">
                <a:solidFill>
                  <a:srgbClr val="191E6B"/>
                </a:solidFill>
                <a:latin typeface="Signika"/>
                <a:ea typeface="Signika"/>
                <a:cs typeface="Signika"/>
                <a:sym typeface="Signika"/>
              </a:rPr>
              <a:t>Phasellus a lacus sit amet urna tempor sollicitudin. Cras pretium tempor elit blandit egestas. Donec sed dignissim augue. Suspendisse ac vulputate leo. Cras aliquet nunc ac velit cursus viverra. In hac habitasse platea dictumst. Nam tortor urna, semper ac nulla id, porttitor semper felis. Phasellus blandit eros viverra, ultricies nibh nec, viverra ipsum. Ut nec gravida massa, eu convallis est.</a:t>
            </a:r>
          </a:p>
        </p:txBody>
      </p:sp>
      <p:sp>
        <p:nvSpPr>
          <p:cNvPr name="TextBox 10" id="10"/>
          <p:cNvSpPr txBox="true"/>
          <p:nvPr/>
        </p:nvSpPr>
        <p:spPr>
          <a:xfrm rot="0">
            <a:off x="3423368" y="2367639"/>
            <a:ext cx="11441264" cy="1196722"/>
          </a:xfrm>
          <a:prstGeom prst="rect">
            <a:avLst/>
          </a:prstGeom>
        </p:spPr>
        <p:txBody>
          <a:bodyPr anchor="t" rtlCol="false" tIns="0" lIns="0" bIns="0" rIns="0">
            <a:spAutoFit/>
          </a:bodyPr>
          <a:lstStyle/>
          <a:p>
            <a:pPr algn="ctr">
              <a:lnSpc>
                <a:spcPts val="8915"/>
              </a:lnSpc>
            </a:pPr>
            <a:r>
              <a:rPr lang="en-US" b="true" sz="8915">
                <a:solidFill>
                  <a:srgbClr val="191E6B"/>
                </a:solidFill>
                <a:latin typeface="Space Mono Bold"/>
                <a:ea typeface="Space Mono Bold"/>
                <a:cs typeface="Space Mono Bold"/>
                <a:sym typeface="Space Mono Bold"/>
              </a:rPr>
              <a:t>WHA</a:t>
            </a:r>
            <a:r>
              <a:rPr lang="en-US" b="true" sz="8915">
                <a:solidFill>
                  <a:srgbClr val="191E6B"/>
                </a:solidFill>
                <a:latin typeface="Space Mono Bold"/>
                <a:ea typeface="Space Mono Bold"/>
                <a:cs typeface="Space Mono Bold"/>
                <a:sym typeface="Space Mono Bold"/>
              </a:rPr>
              <a:t>T IS DATA?</a:t>
            </a:r>
          </a:p>
        </p:txBody>
      </p:sp>
      <p:sp>
        <p:nvSpPr>
          <p:cNvPr name="TextBox 11" id="11"/>
          <p:cNvSpPr txBox="true"/>
          <p:nvPr/>
        </p:nvSpPr>
        <p:spPr>
          <a:xfrm rot="0">
            <a:off x="3097882" y="9163180"/>
            <a:ext cx="905023" cy="595146"/>
          </a:xfrm>
          <a:prstGeom prst="rect">
            <a:avLst/>
          </a:prstGeom>
        </p:spPr>
        <p:txBody>
          <a:bodyPr anchor="t" rtlCol="false" tIns="0" lIns="0" bIns="0" rIns="0">
            <a:spAutoFit/>
          </a:bodyPr>
          <a:lstStyle/>
          <a:p>
            <a:pPr algn="ctr">
              <a:lnSpc>
                <a:spcPts val="4405"/>
              </a:lnSpc>
            </a:pPr>
            <a:r>
              <a:rPr lang="en-US" b="true" sz="4405">
                <a:solidFill>
                  <a:srgbClr val="191E6B"/>
                </a:solidFill>
                <a:latin typeface="Space Mono Bold"/>
                <a:ea typeface="Space Mono Bold"/>
                <a:cs typeface="Space Mono Bold"/>
                <a:sym typeface="Space Mono Bold"/>
              </a:rPr>
              <a:t>7</a:t>
            </a:r>
          </a:p>
        </p:txBody>
      </p:sp>
      <p:sp>
        <p:nvSpPr>
          <p:cNvPr name="TextBox 12" id="12"/>
          <p:cNvSpPr txBox="true"/>
          <p:nvPr/>
        </p:nvSpPr>
        <p:spPr>
          <a:xfrm rot="0">
            <a:off x="4012430" y="9315450"/>
            <a:ext cx="6122817" cy="392812"/>
          </a:xfrm>
          <a:prstGeom prst="rect">
            <a:avLst/>
          </a:prstGeom>
        </p:spPr>
        <p:txBody>
          <a:bodyPr anchor="t" rtlCol="false" tIns="0" lIns="0" bIns="0" rIns="0">
            <a:spAutoFit/>
          </a:bodyPr>
          <a:lstStyle/>
          <a:p>
            <a:pPr algn="l">
              <a:lnSpc>
                <a:spcPts val="2983"/>
              </a:lnSpc>
            </a:pPr>
            <a:r>
              <a:rPr lang="en-US" sz="2983" b="true">
                <a:solidFill>
                  <a:srgbClr val="191E6B"/>
                </a:solidFill>
                <a:latin typeface="Space Mono Bold"/>
                <a:ea typeface="Space Mono Bold"/>
                <a:cs typeface="Space Mono Bold"/>
                <a:sym typeface="Space Mono Bold"/>
              </a:rPr>
              <a:t>SENSORS, WAVES &amp; DATA</a:t>
            </a:r>
          </a:p>
        </p:txBody>
      </p:sp>
      <p:sp>
        <p:nvSpPr>
          <p:cNvPr name="AutoShape 13" id="13"/>
          <p:cNvSpPr/>
          <p:nvPr/>
        </p:nvSpPr>
        <p:spPr>
          <a:xfrm>
            <a:off x="3097882" y="9106030"/>
            <a:ext cx="6492240" cy="0"/>
          </a:xfrm>
          <a:prstGeom prst="line">
            <a:avLst/>
          </a:prstGeom>
          <a:ln cap="flat" w="19050">
            <a:solidFill>
              <a:srgbClr val="000A47"/>
            </a:solidFill>
            <a:prstDash val="solid"/>
            <a:headEnd type="none" len="sm" w="sm"/>
            <a:tailEnd type="none" len="sm" w="sm"/>
          </a:ln>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true" flipV="false" rot="344870">
            <a:off x="15386876" y="7760663"/>
            <a:ext cx="1781093" cy="1913284"/>
          </a:xfrm>
          <a:custGeom>
            <a:avLst/>
            <a:gdLst/>
            <a:ahLst/>
            <a:cxnLst/>
            <a:rect r="r" b="b" t="t" l="l"/>
            <a:pathLst>
              <a:path h="1913284" w="1781093">
                <a:moveTo>
                  <a:pt x="1781093" y="0"/>
                </a:moveTo>
                <a:lnTo>
                  <a:pt x="0" y="0"/>
                </a:lnTo>
                <a:lnTo>
                  <a:pt x="0" y="1913284"/>
                </a:lnTo>
                <a:lnTo>
                  <a:pt x="1781093" y="1913284"/>
                </a:lnTo>
                <a:lnTo>
                  <a:pt x="178109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808180">
            <a:off x="789558" y="723472"/>
            <a:ext cx="1529617" cy="1529617"/>
          </a:xfrm>
          <a:custGeom>
            <a:avLst/>
            <a:gdLst/>
            <a:ahLst/>
            <a:cxnLst/>
            <a:rect r="r" b="b" t="t" l="l"/>
            <a:pathLst>
              <a:path h="1529617" w="1529617">
                <a:moveTo>
                  <a:pt x="0" y="0"/>
                </a:moveTo>
                <a:lnTo>
                  <a:pt x="1529617" y="0"/>
                </a:lnTo>
                <a:lnTo>
                  <a:pt x="1529617" y="1529617"/>
                </a:lnTo>
                <a:lnTo>
                  <a:pt x="0" y="152961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1093760">
            <a:off x="735652" y="3716965"/>
            <a:ext cx="785915" cy="785915"/>
          </a:xfrm>
          <a:custGeom>
            <a:avLst/>
            <a:gdLst/>
            <a:ahLst/>
            <a:cxnLst/>
            <a:rect r="r" b="b" t="t" l="l"/>
            <a:pathLst>
              <a:path h="785915" w="785915">
                <a:moveTo>
                  <a:pt x="0" y="0"/>
                </a:moveTo>
                <a:lnTo>
                  <a:pt x="785915" y="0"/>
                </a:lnTo>
                <a:lnTo>
                  <a:pt x="785915" y="785915"/>
                </a:lnTo>
                <a:lnTo>
                  <a:pt x="0" y="78591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6573101" y="5347517"/>
            <a:ext cx="961386" cy="961386"/>
          </a:xfrm>
          <a:custGeom>
            <a:avLst/>
            <a:gdLst/>
            <a:ahLst/>
            <a:cxnLst/>
            <a:rect r="r" b="b" t="t" l="l"/>
            <a:pathLst>
              <a:path h="961386" w="961386">
                <a:moveTo>
                  <a:pt x="0" y="0"/>
                </a:moveTo>
                <a:lnTo>
                  <a:pt x="961385" y="0"/>
                </a:lnTo>
                <a:lnTo>
                  <a:pt x="961385" y="961385"/>
                </a:lnTo>
                <a:lnTo>
                  <a:pt x="0" y="9613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true" flipV="true" rot="0">
            <a:off x="14037888" y="-1002693"/>
            <a:ext cx="5427189" cy="5427189"/>
          </a:xfrm>
          <a:custGeom>
            <a:avLst/>
            <a:gdLst/>
            <a:ahLst/>
            <a:cxnLst/>
            <a:rect r="r" b="b" t="t" l="l"/>
            <a:pathLst>
              <a:path h="5427189" w="5427189">
                <a:moveTo>
                  <a:pt x="5427189" y="5427189"/>
                </a:moveTo>
                <a:lnTo>
                  <a:pt x="0" y="5427189"/>
                </a:lnTo>
                <a:lnTo>
                  <a:pt x="0" y="0"/>
                </a:lnTo>
                <a:lnTo>
                  <a:pt x="5427189" y="0"/>
                </a:lnTo>
                <a:lnTo>
                  <a:pt x="5427189" y="5427189"/>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false" flipV="false" rot="0">
            <a:off x="-1177077" y="5862504"/>
            <a:ext cx="5427189" cy="5427189"/>
          </a:xfrm>
          <a:custGeom>
            <a:avLst/>
            <a:gdLst/>
            <a:ahLst/>
            <a:cxnLst/>
            <a:rect r="r" b="b" t="t" l="l"/>
            <a:pathLst>
              <a:path h="5427189" w="5427189">
                <a:moveTo>
                  <a:pt x="0" y="0"/>
                </a:moveTo>
                <a:lnTo>
                  <a:pt x="5427189" y="0"/>
                </a:lnTo>
                <a:lnTo>
                  <a:pt x="5427189" y="5427189"/>
                </a:lnTo>
                <a:lnTo>
                  <a:pt x="0" y="542718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9" id="9"/>
          <p:cNvSpPr txBox="true"/>
          <p:nvPr/>
        </p:nvSpPr>
        <p:spPr>
          <a:xfrm rot="0">
            <a:off x="1829728" y="1821210"/>
            <a:ext cx="14628544" cy="1164325"/>
          </a:xfrm>
          <a:prstGeom prst="rect">
            <a:avLst/>
          </a:prstGeom>
        </p:spPr>
        <p:txBody>
          <a:bodyPr anchor="t" rtlCol="false" tIns="0" lIns="0" bIns="0" rIns="0">
            <a:spAutoFit/>
          </a:bodyPr>
          <a:lstStyle/>
          <a:p>
            <a:pPr algn="ctr">
              <a:lnSpc>
                <a:spcPts val="8715"/>
              </a:lnSpc>
            </a:pPr>
            <a:r>
              <a:rPr lang="en-US" b="true" sz="8715">
                <a:solidFill>
                  <a:srgbClr val="191E6B"/>
                </a:solidFill>
                <a:latin typeface="Space Mono Bold"/>
                <a:ea typeface="Space Mono Bold"/>
                <a:cs typeface="Space Mono Bold"/>
                <a:sym typeface="Space Mono Bold"/>
              </a:rPr>
              <a:t>DATA PR</a:t>
            </a:r>
            <a:r>
              <a:rPr lang="en-US" b="true" sz="8715">
                <a:solidFill>
                  <a:srgbClr val="191E6B"/>
                </a:solidFill>
                <a:latin typeface="Space Mono Bold"/>
                <a:ea typeface="Space Mono Bold"/>
                <a:cs typeface="Space Mono Bold"/>
                <a:sym typeface="Space Mono Bold"/>
              </a:rPr>
              <a:t>OCESSING FLOW</a:t>
            </a:r>
          </a:p>
        </p:txBody>
      </p:sp>
      <p:sp>
        <p:nvSpPr>
          <p:cNvPr name="TextBox 10" id="10"/>
          <p:cNvSpPr txBox="true"/>
          <p:nvPr/>
        </p:nvSpPr>
        <p:spPr>
          <a:xfrm rot="0">
            <a:off x="5622621" y="3539520"/>
            <a:ext cx="9723008" cy="1423638"/>
          </a:xfrm>
          <a:prstGeom prst="rect">
            <a:avLst/>
          </a:prstGeom>
        </p:spPr>
        <p:txBody>
          <a:bodyPr anchor="t" rtlCol="false" tIns="0" lIns="0" bIns="0" rIns="0">
            <a:spAutoFit/>
          </a:bodyPr>
          <a:lstStyle/>
          <a:p>
            <a:pPr algn="l">
              <a:lnSpc>
                <a:spcPts val="2802"/>
              </a:lnSpc>
            </a:pPr>
            <a:r>
              <a:rPr lang="en-US" sz="2802">
                <a:solidFill>
                  <a:srgbClr val="191E6B"/>
                </a:solidFill>
                <a:latin typeface="Signika"/>
                <a:ea typeface="Signika"/>
                <a:cs typeface="Signika"/>
                <a:sym typeface="Signika"/>
              </a:rPr>
              <a:t>Lorem ipsum dolor sit amet, consectetur adipiscing elit. Quisque non elit mauris. Cras euismod, metus ac finibus finibus, felis dui suscipit purus, a maximus leo ligula at dolor. Morbi et malesuada purus.</a:t>
            </a:r>
          </a:p>
        </p:txBody>
      </p:sp>
      <p:sp>
        <p:nvSpPr>
          <p:cNvPr name="TextBox 11" id="11"/>
          <p:cNvSpPr txBox="true"/>
          <p:nvPr/>
        </p:nvSpPr>
        <p:spPr>
          <a:xfrm rot="0">
            <a:off x="2942371" y="3732569"/>
            <a:ext cx="2208638" cy="542229"/>
          </a:xfrm>
          <a:prstGeom prst="rect">
            <a:avLst/>
          </a:prstGeom>
        </p:spPr>
        <p:txBody>
          <a:bodyPr anchor="t" rtlCol="false" tIns="0" lIns="0" bIns="0" rIns="0">
            <a:spAutoFit/>
          </a:bodyPr>
          <a:lstStyle/>
          <a:p>
            <a:pPr algn="l">
              <a:lnSpc>
                <a:spcPts val="4097"/>
              </a:lnSpc>
            </a:pPr>
            <a:r>
              <a:rPr lang="en-US" sz="4097" b="true">
                <a:solidFill>
                  <a:srgbClr val="191E6B"/>
                </a:solidFill>
                <a:latin typeface="Space Mono Bold"/>
                <a:ea typeface="Space Mono Bold"/>
                <a:cs typeface="Space Mono Bold"/>
                <a:sym typeface="Space Mono Bold"/>
              </a:rPr>
              <a:t>STEP</a:t>
            </a:r>
            <a:r>
              <a:rPr lang="en-US" b="true" sz="4097">
                <a:solidFill>
                  <a:srgbClr val="191E6B"/>
                </a:solidFill>
                <a:latin typeface="Space Mono Bold"/>
                <a:ea typeface="Space Mono Bold"/>
                <a:cs typeface="Space Mono Bold"/>
                <a:sym typeface="Space Mono Bold"/>
              </a:rPr>
              <a:t> 1</a:t>
            </a:r>
          </a:p>
        </p:txBody>
      </p:sp>
      <p:sp>
        <p:nvSpPr>
          <p:cNvPr name="TextBox 12" id="12"/>
          <p:cNvSpPr txBox="true"/>
          <p:nvPr/>
        </p:nvSpPr>
        <p:spPr>
          <a:xfrm rot="0">
            <a:off x="5622621" y="5371798"/>
            <a:ext cx="9723008" cy="1423638"/>
          </a:xfrm>
          <a:prstGeom prst="rect">
            <a:avLst/>
          </a:prstGeom>
        </p:spPr>
        <p:txBody>
          <a:bodyPr anchor="t" rtlCol="false" tIns="0" lIns="0" bIns="0" rIns="0">
            <a:spAutoFit/>
          </a:bodyPr>
          <a:lstStyle/>
          <a:p>
            <a:pPr algn="l">
              <a:lnSpc>
                <a:spcPts val="2802"/>
              </a:lnSpc>
            </a:pPr>
            <a:r>
              <a:rPr lang="en-US" sz="2802">
                <a:solidFill>
                  <a:srgbClr val="191E6B"/>
                </a:solidFill>
                <a:latin typeface="Signika"/>
                <a:ea typeface="Signika"/>
                <a:cs typeface="Signika"/>
                <a:sym typeface="Signika"/>
              </a:rPr>
              <a:t>Lorem ipsum dolor sit amet, consectetur adipiscing elit. Quisque non elit mauris. Cras euismod, metus ac finibus finibus, felis dui suscipit purus, a maximus leo ligula at dolor. Morbi et malesuada purus.</a:t>
            </a:r>
          </a:p>
        </p:txBody>
      </p:sp>
      <p:sp>
        <p:nvSpPr>
          <p:cNvPr name="TextBox 13" id="13"/>
          <p:cNvSpPr txBox="true"/>
          <p:nvPr/>
        </p:nvSpPr>
        <p:spPr>
          <a:xfrm rot="0">
            <a:off x="2942371" y="5564847"/>
            <a:ext cx="2208638" cy="542229"/>
          </a:xfrm>
          <a:prstGeom prst="rect">
            <a:avLst/>
          </a:prstGeom>
        </p:spPr>
        <p:txBody>
          <a:bodyPr anchor="t" rtlCol="false" tIns="0" lIns="0" bIns="0" rIns="0">
            <a:spAutoFit/>
          </a:bodyPr>
          <a:lstStyle/>
          <a:p>
            <a:pPr algn="l">
              <a:lnSpc>
                <a:spcPts val="4097"/>
              </a:lnSpc>
            </a:pPr>
            <a:r>
              <a:rPr lang="en-US" sz="4097" b="true">
                <a:solidFill>
                  <a:srgbClr val="191E6B"/>
                </a:solidFill>
                <a:latin typeface="Space Mono Bold"/>
                <a:ea typeface="Space Mono Bold"/>
                <a:cs typeface="Space Mono Bold"/>
                <a:sym typeface="Space Mono Bold"/>
              </a:rPr>
              <a:t>STEP 2</a:t>
            </a:r>
          </a:p>
        </p:txBody>
      </p:sp>
      <p:sp>
        <p:nvSpPr>
          <p:cNvPr name="TextBox 14" id="14"/>
          <p:cNvSpPr txBox="true"/>
          <p:nvPr/>
        </p:nvSpPr>
        <p:spPr>
          <a:xfrm rot="0">
            <a:off x="5622621" y="7204077"/>
            <a:ext cx="9723008" cy="1423638"/>
          </a:xfrm>
          <a:prstGeom prst="rect">
            <a:avLst/>
          </a:prstGeom>
        </p:spPr>
        <p:txBody>
          <a:bodyPr anchor="t" rtlCol="false" tIns="0" lIns="0" bIns="0" rIns="0">
            <a:spAutoFit/>
          </a:bodyPr>
          <a:lstStyle/>
          <a:p>
            <a:pPr algn="l">
              <a:lnSpc>
                <a:spcPts val="2802"/>
              </a:lnSpc>
            </a:pPr>
            <a:r>
              <a:rPr lang="en-US" sz="2802">
                <a:solidFill>
                  <a:srgbClr val="191E6B"/>
                </a:solidFill>
                <a:latin typeface="Signika"/>
                <a:ea typeface="Signika"/>
                <a:cs typeface="Signika"/>
                <a:sym typeface="Signika"/>
              </a:rPr>
              <a:t>Lorem ipsum dolor sit amet, consectetur adipiscing elit. Quisque non elit mauris. Cras euismod, metus ac finibus finibus, felis dui suscipit purus, a maximus leo ligula at dolor. Morbi et malesuada purus.</a:t>
            </a:r>
          </a:p>
        </p:txBody>
      </p:sp>
      <p:sp>
        <p:nvSpPr>
          <p:cNvPr name="TextBox 15" id="15"/>
          <p:cNvSpPr txBox="true"/>
          <p:nvPr/>
        </p:nvSpPr>
        <p:spPr>
          <a:xfrm rot="0">
            <a:off x="2942371" y="7397125"/>
            <a:ext cx="2208638" cy="542229"/>
          </a:xfrm>
          <a:prstGeom prst="rect">
            <a:avLst/>
          </a:prstGeom>
        </p:spPr>
        <p:txBody>
          <a:bodyPr anchor="t" rtlCol="false" tIns="0" lIns="0" bIns="0" rIns="0">
            <a:spAutoFit/>
          </a:bodyPr>
          <a:lstStyle/>
          <a:p>
            <a:pPr algn="l">
              <a:lnSpc>
                <a:spcPts val="4097"/>
              </a:lnSpc>
            </a:pPr>
            <a:r>
              <a:rPr lang="en-US" sz="4097" b="true">
                <a:solidFill>
                  <a:srgbClr val="191E6B"/>
                </a:solidFill>
                <a:latin typeface="Space Mono Bold"/>
                <a:ea typeface="Space Mono Bold"/>
                <a:cs typeface="Space Mono Bold"/>
                <a:sym typeface="Space Mono Bold"/>
              </a:rPr>
              <a:t>STEP 3</a:t>
            </a:r>
          </a:p>
        </p:txBody>
      </p:sp>
      <p:sp>
        <p:nvSpPr>
          <p:cNvPr name="TextBox 16" id="16"/>
          <p:cNvSpPr txBox="true"/>
          <p:nvPr/>
        </p:nvSpPr>
        <p:spPr>
          <a:xfrm rot="0">
            <a:off x="3097882" y="9163180"/>
            <a:ext cx="905023" cy="595146"/>
          </a:xfrm>
          <a:prstGeom prst="rect">
            <a:avLst/>
          </a:prstGeom>
        </p:spPr>
        <p:txBody>
          <a:bodyPr anchor="t" rtlCol="false" tIns="0" lIns="0" bIns="0" rIns="0">
            <a:spAutoFit/>
          </a:bodyPr>
          <a:lstStyle/>
          <a:p>
            <a:pPr algn="ctr">
              <a:lnSpc>
                <a:spcPts val="4405"/>
              </a:lnSpc>
            </a:pPr>
            <a:r>
              <a:rPr lang="en-US" b="true" sz="4405">
                <a:solidFill>
                  <a:srgbClr val="191E6B"/>
                </a:solidFill>
                <a:latin typeface="Space Mono Bold"/>
                <a:ea typeface="Space Mono Bold"/>
                <a:cs typeface="Space Mono Bold"/>
                <a:sym typeface="Space Mono Bold"/>
              </a:rPr>
              <a:t>8</a:t>
            </a:r>
          </a:p>
        </p:txBody>
      </p:sp>
      <p:sp>
        <p:nvSpPr>
          <p:cNvPr name="TextBox 17" id="17"/>
          <p:cNvSpPr txBox="true"/>
          <p:nvPr/>
        </p:nvSpPr>
        <p:spPr>
          <a:xfrm rot="0">
            <a:off x="4012430" y="9315450"/>
            <a:ext cx="6122817" cy="392812"/>
          </a:xfrm>
          <a:prstGeom prst="rect">
            <a:avLst/>
          </a:prstGeom>
        </p:spPr>
        <p:txBody>
          <a:bodyPr anchor="t" rtlCol="false" tIns="0" lIns="0" bIns="0" rIns="0">
            <a:spAutoFit/>
          </a:bodyPr>
          <a:lstStyle/>
          <a:p>
            <a:pPr algn="l">
              <a:lnSpc>
                <a:spcPts val="2983"/>
              </a:lnSpc>
            </a:pPr>
            <a:r>
              <a:rPr lang="en-US" sz="2983" b="true">
                <a:solidFill>
                  <a:srgbClr val="191E6B"/>
                </a:solidFill>
                <a:latin typeface="Space Mono Bold"/>
                <a:ea typeface="Space Mono Bold"/>
                <a:cs typeface="Space Mono Bold"/>
                <a:sym typeface="Space Mono Bold"/>
              </a:rPr>
              <a:t>SENSORS, WAVES &amp; DATA</a:t>
            </a:r>
          </a:p>
        </p:txBody>
      </p:sp>
      <p:sp>
        <p:nvSpPr>
          <p:cNvPr name="AutoShape 18" id="18"/>
          <p:cNvSpPr/>
          <p:nvPr/>
        </p:nvSpPr>
        <p:spPr>
          <a:xfrm>
            <a:off x="3097882" y="9106030"/>
            <a:ext cx="6492240" cy="0"/>
          </a:xfrm>
          <a:prstGeom prst="line">
            <a:avLst/>
          </a:prstGeom>
          <a:ln cap="flat" w="19050">
            <a:solidFill>
              <a:srgbClr val="000A47"/>
            </a:solidFill>
            <a:prstDash val="solid"/>
            <a:headEnd type="none" len="sm" w="sm"/>
            <a:tailEnd type="none" len="sm" w="sm"/>
          </a:ln>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true" flipV="false" rot="344870">
            <a:off x="15386876" y="7760663"/>
            <a:ext cx="1781093" cy="1913284"/>
          </a:xfrm>
          <a:custGeom>
            <a:avLst/>
            <a:gdLst/>
            <a:ahLst/>
            <a:cxnLst/>
            <a:rect r="r" b="b" t="t" l="l"/>
            <a:pathLst>
              <a:path h="1913284" w="1781093">
                <a:moveTo>
                  <a:pt x="1781093" y="0"/>
                </a:moveTo>
                <a:lnTo>
                  <a:pt x="0" y="0"/>
                </a:lnTo>
                <a:lnTo>
                  <a:pt x="0" y="1913284"/>
                </a:lnTo>
                <a:lnTo>
                  <a:pt x="1781093" y="1913284"/>
                </a:lnTo>
                <a:lnTo>
                  <a:pt x="178109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808180">
            <a:off x="789558" y="723472"/>
            <a:ext cx="1529617" cy="1529617"/>
          </a:xfrm>
          <a:custGeom>
            <a:avLst/>
            <a:gdLst/>
            <a:ahLst/>
            <a:cxnLst/>
            <a:rect r="r" b="b" t="t" l="l"/>
            <a:pathLst>
              <a:path h="1529617" w="1529617">
                <a:moveTo>
                  <a:pt x="0" y="0"/>
                </a:moveTo>
                <a:lnTo>
                  <a:pt x="1529617" y="0"/>
                </a:lnTo>
                <a:lnTo>
                  <a:pt x="1529617" y="1529617"/>
                </a:lnTo>
                <a:lnTo>
                  <a:pt x="0" y="152961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1093760">
            <a:off x="735652" y="3716965"/>
            <a:ext cx="785915" cy="785915"/>
          </a:xfrm>
          <a:custGeom>
            <a:avLst/>
            <a:gdLst/>
            <a:ahLst/>
            <a:cxnLst/>
            <a:rect r="r" b="b" t="t" l="l"/>
            <a:pathLst>
              <a:path h="785915" w="785915">
                <a:moveTo>
                  <a:pt x="0" y="0"/>
                </a:moveTo>
                <a:lnTo>
                  <a:pt x="785915" y="0"/>
                </a:lnTo>
                <a:lnTo>
                  <a:pt x="785915" y="785915"/>
                </a:lnTo>
                <a:lnTo>
                  <a:pt x="0" y="78591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6573101" y="5347517"/>
            <a:ext cx="961386" cy="961386"/>
          </a:xfrm>
          <a:custGeom>
            <a:avLst/>
            <a:gdLst/>
            <a:ahLst/>
            <a:cxnLst/>
            <a:rect r="r" b="b" t="t" l="l"/>
            <a:pathLst>
              <a:path h="961386" w="961386">
                <a:moveTo>
                  <a:pt x="0" y="0"/>
                </a:moveTo>
                <a:lnTo>
                  <a:pt x="961385" y="0"/>
                </a:lnTo>
                <a:lnTo>
                  <a:pt x="961385" y="961385"/>
                </a:lnTo>
                <a:lnTo>
                  <a:pt x="0" y="9613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177077" y="5862504"/>
            <a:ext cx="5427189" cy="5427189"/>
          </a:xfrm>
          <a:custGeom>
            <a:avLst/>
            <a:gdLst/>
            <a:ahLst/>
            <a:cxnLst/>
            <a:rect r="r" b="b" t="t" l="l"/>
            <a:pathLst>
              <a:path h="5427189" w="5427189">
                <a:moveTo>
                  <a:pt x="0" y="0"/>
                </a:moveTo>
                <a:lnTo>
                  <a:pt x="5427189" y="0"/>
                </a:lnTo>
                <a:lnTo>
                  <a:pt x="5427189" y="5427189"/>
                </a:lnTo>
                <a:lnTo>
                  <a:pt x="0" y="542718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true" flipV="true" rot="0">
            <a:off x="14037888" y="-1002693"/>
            <a:ext cx="5427189" cy="5427189"/>
          </a:xfrm>
          <a:custGeom>
            <a:avLst/>
            <a:gdLst/>
            <a:ahLst/>
            <a:cxnLst/>
            <a:rect r="r" b="b" t="t" l="l"/>
            <a:pathLst>
              <a:path h="5427189" w="5427189">
                <a:moveTo>
                  <a:pt x="5427189" y="5427189"/>
                </a:moveTo>
                <a:lnTo>
                  <a:pt x="0" y="5427189"/>
                </a:lnTo>
                <a:lnTo>
                  <a:pt x="0" y="0"/>
                </a:lnTo>
                <a:lnTo>
                  <a:pt x="5427189" y="0"/>
                </a:lnTo>
                <a:lnTo>
                  <a:pt x="5427189" y="5427189"/>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9" id="9"/>
          <p:cNvSpPr txBox="true"/>
          <p:nvPr/>
        </p:nvSpPr>
        <p:spPr>
          <a:xfrm rot="0">
            <a:off x="3423368" y="1926390"/>
            <a:ext cx="11441264" cy="2328927"/>
          </a:xfrm>
          <a:prstGeom prst="rect">
            <a:avLst/>
          </a:prstGeom>
        </p:spPr>
        <p:txBody>
          <a:bodyPr anchor="t" rtlCol="false" tIns="0" lIns="0" bIns="0" rIns="0">
            <a:spAutoFit/>
          </a:bodyPr>
          <a:lstStyle/>
          <a:p>
            <a:pPr algn="ctr">
              <a:lnSpc>
                <a:spcPts val="8915"/>
              </a:lnSpc>
            </a:pPr>
            <a:r>
              <a:rPr lang="en-US" b="true" sz="8915">
                <a:solidFill>
                  <a:srgbClr val="191E6B"/>
                </a:solidFill>
                <a:latin typeface="Space Mono Bold"/>
                <a:ea typeface="Space Mono Bold"/>
                <a:cs typeface="Space Mono Bold"/>
                <a:sym typeface="Space Mono Bold"/>
              </a:rPr>
              <a:t>R</a:t>
            </a:r>
            <a:r>
              <a:rPr lang="en-US" b="true" sz="8915">
                <a:solidFill>
                  <a:srgbClr val="191E6B"/>
                </a:solidFill>
                <a:latin typeface="Space Mono Bold"/>
                <a:ea typeface="Space Mono Bold"/>
                <a:cs typeface="Space Mono Bold"/>
                <a:sym typeface="Space Mono Bold"/>
              </a:rPr>
              <a:t>EAL-WORLD APPLICATIONS</a:t>
            </a:r>
          </a:p>
        </p:txBody>
      </p:sp>
      <p:sp>
        <p:nvSpPr>
          <p:cNvPr name="TextBox 10" id="10"/>
          <p:cNvSpPr txBox="true"/>
          <p:nvPr/>
        </p:nvSpPr>
        <p:spPr>
          <a:xfrm rot="0">
            <a:off x="2780486" y="4899111"/>
            <a:ext cx="6251317" cy="3623424"/>
          </a:xfrm>
          <a:prstGeom prst="rect">
            <a:avLst/>
          </a:prstGeom>
        </p:spPr>
        <p:txBody>
          <a:bodyPr anchor="t" rtlCol="false" tIns="0" lIns="0" bIns="0" rIns="0">
            <a:spAutoFit/>
          </a:bodyPr>
          <a:lstStyle/>
          <a:p>
            <a:pPr algn="l" marL="682985" indent="-341493" lvl="1">
              <a:lnSpc>
                <a:spcPts val="3163"/>
              </a:lnSpc>
              <a:buFont typeface="Arial"/>
              <a:buChar char="•"/>
            </a:pPr>
            <a:r>
              <a:rPr lang="en-US" sz="3163">
                <a:solidFill>
                  <a:srgbClr val="191E6B"/>
                </a:solidFill>
                <a:latin typeface="Signika"/>
                <a:ea typeface="Signika"/>
                <a:cs typeface="Signika"/>
                <a:sym typeface="Signika"/>
              </a:rPr>
              <a:t>Lorem ipsum dolor sit amet, consectetur adipiscing elit. Quisque non elit mauris. Cras euismod, metus ac finibus finibus, felis dui suscipit purus, a maximus leo ligula at dolor. Morbi et malesuada purus. </a:t>
            </a:r>
            <a:r>
              <a:rPr lang="en-US" sz="3163">
                <a:solidFill>
                  <a:srgbClr val="191E6B"/>
                </a:solidFill>
                <a:latin typeface="Signika"/>
                <a:ea typeface="Signika"/>
                <a:cs typeface="Signika"/>
                <a:sym typeface="Signika"/>
              </a:rPr>
              <a:t>Phasellus a lacus sit amet urna tempor sollicitudin.</a:t>
            </a:r>
          </a:p>
        </p:txBody>
      </p:sp>
      <p:sp>
        <p:nvSpPr>
          <p:cNvPr name="TextBox 11" id="11"/>
          <p:cNvSpPr txBox="true"/>
          <p:nvPr/>
        </p:nvSpPr>
        <p:spPr>
          <a:xfrm rot="0">
            <a:off x="9256198" y="4899111"/>
            <a:ext cx="6251317" cy="3623424"/>
          </a:xfrm>
          <a:prstGeom prst="rect">
            <a:avLst/>
          </a:prstGeom>
        </p:spPr>
        <p:txBody>
          <a:bodyPr anchor="t" rtlCol="false" tIns="0" lIns="0" bIns="0" rIns="0">
            <a:spAutoFit/>
          </a:bodyPr>
          <a:lstStyle/>
          <a:p>
            <a:pPr algn="l" marL="682985" indent="-341493" lvl="1">
              <a:lnSpc>
                <a:spcPts val="3163"/>
              </a:lnSpc>
              <a:buFont typeface="Arial"/>
              <a:buChar char="•"/>
            </a:pPr>
            <a:r>
              <a:rPr lang="en-US" sz="3163">
                <a:solidFill>
                  <a:srgbClr val="191E6B"/>
                </a:solidFill>
                <a:latin typeface="Signika"/>
                <a:ea typeface="Signika"/>
                <a:cs typeface="Signika"/>
                <a:sym typeface="Signika"/>
              </a:rPr>
              <a:t>Lorem ipsum dolor sit amet, consectetur adipiscing elit. Quisque non elit mauris. Cras euismod, metus ac finibus finibus, felis dui suscipit purus, a maximus leo ligula at dolor. Morbi et malesuada purus. </a:t>
            </a:r>
            <a:r>
              <a:rPr lang="en-US" sz="3163">
                <a:solidFill>
                  <a:srgbClr val="191E6B"/>
                </a:solidFill>
                <a:latin typeface="Signika"/>
                <a:ea typeface="Signika"/>
                <a:cs typeface="Signika"/>
                <a:sym typeface="Signika"/>
              </a:rPr>
              <a:t>Phasellus a lacus sit amet urna tempor sollicitudin.</a:t>
            </a:r>
          </a:p>
        </p:txBody>
      </p:sp>
      <p:sp>
        <p:nvSpPr>
          <p:cNvPr name="TextBox 12" id="12"/>
          <p:cNvSpPr txBox="true"/>
          <p:nvPr/>
        </p:nvSpPr>
        <p:spPr>
          <a:xfrm rot="0">
            <a:off x="3097882" y="9163180"/>
            <a:ext cx="905023" cy="595146"/>
          </a:xfrm>
          <a:prstGeom prst="rect">
            <a:avLst/>
          </a:prstGeom>
        </p:spPr>
        <p:txBody>
          <a:bodyPr anchor="t" rtlCol="false" tIns="0" lIns="0" bIns="0" rIns="0">
            <a:spAutoFit/>
          </a:bodyPr>
          <a:lstStyle/>
          <a:p>
            <a:pPr algn="ctr">
              <a:lnSpc>
                <a:spcPts val="4405"/>
              </a:lnSpc>
            </a:pPr>
            <a:r>
              <a:rPr lang="en-US" b="true" sz="4405">
                <a:solidFill>
                  <a:srgbClr val="191E6B"/>
                </a:solidFill>
                <a:latin typeface="Space Mono Bold"/>
                <a:ea typeface="Space Mono Bold"/>
                <a:cs typeface="Space Mono Bold"/>
                <a:sym typeface="Space Mono Bold"/>
              </a:rPr>
              <a:t>9</a:t>
            </a:r>
          </a:p>
        </p:txBody>
      </p:sp>
      <p:sp>
        <p:nvSpPr>
          <p:cNvPr name="TextBox 13" id="13"/>
          <p:cNvSpPr txBox="true"/>
          <p:nvPr/>
        </p:nvSpPr>
        <p:spPr>
          <a:xfrm rot="0">
            <a:off x="4012430" y="9315450"/>
            <a:ext cx="6122817" cy="392812"/>
          </a:xfrm>
          <a:prstGeom prst="rect">
            <a:avLst/>
          </a:prstGeom>
        </p:spPr>
        <p:txBody>
          <a:bodyPr anchor="t" rtlCol="false" tIns="0" lIns="0" bIns="0" rIns="0">
            <a:spAutoFit/>
          </a:bodyPr>
          <a:lstStyle/>
          <a:p>
            <a:pPr algn="l">
              <a:lnSpc>
                <a:spcPts val="2983"/>
              </a:lnSpc>
            </a:pPr>
            <a:r>
              <a:rPr lang="en-US" sz="2983" b="true">
                <a:solidFill>
                  <a:srgbClr val="191E6B"/>
                </a:solidFill>
                <a:latin typeface="Space Mono Bold"/>
                <a:ea typeface="Space Mono Bold"/>
                <a:cs typeface="Space Mono Bold"/>
                <a:sym typeface="Space Mono Bold"/>
              </a:rPr>
              <a:t>SENSORS, WAVES &amp; DATA</a:t>
            </a:r>
          </a:p>
        </p:txBody>
      </p:sp>
      <p:sp>
        <p:nvSpPr>
          <p:cNvPr name="AutoShape 14" id="14"/>
          <p:cNvSpPr/>
          <p:nvPr/>
        </p:nvSpPr>
        <p:spPr>
          <a:xfrm>
            <a:off x="3097882" y="9106030"/>
            <a:ext cx="6492240" cy="0"/>
          </a:xfrm>
          <a:prstGeom prst="line">
            <a:avLst/>
          </a:prstGeom>
          <a:ln cap="flat" w="19050">
            <a:solidFill>
              <a:srgbClr val="000A47"/>
            </a:solidFill>
            <a:prstDash val="solid"/>
            <a:headEnd type="none" len="sm" w="sm"/>
            <a:tailEnd type="none" len="sm" w="sm"/>
          </a:ln>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true" flipV="false" rot="344870">
            <a:off x="15386876" y="7760663"/>
            <a:ext cx="1781093" cy="1913284"/>
          </a:xfrm>
          <a:custGeom>
            <a:avLst/>
            <a:gdLst/>
            <a:ahLst/>
            <a:cxnLst/>
            <a:rect r="r" b="b" t="t" l="l"/>
            <a:pathLst>
              <a:path h="1913284" w="1781093">
                <a:moveTo>
                  <a:pt x="1781093" y="0"/>
                </a:moveTo>
                <a:lnTo>
                  <a:pt x="0" y="0"/>
                </a:lnTo>
                <a:lnTo>
                  <a:pt x="0" y="1913284"/>
                </a:lnTo>
                <a:lnTo>
                  <a:pt x="1781093" y="1913284"/>
                </a:lnTo>
                <a:lnTo>
                  <a:pt x="1781093"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808180">
            <a:off x="789558" y="723472"/>
            <a:ext cx="1529617" cy="1529617"/>
          </a:xfrm>
          <a:custGeom>
            <a:avLst/>
            <a:gdLst/>
            <a:ahLst/>
            <a:cxnLst/>
            <a:rect r="r" b="b" t="t" l="l"/>
            <a:pathLst>
              <a:path h="1529617" w="1529617">
                <a:moveTo>
                  <a:pt x="0" y="0"/>
                </a:moveTo>
                <a:lnTo>
                  <a:pt x="1529617" y="0"/>
                </a:lnTo>
                <a:lnTo>
                  <a:pt x="1529617" y="1529617"/>
                </a:lnTo>
                <a:lnTo>
                  <a:pt x="0" y="152961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1093760">
            <a:off x="735652" y="3716965"/>
            <a:ext cx="785915" cy="785915"/>
          </a:xfrm>
          <a:custGeom>
            <a:avLst/>
            <a:gdLst/>
            <a:ahLst/>
            <a:cxnLst/>
            <a:rect r="r" b="b" t="t" l="l"/>
            <a:pathLst>
              <a:path h="785915" w="785915">
                <a:moveTo>
                  <a:pt x="0" y="0"/>
                </a:moveTo>
                <a:lnTo>
                  <a:pt x="785915" y="0"/>
                </a:lnTo>
                <a:lnTo>
                  <a:pt x="785915" y="785915"/>
                </a:lnTo>
                <a:lnTo>
                  <a:pt x="0" y="78591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6573101" y="5347517"/>
            <a:ext cx="961386" cy="961386"/>
          </a:xfrm>
          <a:custGeom>
            <a:avLst/>
            <a:gdLst/>
            <a:ahLst/>
            <a:cxnLst/>
            <a:rect r="r" b="b" t="t" l="l"/>
            <a:pathLst>
              <a:path h="961386" w="961386">
                <a:moveTo>
                  <a:pt x="0" y="0"/>
                </a:moveTo>
                <a:lnTo>
                  <a:pt x="961385" y="0"/>
                </a:lnTo>
                <a:lnTo>
                  <a:pt x="961385" y="961385"/>
                </a:lnTo>
                <a:lnTo>
                  <a:pt x="0" y="961385"/>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7" id="7"/>
          <p:cNvSpPr/>
          <p:nvPr/>
        </p:nvSpPr>
        <p:spPr>
          <a:xfrm flipH="false" flipV="false" rot="0">
            <a:off x="-1177077" y="5862504"/>
            <a:ext cx="5427189" cy="5427189"/>
          </a:xfrm>
          <a:custGeom>
            <a:avLst/>
            <a:gdLst/>
            <a:ahLst/>
            <a:cxnLst/>
            <a:rect r="r" b="b" t="t" l="l"/>
            <a:pathLst>
              <a:path h="5427189" w="5427189">
                <a:moveTo>
                  <a:pt x="0" y="0"/>
                </a:moveTo>
                <a:lnTo>
                  <a:pt x="5427189" y="0"/>
                </a:lnTo>
                <a:lnTo>
                  <a:pt x="5427189" y="5427189"/>
                </a:lnTo>
                <a:lnTo>
                  <a:pt x="0" y="5427189"/>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8" id="8"/>
          <p:cNvSpPr/>
          <p:nvPr/>
        </p:nvSpPr>
        <p:spPr>
          <a:xfrm flipH="true" flipV="true" rot="0">
            <a:off x="14037888" y="-1002693"/>
            <a:ext cx="5427189" cy="5427189"/>
          </a:xfrm>
          <a:custGeom>
            <a:avLst/>
            <a:gdLst/>
            <a:ahLst/>
            <a:cxnLst/>
            <a:rect r="r" b="b" t="t" l="l"/>
            <a:pathLst>
              <a:path h="5427189" w="5427189">
                <a:moveTo>
                  <a:pt x="5427189" y="5427189"/>
                </a:moveTo>
                <a:lnTo>
                  <a:pt x="0" y="5427189"/>
                </a:lnTo>
                <a:lnTo>
                  <a:pt x="0" y="0"/>
                </a:lnTo>
                <a:lnTo>
                  <a:pt x="5427189" y="0"/>
                </a:lnTo>
                <a:lnTo>
                  <a:pt x="5427189" y="5427189"/>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9" id="9"/>
          <p:cNvSpPr txBox="true"/>
          <p:nvPr/>
        </p:nvSpPr>
        <p:spPr>
          <a:xfrm rot="0">
            <a:off x="3550394" y="4064046"/>
            <a:ext cx="11187212" cy="362732"/>
          </a:xfrm>
          <a:prstGeom prst="rect">
            <a:avLst/>
          </a:prstGeom>
        </p:spPr>
        <p:txBody>
          <a:bodyPr anchor="t" rtlCol="false" tIns="0" lIns="0" bIns="0" rIns="0">
            <a:spAutoFit/>
          </a:bodyPr>
          <a:lstStyle/>
          <a:p>
            <a:pPr algn="ctr">
              <a:lnSpc>
                <a:spcPts val="3163"/>
              </a:lnSpc>
            </a:pPr>
            <a:r>
              <a:rPr lang="en-US" sz="3163">
                <a:solidFill>
                  <a:srgbClr val="191E6B"/>
                </a:solidFill>
                <a:latin typeface="Signika"/>
                <a:ea typeface="Signika"/>
                <a:cs typeface="Signika"/>
                <a:sym typeface="Signika"/>
              </a:rPr>
              <a:t>ipabilin ni 1 nga slide kay unja pako mag himo sa amoa</a:t>
            </a:r>
          </a:p>
        </p:txBody>
      </p:sp>
      <p:sp>
        <p:nvSpPr>
          <p:cNvPr name="TextBox 10" id="10"/>
          <p:cNvSpPr txBox="true"/>
          <p:nvPr/>
        </p:nvSpPr>
        <p:spPr>
          <a:xfrm rot="0">
            <a:off x="3423368" y="2367639"/>
            <a:ext cx="11441264" cy="1026911"/>
          </a:xfrm>
          <a:prstGeom prst="rect">
            <a:avLst/>
          </a:prstGeom>
        </p:spPr>
        <p:txBody>
          <a:bodyPr anchor="t" rtlCol="false" tIns="0" lIns="0" bIns="0" rIns="0">
            <a:spAutoFit/>
          </a:bodyPr>
          <a:lstStyle/>
          <a:p>
            <a:pPr algn="ctr">
              <a:lnSpc>
                <a:spcPts val="8915"/>
              </a:lnSpc>
            </a:pPr>
            <a:r>
              <a:rPr lang="en-US" b="true" sz="8915">
                <a:solidFill>
                  <a:srgbClr val="191E6B"/>
                </a:solidFill>
                <a:latin typeface="Space Mono Bold"/>
                <a:ea typeface="Space Mono Bold"/>
                <a:cs typeface="Space Mono Bold"/>
                <a:sym typeface="Space Mono Bold"/>
              </a:rPr>
              <a:t>IMPEDANCE </a:t>
            </a:r>
          </a:p>
        </p:txBody>
      </p:sp>
      <p:sp>
        <p:nvSpPr>
          <p:cNvPr name="TextBox 11" id="11"/>
          <p:cNvSpPr txBox="true"/>
          <p:nvPr/>
        </p:nvSpPr>
        <p:spPr>
          <a:xfrm rot="0">
            <a:off x="3097882" y="9163180"/>
            <a:ext cx="905023" cy="595146"/>
          </a:xfrm>
          <a:prstGeom prst="rect">
            <a:avLst/>
          </a:prstGeom>
        </p:spPr>
        <p:txBody>
          <a:bodyPr anchor="t" rtlCol="false" tIns="0" lIns="0" bIns="0" rIns="0">
            <a:spAutoFit/>
          </a:bodyPr>
          <a:lstStyle/>
          <a:p>
            <a:pPr algn="ctr">
              <a:lnSpc>
                <a:spcPts val="4405"/>
              </a:lnSpc>
            </a:pPr>
            <a:r>
              <a:rPr lang="en-US" b="true" sz="4405">
                <a:solidFill>
                  <a:srgbClr val="191E6B"/>
                </a:solidFill>
                <a:latin typeface="Space Mono Bold"/>
                <a:ea typeface="Space Mono Bold"/>
                <a:cs typeface="Space Mono Bold"/>
                <a:sym typeface="Space Mono Bold"/>
              </a:rPr>
              <a:t>10</a:t>
            </a:r>
          </a:p>
        </p:txBody>
      </p:sp>
      <p:sp>
        <p:nvSpPr>
          <p:cNvPr name="TextBox 12" id="12"/>
          <p:cNvSpPr txBox="true"/>
          <p:nvPr/>
        </p:nvSpPr>
        <p:spPr>
          <a:xfrm rot="0">
            <a:off x="4012430" y="9315450"/>
            <a:ext cx="6122817" cy="392812"/>
          </a:xfrm>
          <a:prstGeom prst="rect">
            <a:avLst/>
          </a:prstGeom>
        </p:spPr>
        <p:txBody>
          <a:bodyPr anchor="t" rtlCol="false" tIns="0" lIns="0" bIns="0" rIns="0">
            <a:spAutoFit/>
          </a:bodyPr>
          <a:lstStyle/>
          <a:p>
            <a:pPr algn="l">
              <a:lnSpc>
                <a:spcPts val="2983"/>
              </a:lnSpc>
            </a:pPr>
            <a:r>
              <a:rPr lang="en-US" sz="2983" b="true">
                <a:solidFill>
                  <a:srgbClr val="191E6B"/>
                </a:solidFill>
                <a:latin typeface="Space Mono Bold"/>
                <a:ea typeface="Space Mono Bold"/>
                <a:cs typeface="Space Mono Bold"/>
                <a:sym typeface="Space Mono Bold"/>
              </a:rPr>
              <a:t>SENSORS, WAVES &amp; DATA</a:t>
            </a:r>
          </a:p>
        </p:txBody>
      </p:sp>
      <p:sp>
        <p:nvSpPr>
          <p:cNvPr name="AutoShape 13" id="13"/>
          <p:cNvSpPr/>
          <p:nvPr/>
        </p:nvSpPr>
        <p:spPr>
          <a:xfrm>
            <a:off x="3097882" y="9106030"/>
            <a:ext cx="6492240" cy="0"/>
          </a:xfrm>
          <a:prstGeom prst="line">
            <a:avLst/>
          </a:prstGeom>
          <a:ln cap="flat" w="19050">
            <a:solidFill>
              <a:srgbClr val="000A47"/>
            </a:solidFill>
            <a:prstDash val="solid"/>
            <a:headEnd type="none" len="sm" w="sm"/>
            <a:tailEnd type="none" len="sm" w="sm"/>
          </a:ln>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0">
            <a:off x="-193102" y="-312319"/>
            <a:ext cx="18674204" cy="4634369"/>
            <a:chOff x="0" y="0"/>
            <a:chExt cx="4918309" cy="1220574"/>
          </a:xfrm>
        </p:grpSpPr>
        <p:sp>
          <p:nvSpPr>
            <p:cNvPr name="Freeform 4" id="4"/>
            <p:cNvSpPr/>
            <p:nvPr/>
          </p:nvSpPr>
          <p:spPr>
            <a:xfrm flipH="false" flipV="false" rot="0">
              <a:off x="0" y="0"/>
              <a:ext cx="4918309" cy="1220574"/>
            </a:xfrm>
            <a:custGeom>
              <a:avLst/>
              <a:gdLst/>
              <a:ahLst/>
              <a:cxnLst/>
              <a:rect r="r" b="b" t="t" l="l"/>
              <a:pathLst>
                <a:path h="1220574" w="4918309">
                  <a:moveTo>
                    <a:pt x="0" y="0"/>
                  </a:moveTo>
                  <a:lnTo>
                    <a:pt x="4918309" y="0"/>
                  </a:lnTo>
                  <a:lnTo>
                    <a:pt x="4918309" y="1220574"/>
                  </a:lnTo>
                  <a:lnTo>
                    <a:pt x="0" y="1220574"/>
                  </a:lnTo>
                  <a:close/>
                </a:path>
              </a:pathLst>
            </a:custGeom>
            <a:gradFill rotWithShape="true">
              <a:gsLst>
                <a:gs pos="0">
                  <a:srgbClr val="4DD8FF">
                    <a:alpha val="68000"/>
                  </a:srgbClr>
                </a:gs>
                <a:gs pos="100000">
                  <a:srgbClr val="0A1921">
                    <a:alpha val="0"/>
                  </a:srgbClr>
                </a:gs>
              </a:gsLst>
              <a:lin ang="5400000"/>
            </a:gradFill>
          </p:spPr>
        </p:sp>
        <p:sp>
          <p:nvSpPr>
            <p:cNvPr name="TextBox 5" id="5"/>
            <p:cNvSpPr txBox="true"/>
            <p:nvPr/>
          </p:nvSpPr>
          <p:spPr>
            <a:xfrm>
              <a:off x="0" y="9525"/>
              <a:ext cx="4918309" cy="1211049"/>
            </a:xfrm>
            <a:prstGeom prst="rect">
              <a:avLst/>
            </a:prstGeom>
          </p:spPr>
          <p:txBody>
            <a:bodyPr anchor="ctr" rtlCol="false" tIns="50800" lIns="50800" bIns="50800" rIns="50800"/>
            <a:lstStyle/>
            <a:p>
              <a:pPr algn="ctr">
                <a:lnSpc>
                  <a:spcPts val="2080"/>
                </a:lnSpc>
              </a:pPr>
            </a:p>
          </p:txBody>
        </p:sp>
      </p:grpSp>
      <p:sp>
        <p:nvSpPr>
          <p:cNvPr name="Freeform 6" id="6"/>
          <p:cNvSpPr/>
          <p:nvPr/>
        </p:nvSpPr>
        <p:spPr>
          <a:xfrm flipH="false" flipV="false" rot="0">
            <a:off x="-1345800" y="7883772"/>
            <a:ext cx="3471546" cy="3548978"/>
          </a:xfrm>
          <a:custGeom>
            <a:avLst/>
            <a:gdLst/>
            <a:ahLst/>
            <a:cxnLst/>
            <a:rect r="r" b="b" t="t" l="l"/>
            <a:pathLst>
              <a:path h="3548978" w="3471546">
                <a:moveTo>
                  <a:pt x="0" y="0"/>
                </a:moveTo>
                <a:lnTo>
                  <a:pt x="3471546" y="0"/>
                </a:lnTo>
                <a:lnTo>
                  <a:pt x="3471546" y="3548978"/>
                </a:lnTo>
                <a:lnTo>
                  <a:pt x="0" y="3548978"/>
                </a:lnTo>
                <a:lnTo>
                  <a:pt x="0" y="0"/>
                </a:lnTo>
                <a:close/>
              </a:path>
            </a:pathLst>
          </a:custGeom>
          <a:blipFill>
            <a:blip r:embed="rId3">
              <a:alphaModFix amt="42000"/>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false" rot="0">
            <a:off x="11992752" y="5407272"/>
            <a:ext cx="9793926" cy="6480614"/>
          </a:xfrm>
          <a:custGeom>
            <a:avLst/>
            <a:gdLst/>
            <a:ahLst/>
            <a:cxnLst/>
            <a:rect r="r" b="b" t="t" l="l"/>
            <a:pathLst>
              <a:path h="6480614" w="9793926">
                <a:moveTo>
                  <a:pt x="9793926" y="0"/>
                </a:moveTo>
                <a:lnTo>
                  <a:pt x="0" y="0"/>
                </a:lnTo>
                <a:lnTo>
                  <a:pt x="0" y="6480614"/>
                </a:lnTo>
                <a:lnTo>
                  <a:pt x="9793926" y="6480614"/>
                </a:lnTo>
                <a:lnTo>
                  <a:pt x="9793926"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8" id="8"/>
          <p:cNvGrpSpPr/>
          <p:nvPr/>
        </p:nvGrpSpPr>
        <p:grpSpPr>
          <a:xfrm rot="0">
            <a:off x="800525" y="562743"/>
            <a:ext cx="16773396" cy="651202"/>
            <a:chOff x="0" y="0"/>
            <a:chExt cx="4417685" cy="171510"/>
          </a:xfrm>
        </p:grpSpPr>
        <p:sp>
          <p:nvSpPr>
            <p:cNvPr name="Freeform 9" id="9"/>
            <p:cNvSpPr/>
            <p:nvPr/>
          </p:nvSpPr>
          <p:spPr>
            <a:xfrm flipH="false" flipV="false" rot="0">
              <a:off x="0" y="0"/>
              <a:ext cx="4417685" cy="171510"/>
            </a:xfrm>
            <a:custGeom>
              <a:avLst/>
              <a:gdLst/>
              <a:ahLst/>
              <a:cxnLst/>
              <a:rect r="r" b="b" t="t" l="l"/>
              <a:pathLst>
                <a:path h="171510" w="4417685">
                  <a:moveTo>
                    <a:pt x="6462" y="0"/>
                  </a:moveTo>
                  <a:lnTo>
                    <a:pt x="4411223" y="0"/>
                  </a:lnTo>
                  <a:cubicBezTo>
                    <a:pt x="4412936" y="0"/>
                    <a:pt x="4414580" y="681"/>
                    <a:pt x="4415792" y="1893"/>
                  </a:cubicBezTo>
                  <a:cubicBezTo>
                    <a:pt x="4417004" y="3104"/>
                    <a:pt x="4417685" y="4748"/>
                    <a:pt x="4417685" y="6462"/>
                  </a:cubicBezTo>
                  <a:lnTo>
                    <a:pt x="4417685" y="165048"/>
                  </a:lnTo>
                  <a:cubicBezTo>
                    <a:pt x="4417685" y="168617"/>
                    <a:pt x="4414791" y="171510"/>
                    <a:pt x="4411223" y="171510"/>
                  </a:cubicBezTo>
                  <a:lnTo>
                    <a:pt x="6462" y="171510"/>
                  </a:lnTo>
                  <a:cubicBezTo>
                    <a:pt x="4748" y="171510"/>
                    <a:pt x="3104" y="170829"/>
                    <a:pt x="1893" y="169617"/>
                  </a:cubicBezTo>
                  <a:cubicBezTo>
                    <a:pt x="681" y="168406"/>
                    <a:pt x="0" y="166762"/>
                    <a:pt x="0" y="165048"/>
                  </a:cubicBezTo>
                  <a:lnTo>
                    <a:pt x="0" y="6462"/>
                  </a:lnTo>
                  <a:cubicBezTo>
                    <a:pt x="0" y="4748"/>
                    <a:pt x="681" y="3104"/>
                    <a:pt x="1893" y="1893"/>
                  </a:cubicBezTo>
                  <a:cubicBezTo>
                    <a:pt x="3104" y="681"/>
                    <a:pt x="4748" y="0"/>
                    <a:pt x="6462" y="0"/>
                  </a:cubicBezTo>
                  <a:close/>
                </a:path>
              </a:pathLst>
            </a:custGeom>
            <a:ln w="38100" cap="sq">
              <a:gradFill>
                <a:gsLst>
                  <a:gs pos="0">
                    <a:srgbClr val="5DD3D8">
                      <a:alpha val="100000"/>
                    </a:srgbClr>
                  </a:gs>
                  <a:gs pos="100000">
                    <a:srgbClr val="006D97">
                      <a:alpha val="100000"/>
                    </a:srgbClr>
                  </a:gs>
                </a:gsLst>
                <a:lin ang="5400000"/>
              </a:gradFill>
              <a:prstDash val="solid"/>
              <a:miter/>
            </a:ln>
          </p:spPr>
        </p:sp>
        <p:sp>
          <p:nvSpPr>
            <p:cNvPr name="TextBox 10" id="10"/>
            <p:cNvSpPr txBox="true"/>
            <p:nvPr/>
          </p:nvSpPr>
          <p:spPr>
            <a:xfrm>
              <a:off x="0" y="-38100"/>
              <a:ext cx="4417685" cy="209610"/>
            </a:xfrm>
            <a:prstGeom prst="rect">
              <a:avLst/>
            </a:prstGeom>
          </p:spPr>
          <p:txBody>
            <a:bodyPr anchor="ctr" rtlCol="false" tIns="50800" lIns="50800" bIns="50800" rIns="50800"/>
            <a:lstStyle/>
            <a:p>
              <a:pPr algn="ctr">
                <a:lnSpc>
                  <a:spcPts val="3499"/>
                </a:lnSpc>
              </a:pPr>
            </a:p>
          </p:txBody>
        </p:sp>
      </p:grpSp>
      <p:sp>
        <p:nvSpPr>
          <p:cNvPr name="TextBox 11" id="11"/>
          <p:cNvSpPr txBox="true"/>
          <p:nvPr/>
        </p:nvSpPr>
        <p:spPr>
          <a:xfrm rot="0">
            <a:off x="15678895" y="699741"/>
            <a:ext cx="1467181" cy="316263"/>
          </a:xfrm>
          <a:prstGeom prst="rect">
            <a:avLst/>
          </a:prstGeom>
        </p:spPr>
        <p:txBody>
          <a:bodyPr anchor="t" rtlCol="false" tIns="0" lIns="0" bIns="0" rIns="0">
            <a:spAutoFit/>
          </a:bodyPr>
          <a:lstStyle/>
          <a:p>
            <a:pPr algn="l">
              <a:lnSpc>
                <a:spcPts val="2520"/>
              </a:lnSpc>
            </a:pPr>
            <a:r>
              <a:rPr lang="en-US" sz="1800">
                <a:solidFill>
                  <a:srgbClr val="FFFFFF"/>
                </a:solidFill>
                <a:latin typeface="Tomorrow"/>
                <a:ea typeface="Tomorrow"/>
                <a:cs typeface="Tomorrow"/>
                <a:sym typeface="Tomorrow"/>
              </a:rPr>
              <a:t>NEXT PAGE</a:t>
            </a:r>
          </a:p>
        </p:txBody>
      </p:sp>
      <p:grpSp>
        <p:nvGrpSpPr>
          <p:cNvPr name="Group 12" id="12"/>
          <p:cNvGrpSpPr/>
          <p:nvPr/>
        </p:nvGrpSpPr>
        <p:grpSpPr>
          <a:xfrm rot="5400000">
            <a:off x="17078240" y="828987"/>
            <a:ext cx="135674" cy="118714"/>
            <a:chOff x="0" y="0"/>
            <a:chExt cx="812800" cy="711200"/>
          </a:xfrm>
        </p:grpSpPr>
        <p:sp>
          <p:nvSpPr>
            <p:cNvPr name="Freeform 13" id="13"/>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5DD3D8"/>
            </a:solidFill>
          </p:spPr>
        </p:sp>
        <p:sp>
          <p:nvSpPr>
            <p:cNvPr name="TextBox 14" id="14"/>
            <p:cNvSpPr txBox="true"/>
            <p:nvPr/>
          </p:nvSpPr>
          <p:spPr>
            <a:xfrm>
              <a:off x="127000" y="292100"/>
              <a:ext cx="558800" cy="368300"/>
            </a:xfrm>
            <a:prstGeom prst="rect">
              <a:avLst/>
            </a:prstGeom>
          </p:spPr>
          <p:txBody>
            <a:bodyPr anchor="ctr" rtlCol="false" tIns="50800" lIns="50800" bIns="50800" rIns="50800"/>
            <a:lstStyle/>
            <a:p>
              <a:pPr algn="ctr">
                <a:lnSpc>
                  <a:spcPts val="3499"/>
                </a:lnSpc>
              </a:pPr>
            </a:p>
          </p:txBody>
        </p:sp>
      </p:grpSp>
      <p:sp>
        <p:nvSpPr>
          <p:cNvPr name="TextBox 15" id="15"/>
          <p:cNvSpPr txBox="true"/>
          <p:nvPr/>
        </p:nvSpPr>
        <p:spPr>
          <a:xfrm rot="0">
            <a:off x="-1671644" y="2709200"/>
            <a:ext cx="10425363" cy="1939331"/>
          </a:xfrm>
          <a:prstGeom prst="rect">
            <a:avLst/>
          </a:prstGeom>
        </p:spPr>
        <p:txBody>
          <a:bodyPr anchor="t" rtlCol="false" tIns="0" lIns="0" bIns="0" rIns="0">
            <a:spAutoFit/>
          </a:bodyPr>
          <a:lstStyle/>
          <a:p>
            <a:pPr algn="ctr">
              <a:lnSpc>
                <a:spcPts val="15892"/>
              </a:lnSpc>
            </a:pPr>
            <a:r>
              <a:rPr lang="en-US" b="true" sz="11351" i="true">
                <a:gradFill>
                  <a:gsLst>
                    <a:gs pos="0">
                      <a:srgbClr val="5DD3D8">
                        <a:alpha val="100000"/>
                      </a:srgbClr>
                    </a:gs>
                    <a:gs pos="100000">
                      <a:srgbClr val="006D97">
                        <a:alpha val="100000"/>
                      </a:srgbClr>
                    </a:gs>
                  </a:gsLst>
                  <a:lin ang="5400000"/>
                </a:gradFill>
                <a:latin typeface="Pattanakarn Bold Italics"/>
                <a:ea typeface="Pattanakarn Bold Italics"/>
                <a:cs typeface="Pattanakarn Bold Italics"/>
                <a:sym typeface="Pattanakarn Bold Italics"/>
              </a:rPr>
              <a:t>THE</a:t>
            </a:r>
          </a:p>
        </p:txBody>
      </p:sp>
      <p:sp>
        <p:nvSpPr>
          <p:cNvPr name="TextBox 16" id="16"/>
          <p:cNvSpPr txBox="true"/>
          <p:nvPr/>
        </p:nvSpPr>
        <p:spPr>
          <a:xfrm rot="0">
            <a:off x="2356650" y="3682483"/>
            <a:ext cx="14730069" cy="1939331"/>
          </a:xfrm>
          <a:prstGeom prst="rect">
            <a:avLst/>
          </a:prstGeom>
        </p:spPr>
        <p:txBody>
          <a:bodyPr anchor="t" rtlCol="false" tIns="0" lIns="0" bIns="0" rIns="0">
            <a:spAutoFit/>
          </a:bodyPr>
          <a:lstStyle/>
          <a:p>
            <a:pPr algn="ctr">
              <a:lnSpc>
                <a:spcPts val="15892"/>
              </a:lnSpc>
            </a:pPr>
            <a:r>
              <a:rPr lang="en-US" b="true" sz="11351" i="true">
                <a:gradFill>
                  <a:gsLst>
                    <a:gs pos="0">
                      <a:srgbClr val="A6A6A6">
                        <a:alpha val="100000"/>
                      </a:srgbClr>
                    </a:gs>
                    <a:gs pos="100000">
                      <a:srgbClr val="FFFFFF">
                        <a:alpha val="100000"/>
                      </a:srgbClr>
                    </a:gs>
                  </a:gsLst>
                  <a:lin ang="5400000"/>
                </a:gradFill>
                <a:latin typeface="Pattanakarn Bold Italics"/>
                <a:ea typeface="Pattanakarn Bold Italics"/>
                <a:cs typeface="Pattanakarn Bold Italics"/>
                <a:sym typeface="Pattanakarn Bold Italics"/>
              </a:rPr>
              <a:t>NON INVERTING</a:t>
            </a:r>
          </a:p>
        </p:txBody>
      </p:sp>
      <p:sp>
        <p:nvSpPr>
          <p:cNvPr name="TextBox 17" id="17"/>
          <p:cNvSpPr txBox="true"/>
          <p:nvPr/>
        </p:nvSpPr>
        <p:spPr>
          <a:xfrm rot="0">
            <a:off x="13799223" y="3213880"/>
            <a:ext cx="3090492" cy="687678"/>
          </a:xfrm>
          <a:prstGeom prst="rect">
            <a:avLst/>
          </a:prstGeom>
        </p:spPr>
        <p:txBody>
          <a:bodyPr anchor="t" rtlCol="false" tIns="0" lIns="0" bIns="0" rIns="0">
            <a:spAutoFit/>
          </a:bodyPr>
          <a:lstStyle/>
          <a:p>
            <a:pPr algn="l">
              <a:lnSpc>
                <a:spcPts val="5671"/>
              </a:lnSpc>
            </a:pPr>
            <a:r>
              <a:rPr lang="en-US" sz="4051">
                <a:solidFill>
                  <a:srgbClr val="FFFFFF"/>
                </a:solidFill>
                <a:latin typeface="Tomorrow"/>
                <a:ea typeface="Tomorrow"/>
                <a:cs typeface="Tomorrow"/>
                <a:sym typeface="Tomorrow"/>
              </a:rPr>
              <a:t>AMPLIFIER</a:t>
            </a:r>
          </a:p>
        </p:txBody>
      </p:sp>
      <p:sp>
        <p:nvSpPr>
          <p:cNvPr name="TextBox 18" id="18"/>
          <p:cNvSpPr txBox="true"/>
          <p:nvPr/>
        </p:nvSpPr>
        <p:spPr>
          <a:xfrm rot="0">
            <a:off x="2884169" y="5564664"/>
            <a:ext cx="13891869" cy="852142"/>
          </a:xfrm>
          <a:prstGeom prst="rect">
            <a:avLst/>
          </a:prstGeom>
        </p:spPr>
        <p:txBody>
          <a:bodyPr anchor="t" rtlCol="false" tIns="0" lIns="0" bIns="0" rIns="0">
            <a:spAutoFit/>
          </a:bodyPr>
          <a:lstStyle/>
          <a:p>
            <a:pPr algn="l">
              <a:lnSpc>
                <a:spcPts val="3431"/>
              </a:lnSpc>
            </a:pPr>
            <a:r>
              <a:rPr lang="en-US" sz="2451">
                <a:solidFill>
                  <a:srgbClr val="FFFFFF"/>
                </a:solidFill>
                <a:latin typeface="Tomorrow"/>
                <a:ea typeface="Tomorrow"/>
                <a:cs typeface="Tomorrow"/>
                <a:sym typeface="Tomorrow"/>
              </a:rPr>
              <a:t>D</a:t>
            </a:r>
            <a:r>
              <a:rPr lang="en-US" sz="2451">
                <a:solidFill>
                  <a:srgbClr val="FFFFFF"/>
                </a:solidFill>
                <a:latin typeface="Tomorrow"/>
                <a:ea typeface="Tomorrow"/>
                <a:cs typeface="Tomorrow"/>
                <a:sym typeface="Tomorrow"/>
              </a:rPr>
              <a:t>efinition, Basic Circuit and Operation, Virtual Short and Solved problems</a:t>
            </a:r>
          </a:p>
          <a:p>
            <a:pPr algn="l">
              <a:lnSpc>
                <a:spcPts val="3431"/>
              </a:lnSpc>
            </a:pPr>
          </a:p>
        </p:txBody>
      </p:sp>
      <p:sp>
        <p:nvSpPr>
          <p:cNvPr name="TextBox 19" id="19"/>
          <p:cNvSpPr txBox="true"/>
          <p:nvPr/>
        </p:nvSpPr>
        <p:spPr>
          <a:xfrm rot="0">
            <a:off x="1218062" y="699741"/>
            <a:ext cx="3332215" cy="316263"/>
          </a:xfrm>
          <a:prstGeom prst="rect">
            <a:avLst/>
          </a:prstGeom>
        </p:spPr>
        <p:txBody>
          <a:bodyPr anchor="t" rtlCol="false" tIns="0" lIns="0" bIns="0" rIns="0">
            <a:spAutoFit/>
          </a:bodyPr>
          <a:lstStyle/>
          <a:p>
            <a:pPr algn="l">
              <a:lnSpc>
                <a:spcPts val="2520"/>
              </a:lnSpc>
            </a:pPr>
            <a:r>
              <a:rPr lang="en-US" sz="1800">
                <a:solidFill>
                  <a:srgbClr val="FFFFFF"/>
                </a:solidFill>
                <a:latin typeface="Tomorrow"/>
                <a:ea typeface="Tomorrow"/>
                <a:cs typeface="Tomorrow"/>
                <a:sym typeface="Tomorrow"/>
              </a:rPr>
              <a:t>C</a:t>
            </a:r>
            <a:r>
              <a:rPr lang="en-US" sz="1800">
                <a:solidFill>
                  <a:srgbClr val="FFFFFF"/>
                </a:solidFill>
                <a:latin typeface="Tomorrow"/>
                <a:ea typeface="Tomorrow"/>
                <a:cs typeface="Tomorrow"/>
                <a:sym typeface="Tomorrow"/>
              </a:rPr>
              <a:t>IRCUIT NETWORKS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333" r="0" b="-9333"/>
            </a:stretch>
          </a:blipFill>
        </p:spPr>
      </p:sp>
      <p:grpSp>
        <p:nvGrpSpPr>
          <p:cNvPr name="Group 3" id="3"/>
          <p:cNvGrpSpPr/>
          <p:nvPr/>
        </p:nvGrpSpPr>
        <p:grpSpPr>
          <a:xfrm rot="0">
            <a:off x="-193102" y="-312319"/>
            <a:ext cx="18674204" cy="4634369"/>
            <a:chOff x="0" y="0"/>
            <a:chExt cx="4918309" cy="1220574"/>
          </a:xfrm>
        </p:grpSpPr>
        <p:sp>
          <p:nvSpPr>
            <p:cNvPr name="Freeform 4" id="4"/>
            <p:cNvSpPr/>
            <p:nvPr/>
          </p:nvSpPr>
          <p:spPr>
            <a:xfrm flipH="false" flipV="false" rot="0">
              <a:off x="0" y="0"/>
              <a:ext cx="4918309" cy="1220574"/>
            </a:xfrm>
            <a:custGeom>
              <a:avLst/>
              <a:gdLst/>
              <a:ahLst/>
              <a:cxnLst/>
              <a:rect r="r" b="b" t="t" l="l"/>
              <a:pathLst>
                <a:path h="1220574" w="4918309">
                  <a:moveTo>
                    <a:pt x="0" y="0"/>
                  </a:moveTo>
                  <a:lnTo>
                    <a:pt x="4918309" y="0"/>
                  </a:lnTo>
                  <a:lnTo>
                    <a:pt x="4918309" y="1220574"/>
                  </a:lnTo>
                  <a:lnTo>
                    <a:pt x="0" y="1220574"/>
                  </a:lnTo>
                  <a:close/>
                </a:path>
              </a:pathLst>
            </a:custGeom>
            <a:gradFill rotWithShape="true">
              <a:gsLst>
                <a:gs pos="0">
                  <a:srgbClr val="4DD8FF">
                    <a:alpha val="68000"/>
                  </a:srgbClr>
                </a:gs>
                <a:gs pos="100000">
                  <a:srgbClr val="0A1921">
                    <a:alpha val="0"/>
                  </a:srgbClr>
                </a:gs>
              </a:gsLst>
              <a:lin ang="5400000"/>
            </a:gradFill>
          </p:spPr>
        </p:sp>
        <p:sp>
          <p:nvSpPr>
            <p:cNvPr name="TextBox 5" id="5"/>
            <p:cNvSpPr txBox="true"/>
            <p:nvPr/>
          </p:nvSpPr>
          <p:spPr>
            <a:xfrm>
              <a:off x="0" y="9525"/>
              <a:ext cx="4918309" cy="1211049"/>
            </a:xfrm>
            <a:prstGeom prst="rect">
              <a:avLst/>
            </a:prstGeom>
          </p:spPr>
          <p:txBody>
            <a:bodyPr anchor="ctr" rtlCol="false" tIns="50800" lIns="50800" bIns="50800" rIns="50800"/>
            <a:lstStyle/>
            <a:p>
              <a:pPr algn="ctr">
                <a:lnSpc>
                  <a:spcPts val="2080"/>
                </a:lnSpc>
              </a:pPr>
            </a:p>
          </p:txBody>
        </p:sp>
      </p:grpSp>
      <p:grpSp>
        <p:nvGrpSpPr>
          <p:cNvPr name="Group 6" id="6"/>
          <p:cNvGrpSpPr/>
          <p:nvPr/>
        </p:nvGrpSpPr>
        <p:grpSpPr>
          <a:xfrm rot="0">
            <a:off x="800525" y="562743"/>
            <a:ext cx="16773396" cy="651202"/>
            <a:chOff x="0" y="0"/>
            <a:chExt cx="4417685" cy="171510"/>
          </a:xfrm>
        </p:grpSpPr>
        <p:sp>
          <p:nvSpPr>
            <p:cNvPr name="Freeform 7" id="7"/>
            <p:cNvSpPr/>
            <p:nvPr/>
          </p:nvSpPr>
          <p:spPr>
            <a:xfrm flipH="false" flipV="false" rot="0">
              <a:off x="0" y="0"/>
              <a:ext cx="4417685" cy="171510"/>
            </a:xfrm>
            <a:custGeom>
              <a:avLst/>
              <a:gdLst/>
              <a:ahLst/>
              <a:cxnLst/>
              <a:rect r="r" b="b" t="t" l="l"/>
              <a:pathLst>
                <a:path h="171510" w="4417685">
                  <a:moveTo>
                    <a:pt x="6462" y="0"/>
                  </a:moveTo>
                  <a:lnTo>
                    <a:pt x="4411223" y="0"/>
                  </a:lnTo>
                  <a:cubicBezTo>
                    <a:pt x="4412936" y="0"/>
                    <a:pt x="4414580" y="681"/>
                    <a:pt x="4415792" y="1893"/>
                  </a:cubicBezTo>
                  <a:cubicBezTo>
                    <a:pt x="4417004" y="3104"/>
                    <a:pt x="4417685" y="4748"/>
                    <a:pt x="4417685" y="6462"/>
                  </a:cubicBezTo>
                  <a:lnTo>
                    <a:pt x="4417685" y="165048"/>
                  </a:lnTo>
                  <a:cubicBezTo>
                    <a:pt x="4417685" y="168617"/>
                    <a:pt x="4414791" y="171510"/>
                    <a:pt x="4411223" y="171510"/>
                  </a:cubicBezTo>
                  <a:lnTo>
                    <a:pt x="6462" y="171510"/>
                  </a:lnTo>
                  <a:cubicBezTo>
                    <a:pt x="4748" y="171510"/>
                    <a:pt x="3104" y="170829"/>
                    <a:pt x="1893" y="169617"/>
                  </a:cubicBezTo>
                  <a:cubicBezTo>
                    <a:pt x="681" y="168406"/>
                    <a:pt x="0" y="166762"/>
                    <a:pt x="0" y="165048"/>
                  </a:cubicBezTo>
                  <a:lnTo>
                    <a:pt x="0" y="6462"/>
                  </a:lnTo>
                  <a:cubicBezTo>
                    <a:pt x="0" y="4748"/>
                    <a:pt x="681" y="3104"/>
                    <a:pt x="1893" y="1893"/>
                  </a:cubicBezTo>
                  <a:cubicBezTo>
                    <a:pt x="3104" y="681"/>
                    <a:pt x="4748" y="0"/>
                    <a:pt x="6462" y="0"/>
                  </a:cubicBezTo>
                  <a:close/>
                </a:path>
              </a:pathLst>
            </a:custGeom>
            <a:ln w="38100" cap="sq">
              <a:gradFill>
                <a:gsLst>
                  <a:gs pos="0">
                    <a:srgbClr val="5DD3D8">
                      <a:alpha val="100000"/>
                    </a:srgbClr>
                  </a:gs>
                  <a:gs pos="100000">
                    <a:srgbClr val="006D97">
                      <a:alpha val="100000"/>
                    </a:srgbClr>
                  </a:gs>
                </a:gsLst>
                <a:lin ang="5400000"/>
              </a:gradFill>
              <a:prstDash val="solid"/>
              <a:miter/>
            </a:ln>
          </p:spPr>
        </p:sp>
        <p:sp>
          <p:nvSpPr>
            <p:cNvPr name="TextBox 8" id="8"/>
            <p:cNvSpPr txBox="true"/>
            <p:nvPr/>
          </p:nvSpPr>
          <p:spPr>
            <a:xfrm>
              <a:off x="0" y="-38100"/>
              <a:ext cx="4417685" cy="209610"/>
            </a:xfrm>
            <a:prstGeom prst="rect">
              <a:avLst/>
            </a:prstGeom>
          </p:spPr>
          <p:txBody>
            <a:bodyPr anchor="ctr" rtlCol="false" tIns="50800" lIns="50800" bIns="50800" rIns="50800"/>
            <a:lstStyle/>
            <a:p>
              <a:pPr algn="ctr">
                <a:lnSpc>
                  <a:spcPts val="3499"/>
                </a:lnSpc>
              </a:pPr>
            </a:p>
          </p:txBody>
        </p:sp>
      </p:grpSp>
      <p:sp>
        <p:nvSpPr>
          <p:cNvPr name="TextBox 9" id="9"/>
          <p:cNvSpPr txBox="true"/>
          <p:nvPr/>
        </p:nvSpPr>
        <p:spPr>
          <a:xfrm rot="0">
            <a:off x="15678895" y="699741"/>
            <a:ext cx="1467181" cy="316263"/>
          </a:xfrm>
          <a:prstGeom prst="rect">
            <a:avLst/>
          </a:prstGeom>
        </p:spPr>
        <p:txBody>
          <a:bodyPr anchor="t" rtlCol="false" tIns="0" lIns="0" bIns="0" rIns="0">
            <a:spAutoFit/>
          </a:bodyPr>
          <a:lstStyle/>
          <a:p>
            <a:pPr algn="l">
              <a:lnSpc>
                <a:spcPts val="2520"/>
              </a:lnSpc>
            </a:pPr>
            <a:r>
              <a:rPr lang="en-US" sz="1800">
                <a:solidFill>
                  <a:srgbClr val="FFFFFF"/>
                </a:solidFill>
                <a:latin typeface="Tomorrow"/>
                <a:ea typeface="Tomorrow"/>
                <a:cs typeface="Tomorrow"/>
                <a:sym typeface="Tomorrow"/>
              </a:rPr>
              <a:t>NEXT PAGE</a:t>
            </a:r>
          </a:p>
        </p:txBody>
      </p:sp>
      <p:grpSp>
        <p:nvGrpSpPr>
          <p:cNvPr name="Group 10" id="10"/>
          <p:cNvGrpSpPr/>
          <p:nvPr/>
        </p:nvGrpSpPr>
        <p:grpSpPr>
          <a:xfrm rot="5400000">
            <a:off x="17078240" y="828987"/>
            <a:ext cx="135674" cy="118714"/>
            <a:chOff x="0" y="0"/>
            <a:chExt cx="812800" cy="711200"/>
          </a:xfrm>
        </p:grpSpPr>
        <p:sp>
          <p:nvSpPr>
            <p:cNvPr name="Freeform 11" id="11"/>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5DD3D8"/>
            </a:solidFill>
          </p:spPr>
        </p:sp>
        <p:sp>
          <p:nvSpPr>
            <p:cNvPr name="TextBox 12" id="12"/>
            <p:cNvSpPr txBox="true"/>
            <p:nvPr/>
          </p:nvSpPr>
          <p:spPr>
            <a:xfrm>
              <a:off x="127000" y="292100"/>
              <a:ext cx="558800" cy="368300"/>
            </a:xfrm>
            <a:prstGeom prst="rect">
              <a:avLst/>
            </a:prstGeom>
          </p:spPr>
          <p:txBody>
            <a:bodyPr anchor="ctr" rtlCol="false" tIns="50800" lIns="50800" bIns="50800" rIns="50800"/>
            <a:lstStyle/>
            <a:p>
              <a:pPr algn="ctr">
                <a:lnSpc>
                  <a:spcPts val="3499"/>
                </a:lnSpc>
              </a:pPr>
            </a:p>
          </p:txBody>
        </p:sp>
      </p:grpSp>
      <p:sp>
        <p:nvSpPr>
          <p:cNvPr name="TextBox 13" id="13"/>
          <p:cNvSpPr txBox="true"/>
          <p:nvPr/>
        </p:nvSpPr>
        <p:spPr>
          <a:xfrm rot="0">
            <a:off x="1218062" y="699741"/>
            <a:ext cx="3332215" cy="316263"/>
          </a:xfrm>
          <a:prstGeom prst="rect">
            <a:avLst/>
          </a:prstGeom>
        </p:spPr>
        <p:txBody>
          <a:bodyPr anchor="t" rtlCol="false" tIns="0" lIns="0" bIns="0" rIns="0">
            <a:spAutoFit/>
          </a:bodyPr>
          <a:lstStyle/>
          <a:p>
            <a:pPr algn="l">
              <a:lnSpc>
                <a:spcPts val="2520"/>
              </a:lnSpc>
            </a:pPr>
            <a:r>
              <a:rPr lang="en-US" sz="1800">
                <a:solidFill>
                  <a:srgbClr val="FFFFFF"/>
                </a:solidFill>
                <a:latin typeface="Tomorrow"/>
                <a:ea typeface="Tomorrow"/>
                <a:cs typeface="Tomorrow"/>
                <a:sym typeface="Tomorrow"/>
              </a:rPr>
              <a:t>C</a:t>
            </a:r>
            <a:r>
              <a:rPr lang="en-US" sz="1800">
                <a:solidFill>
                  <a:srgbClr val="FFFFFF"/>
                </a:solidFill>
                <a:latin typeface="Tomorrow"/>
                <a:ea typeface="Tomorrow"/>
                <a:cs typeface="Tomorrow"/>
                <a:sym typeface="Tomorrow"/>
              </a:rPr>
              <a:t>IRCUIT NETWORKS</a:t>
            </a:r>
          </a:p>
        </p:txBody>
      </p:sp>
      <p:sp>
        <p:nvSpPr>
          <p:cNvPr name="TextBox 14" id="14"/>
          <p:cNvSpPr txBox="true"/>
          <p:nvPr/>
        </p:nvSpPr>
        <p:spPr>
          <a:xfrm rot="0">
            <a:off x="-193102" y="1323946"/>
            <a:ext cx="10834728" cy="2830030"/>
          </a:xfrm>
          <a:prstGeom prst="rect">
            <a:avLst/>
          </a:prstGeom>
        </p:spPr>
        <p:txBody>
          <a:bodyPr anchor="t" rtlCol="false" tIns="0" lIns="0" bIns="0" rIns="0">
            <a:spAutoFit/>
          </a:bodyPr>
          <a:lstStyle/>
          <a:p>
            <a:pPr algn="ctr">
              <a:lnSpc>
                <a:spcPts val="11396"/>
              </a:lnSpc>
              <a:spcBef>
                <a:spcPct val="0"/>
              </a:spcBef>
            </a:pPr>
            <a:r>
              <a:rPr lang="en-US" sz="8140">
                <a:solidFill>
                  <a:srgbClr val="FFFFFF"/>
                </a:solidFill>
                <a:latin typeface="Tomorrow"/>
                <a:ea typeface="Tomorrow"/>
                <a:cs typeface="Tomorrow"/>
                <a:sym typeface="Tomorrow"/>
              </a:rPr>
              <a:t> NON INVERTING AMPLIFIER</a:t>
            </a:r>
          </a:p>
        </p:txBody>
      </p:sp>
      <p:grpSp>
        <p:nvGrpSpPr>
          <p:cNvPr name="Group 15" id="15"/>
          <p:cNvGrpSpPr/>
          <p:nvPr/>
        </p:nvGrpSpPr>
        <p:grpSpPr>
          <a:xfrm rot="0">
            <a:off x="4456041" y="4416377"/>
            <a:ext cx="16486494" cy="4688843"/>
            <a:chOff x="0" y="0"/>
            <a:chExt cx="4342122" cy="1234922"/>
          </a:xfrm>
        </p:grpSpPr>
        <p:sp>
          <p:nvSpPr>
            <p:cNvPr name="Freeform 16" id="16"/>
            <p:cNvSpPr/>
            <p:nvPr/>
          </p:nvSpPr>
          <p:spPr>
            <a:xfrm flipH="false" flipV="false" rot="0">
              <a:off x="0" y="0"/>
              <a:ext cx="4342122" cy="1234922"/>
            </a:xfrm>
            <a:custGeom>
              <a:avLst/>
              <a:gdLst/>
              <a:ahLst/>
              <a:cxnLst/>
              <a:rect r="r" b="b" t="t" l="l"/>
              <a:pathLst>
                <a:path h="1234922" w="4342122">
                  <a:moveTo>
                    <a:pt x="14088" y="0"/>
                  </a:moveTo>
                  <a:lnTo>
                    <a:pt x="4328034" y="0"/>
                  </a:lnTo>
                  <a:cubicBezTo>
                    <a:pt x="4335814" y="0"/>
                    <a:pt x="4342122" y="6307"/>
                    <a:pt x="4342122" y="14088"/>
                  </a:cubicBezTo>
                  <a:lnTo>
                    <a:pt x="4342122" y="1220834"/>
                  </a:lnTo>
                  <a:cubicBezTo>
                    <a:pt x="4342122" y="1228614"/>
                    <a:pt x="4335814" y="1234922"/>
                    <a:pt x="4328034" y="1234922"/>
                  </a:cubicBezTo>
                  <a:lnTo>
                    <a:pt x="14088" y="1234922"/>
                  </a:lnTo>
                  <a:cubicBezTo>
                    <a:pt x="6307" y="1234922"/>
                    <a:pt x="0" y="1228614"/>
                    <a:pt x="0" y="1220834"/>
                  </a:cubicBezTo>
                  <a:lnTo>
                    <a:pt x="0" y="14088"/>
                  </a:lnTo>
                  <a:cubicBezTo>
                    <a:pt x="0" y="6307"/>
                    <a:pt x="6307" y="0"/>
                    <a:pt x="14088" y="0"/>
                  </a:cubicBezTo>
                  <a:close/>
                </a:path>
              </a:pathLst>
            </a:custGeom>
            <a:gradFill rotWithShape="true">
              <a:gsLst>
                <a:gs pos="0">
                  <a:srgbClr val="5DD3D8">
                    <a:alpha val="100000"/>
                  </a:srgbClr>
                </a:gs>
                <a:gs pos="100000">
                  <a:srgbClr val="006D97">
                    <a:alpha val="100000"/>
                  </a:srgbClr>
                </a:gs>
              </a:gsLst>
              <a:lin ang="0"/>
            </a:gradFill>
          </p:spPr>
        </p:sp>
        <p:sp>
          <p:nvSpPr>
            <p:cNvPr name="TextBox 17" id="17"/>
            <p:cNvSpPr txBox="true"/>
            <p:nvPr/>
          </p:nvSpPr>
          <p:spPr>
            <a:xfrm>
              <a:off x="0" y="-38100"/>
              <a:ext cx="4342122" cy="1273022"/>
            </a:xfrm>
            <a:prstGeom prst="rect">
              <a:avLst/>
            </a:prstGeom>
          </p:spPr>
          <p:txBody>
            <a:bodyPr anchor="ctr" rtlCol="false" tIns="50800" lIns="50800" bIns="50800" rIns="50800"/>
            <a:lstStyle/>
            <a:p>
              <a:pPr algn="ctr">
                <a:lnSpc>
                  <a:spcPts val="3499"/>
                </a:lnSpc>
              </a:pPr>
            </a:p>
          </p:txBody>
        </p:sp>
      </p:grpSp>
      <p:sp>
        <p:nvSpPr>
          <p:cNvPr name="Freeform 18" id="18"/>
          <p:cNvSpPr/>
          <p:nvPr/>
        </p:nvSpPr>
        <p:spPr>
          <a:xfrm flipH="false" flipV="false" rot="0">
            <a:off x="-1515106" y="5457132"/>
            <a:ext cx="9793926" cy="6480614"/>
          </a:xfrm>
          <a:custGeom>
            <a:avLst/>
            <a:gdLst/>
            <a:ahLst/>
            <a:cxnLst/>
            <a:rect r="r" b="b" t="t" l="l"/>
            <a:pathLst>
              <a:path h="6480614" w="9793926">
                <a:moveTo>
                  <a:pt x="0" y="0"/>
                </a:moveTo>
                <a:lnTo>
                  <a:pt x="9793926" y="0"/>
                </a:lnTo>
                <a:lnTo>
                  <a:pt x="9793926" y="6480613"/>
                </a:lnTo>
                <a:lnTo>
                  <a:pt x="0" y="648061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9" id="19"/>
          <p:cNvSpPr txBox="true"/>
          <p:nvPr/>
        </p:nvSpPr>
        <p:spPr>
          <a:xfrm rot="0">
            <a:off x="4828946" y="4907868"/>
            <a:ext cx="13298798" cy="3648711"/>
          </a:xfrm>
          <a:prstGeom prst="rect">
            <a:avLst/>
          </a:prstGeom>
        </p:spPr>
        <p:txBody>
          <a:bodyPr anchor="t" rtlCol="false" tIns="0" lIns="0" bIns="0" rIns="0">
            <a:spAutoFit/>
          </a:bodyPr>
          <a:lstStyle/>
          <a:p>
            <a:pPr algn="l">
              <a:lnSpc>
                <a:spcPts val="3639"/>
              </a:lnSpc>
              <a:spcBef>
                <a:spcPct val="0"/>
              </a:spcBef>
            </a:pPr>
            <a:r>
              <a:rPr lang="en-US" sz="2599">
                <a:solidFill>
                  <a:srgbClr val="FFFFFF"/>
                </a:solidFill>
                <a:latin typeface="Tomorrow"/>
                <a:ea typeface="Tomorrow"/>
                <a:cs typeface="Tomorrow"/>
                <a:sym typeface="Tomorrow"/>
              </a:rPr>
              <a:t>A NON INVERTING AMPLIFIER IS A BASIC OPERATIONAL-AMPLIFIER CIRCUIT USED TO INCREASE THE VOLTAGE OF AN INPUT SIGNAL. THE INPUT SIGNAL IS CONNECTED TO THE NON INVERTING TERMINAL, MARKED WITH A PLUS SIGN.</a:t>
            </a:r>
          </a:p>
          <a:p>
            <a:pPr algn="l">
              <a:lnSpc>
                <a:spcPts val="3639"/>
              </a:lnSpc>
              <a:spcBef>
                <a:spcPct val="0"/>
              </a:spcBef>
            </a:pPr>
            <a:r>
              <a:rPr lang="en-US" sz="2599">
                <a:solidFill>
                  <a:srgbClr val="FFFFFF"/>
                </a:solidFill>
                <a:latin typeface="Tomorrow"/>
                <a:ea typeface="Tomorrow"/>
                <a:cs typeface="Tomorrow"/>
                <a:sym typeface="Tomorrow"/>
              </a:rPr>
              <a:t>THE OUTPUT SIGNAL IS AMPLIFIED AND REMAINS IN PHASE WITH THE INPUT SIGNAL. THIS MEANS THAT THE OUTPUT DOES NOT REVERSE ITS POLARITY.</a:t>
            </a:r>
          </a:p>
          <a:p>
            <a:pPr algn="l">
              <a:lnSpc>
                <a:spcPts val="3639"/>
              </a:lnSpc>
              <a:spcBef>
                <a:spcPct val="0"/>
              </a:spcBef>
            </a:pPr>
            <a:r>
              <a:rPr lang="en-US" sz="2599">
                <a:solidFill>
                  <a:srgbClr val="FFFFFF"/>
                </a:solidFill>
                <a:latin typeface="Tomorrow"/>
                <a:ea typeface="Tomorrow"/>
                <a:cs typeface="Tomorrow"/>
                <a:sym typeface="Tomorrow"/>
              </a:rPr>
              <a:t>THE CIRCUIT USES NEGATIVE FEEDBACK TO STABILIZE ITS VOLTAGE GAIN. NEGATIVE FEEDBACK ALSO INCREASES THE INPUT IMPEDANCE AND DECREASES THE OUTPUT IMPEDANCE.</a:t>
            </a:r>
          </a:p>
        </p:txBody>
      </p:sp>
      <p:sp>
        <p:nvSpPr>
          <p:cNvPr name="Freeform 20" id="20"/>
          <p:cNvSpPr/>
          <p:nvPr/>
        </p:nvSpPr>
        <p:spPr>
          <a:xfrm flipH="false" flipV="false" rot="0">
            <a:off x="-1928875" y="1416040"/>
            <a:ext cx="3471546" cy="3548978"/>
          </a:xfrm>
          <a:custGeom>
            <a:avLst/>
            <a:gdLst/>
            <a:ahLst/>
            <a:cxnLst/>
            <a:rect r="r" b="b" t="t" l="l"/>
            <a:pathLst>
              <a:path h="3548978" w="3471546">
                <a:moveTo>
                  <a:pt x="0" y="0"/>
                </a:moveTo>
                <a:lnTo>
                  <a:pt x="3471546" y="0"/>
                </a:lnTo>
                <a:lnTo>
                  <a:pt x="3471546" y="3548978"/>
                </a:lnTo>
                <a:lnTo>
                  <a:pt x="0" y="3548978"/>
                </a:lnTo>
                <a:lnTo>
                  <a:pt x="0" y="0"/>
                </a:lnTo>
                <a:close/>
              </a:path>
            </a:pathLst>
          </a:custGeom>
          <a:blipFill>
            <a:blip r:embed="rId5">
              <a:alphaModFix amt="42000"/>
              <a:extLst>
                <a:ext uri="{96DAC541-7B7A-43D3-8B79-37D633B846F1}">
                  <asvg:svgBlip xmlns:asvg="http://schemas.microsoft.com/office/drawing/2016/SVG/main" r:embed="rId6"/>
                </a:ext>
              </a:extLst>
            </a:blip>
            <a:stretch>
              <a:fillRect l="0" t="0" r="0" b="0"/>
            </a:stretch>
          </a:blipFill>
        </p:spPr>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sp>
        <p:nvSpPr>
          <p:cNvPr name="Freeform 3" id="3"/>
          <p:cNvSpPr/>
          <p:nvPr/>
        </p:nvSpPr>
        <p:spPr>
          <a:xfrm flipH="false" flipV="false" rot="0">
            <a:off x="16553035" y="1335098"/>
            <a:ext cx="3471546" cy="3548978"/>
          </a:xfrm>
          <a:custGeom>
            <a:avLst/>
            <a:gdLst/>
            <a:ahLst/>
            <a:cxnLst/>
            <a:rect r="r" b="b" t="t" l="l"/>
            <a:pathLst>
              <a:path h="3548978" w="3471546">
                <a:moveTo>
                  <a:pt x="0" y="0"/>
                </a:moveTo>
                <a:lnTo>
                  <a:pt x="3471546" y="0"/>
                </a:lnTo>
                <a:lnTo>
                  <a:pt x="3471546" y="3548978"/>
                </a:lnTo>
                <a:lnTo>
                  <a:pt x="0" y="3548978"/>
                </a:lnTo>
                <a:lnTo>
                  <a:pt x="0" y="0"/>
                </a:lnTo>
                <a:close/>
              </a:path>
            </a:pathLst>
          </a:custGeom>
          <a:blipFill>
            <a:blip r:embed="rId3">
              <a:alphaModFix amt="42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801873" y="5541046"/>
            <a:ext cx="9793926" cy="6480614"/>
          </a:xfrm>
          <a:custGeom>
            <a:avLst/>
            <a:gdLst/>
            <a:ahLst/>
            <a:cxnLst/>
            <a:rect r="r" b="b" t="t" l="l"/>
            <a:pathLst>
              <a:path h="6480614" w="9793926">
                <a:moveTo>
                  <a:pt x="0" y="0"/>
                </a:moveTo>
                <a:lnTo>
                  <a:pt x="9793925" y="0"/>
                </a:lnTo>
                <a:lnTo>
                  <a:pt x="9793925" y="6480614"/>
                </a:lnTo>
                <a:lnTo>
                  <a:pt x="0" y="648061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4898645" y="8657528"/>
            <a:ext cx="12462718" cy="1184275"/>
          </a:xfrm>
          <a:prstGeom prst="rect">
            <a:avLst/>
          </a:prstGeom>
        </p:spPr>
        <p:txBody>
          <a:bodyPr anchor="t" rtlCol="false" tIns="0" lIns="0" bIns="0" rIns="0">
            <a:spAutoFit/>
          </a:bodyPr>
          <a:lstStyle/>
          <a:p>
            <a:pPr algn="ctr">
              <a:lnSpc>
                <a:spcPts val="9799"/>
              </a:lnSpc>
              <a:spcBef>
                <a:spcPct val="0"/>
              </a:spcBef>
            </a:pPr>
            <a:r>
              <a:rPr lang="en-US" sz="6999">
                <a:solidFill>
                  <a:srgbClr val="FFFFFF"/>
                </a:solidFill>
                <a:latin typeface="Pattanakarn"/>
                <a:ea typeface="Pattanakarn"/>
                <a:cs typeface="Pattanakarn"/>
                <a:sym typeface="Pattanakarn"/>
              </a:rPr>
              <a:t> Basic Circuit and Operation</a:t>
            </a:r>
          </a:p>
        </p:txBody>
      </p:sp>
      <p:grpSp>
        <p:nvGrpSpPr>
          <p:cNvPr name="Group 6" id="6"/>
          <p:cNvGrpSpPr/>
          <p:nvPr/>
        </p:nvGrpSpPr>
        <p:grpSpPr>
          <a:xfrm rot="0">
            <a:off x="800525" y="562743"/>
            <a:ext cx="16773396" cy="651202"/>
            <a:chOff x="0" y="0"/>
            <a:chExt cx="4417685" cy="171510"/>
          </a:xfrm>
        </p:grpSpPr>
        <p:sp>
          <p:nvSpPr>
            <p:cNvPr name="Freeform 7" id="7"/>
            <p:cNvSpPr/>
            <p:nvPr/>
          </p:nvSpPr>
          <p:spPr>
            <a:xfrm flipH="false" flipV="false" rot="0">
              <a:off x="0" y="0"/>
              <a:ext cx="4417685" cy="171510"/>
            </a:xfrm>
            <a:custGeom>
              <a:avLst/>
              <a:gdLst/>
              <a:ahLst/>
              <a:cxnLst/>
              <a:rect r="r" b="b" t="t" l="l"/>
              <a:pathLst>
                <a:path h="171510" w="4417685">
                  <a:moveTo>
                    <a:pt x="6462" y="0"/>
                  </a:moveTo>
                  <a:lnTo>
                    <a:pt x="4411223" y="0"/>
                  </a:lnTo>
                  <a:cubicBezTo>
                    <a:pt x="4412936" y="0"/>
                    <a:pt x="4414580" y="681"/>
                    <a:pt x="4415792" y="1893"/>
                  </a:cubicBezTo>
                  <a:cubicBezTo>
                    <a:pt x="4417004" y="3104"/>
                    <a:pt x="4417685" y="4748"/>
                    <a:pt x="4417685" y="6462"/>
                  </a:cubicBezTo>
                  <a:lnTo>
                    <a:pt x="4417685" y="165048"/>
                  </a:lnTo>
                  <a:cubicBezTo>
                    <a:pt x="4417685" y="168617"/>
                    <a:pt x="4414791" y="171510"/>
                    <a:pt x="4411223" y="171510"/>
                  </a:cubicBezTo>
                  <a:lnTo>
                    <a:pt x="6462" y="171510"/>
                  </a:lnTo>
                  <a:cubicBezTo>
                    <a:pt x="4748" y="171510"/>
                    <a:pt x="3104" y="170829"/>
                    <a:pt x="1893" y="169617"/>
                  </a:cubicBezTo>
                  <a:cubicBezTo>
                    <a:pt x="681" y="168406"/>
                    <a:pt x="0" y="166762"/>
                    <a:pt x="0" y="165048"/>
                  </a:cubicBezTo>
                  <a:lnTo>
                    <a:pt x="0" y="6462"/>
                  </a:lnTo>
                  <a:cubicBezTo>
                    <a:pt x="0" y="4748"/>
                    <a:pt x="681" y="3104"/>
                    <a:pt x="1893" y="1893"/>
                  </a:cubicBezTo>
                  <a:cubicBezTo>
                    <a:pt x="3104" y="681"/>
                    <a:pt x="4748" y="0"/>
                    <a:pt x="6462" y="0"/>
                  </a:cubicBezTo>
                  <a:close/>
                </a:path>
              </a:pathLst>
            </a:custGeom>
            <a:ln w="38100" cap="sq">
              <a:gradFill>
                <a:gsLst>
                  <a:gs pos="0">
                    <a:srgbClr val="5DD3D8">
                      <a:alpha val="100000"/>
                    </a:srgbClr>
                  </a:gs>
                  <a:gs pos="100000">
                    <a:srgbClr val="006D97">
                      <a:alpha val="100000"/>
                    </a:srgbClr>
                  </a:gs>
                </a:gsLst>
                <a:lin ang="5400000"/>
              </a:gradFill>
              <a:prstDash val="solid"/>
              <a:miter/>
            </a:ln>
          </p:spPr>
        </p:sp>
        <p:sp>
          <p:nvSpPr>
            <p:cNvPr name="TextBox 8" id="8"/>
            <p:cNvSpPr txBox="true"/>
            <p:nvPr/>
          </p:nvSpPr>
          <p:spPr>
            <a:xfrm>
              <a:off x="0" y="-38100"/>
              <a:ext cx="4417685" cy="209610"/>
            </a:xfrm>
            <a:prstGeom prst="rect">
              <a:avLst/>
            </a:prstGeom>
          </p:spPr>
          <p:txBody>
            <a:bodyPr anchor="ctr" rtlCol="false" tIns="50800" lIns="50800" bIns="50800" rIns="50800"/>
            <a:lstStyle/>
            <a:p>
              <a:pPr algn="ctr">
                <a:lnSpc>
                  <a:spcPts val="3499"/>
                </a:lnSpc>
              </a:pPr>
            </a:p>
          </p:txBody>
        </p:sp>
      </p:grpSp>
      <p:sp>
        <p:nvSpPr>
          <p:cNvPr name="TextBox 9" id="9"/>
          <p:cNvSpPr txBox="true"/>
          <p:nvPr/>
        </p:nvSpPr>
        <p:spPr>
          <a:xfrm rot="0">
            <a:off x="1218062" y="699741"/>
            <a:ext cx="3332215" cy="316263"/>
          </a:xfrm>
          <a:prstGeom prst="rect">
            <a:avLst/>
          </a:prstGeom>
        </p:spPr>
        <p:txBody>
          <a:bodyPr anchor="t" rtlCol="false" tIns="0" lIns="0" bIns="0" rIns="0">
            <a:spAutoFit/>
          </a:bodyPr>
          <a:lstStyle/>
          <a:p>
            <a:pPr algn="l">
              <a:lnSpc>
                <a:spcPts val="2520"/>
              </a:lnSpc>
            </a:pPr>
            <a:r>
              <a:rPr lang="en-US" sz="1800">
                <a:solidFill>
                  <a:srgbClr val="FFFFFF"/>
                </a:solidFill>
                <a:latin typeface="Tomorrow"/>
                <a:ea typeface="Tomorrow"/>
                <a:cs typeface="Tomorrow"/>
                <a:sym typeface="Tomorrow"/>
              </a:rPr>
              <a:t>C</a:t>
            </a:r>
            <a:r>
              <a:rPr lang="en-US" sz="1800">
                <a:solidFill>
                  <a:srgbClr val="FFFFFF"/>
                </a:solidFill>
                <a:latin typeface="Tomorrow"/>
                <a:ea typeface="Tomorrow"/>
                <a:cs typeface="Tomorrow"/>
                <a:sym typeface="Tomorrow"/>
              </a:rPr>
              <a:t>IRCUIT NETWORKS</a:t>
            </a:r>
          </a:p>
        </p:txBody>
      </p:sp>
      <p:sp>
        <p:nvSpPr>
          <p:cNvPr name="TextBox 10" id="10"/>
          <p:cNvSpPr txBox="true"/>
          <p:nvPr/>
        </p:nvSpPr>
        <p:spPr>
          <a:xfrm rot="0">
            <a:off x="15678895" y="699741"/>
            <a:ext cx="1467181" cy="316263"/>
          </a:xfrm>
          <a:prstGeom prst="rect">
            <a:avLst/>
          </a:prstGeom>
        </p:spPr>
        <p:txBody>
          <a:bodyPr anchor="t" rtlCol="false" tIns="0" lIns="0" bIns="0" rIns="0">
            <a:spAutoFit/>
          </a:bodyPr>
          <a:lstStyle/>
          <a:p>
            <a:pPr algn="l">
              <a:lnSpc>
                <a:spcPts val="2520"/>
              </a:lnSpc>
            </a:pPr>
            <a:r>
              <a:rPr lang="en-US" sz="1800">
                <a:solidFill>
                  <a:srgbClr val="FFFFFF"/>
                </a:solidFill>
                <a:latin typeface="Tomorrow"/>
                <a:ea typeface="Tomorrow"/>
                <a:cs typeface="Tomorrow"/>
                <a:sym typeface="Tomorrow"/>
              </a:rPr>
              <a:t>NEXT PAGE</a:t>
            </a:r>
          </a:p>
        </p:txBody>
      </p:sp>
      <p:sp>
        <p:nvSpPr>
          <p:cNvPr name="TextBox 11" id="11"/>
          <p:cNvSpPr txBox="true"/>
          <p:nvPr/>
        </p:nvSpPr>
        <p:spPr>
          <a:xfrm rot="0">
            <a:off x="3244988" y="1761482"/>
            <a:ext cx="11386542" cy="521335"/>
          </a:xfrm>
          <a:prstGeom prst="rect">
            <a:avLst/>
          </a:prstGeom>
        </p:spPr>
        <p:txBody>
          <a:bodyPr anchor="t" rtlCol="false" tIns="0" lIns="0" bIns="0" rIns="0">
            <a:spAutoFit/>
          </a:bodyPr>
          <a:lstStyle/>
          <a:p>
            <a:pPr algn="ctr">
              <a:lnSpc>
                <a:spcPts val="4339"/>
              </a:lnSpc>
              <a:spcBef>
                <a:spcPct val="0"/>
              </a:spcBef>
            </a:pPr>
            <a:r>
              <a:rPr lang="en-US" sz="3099">
                <a:solidFill>
                  <a:srgbClr val="FFFFFF"/>
                </a:solidFill>
                <a:latin typeface="Pattanakarn"/>
                <a:ea typeface="Pattanakarn"/>
                <a:cs typeface="Pattanakarn"/>
                <a:sym typeface="Pattanakarn"/>
              </a:rPr>
              <a:t>A non inverting amplifier contains the following main parts:</a:t>
            </a:r>
          </a:p>
        </p:txBody>
      </p:sp>
      <p:grpSp>
        <p:nvGrpSpPr>
          <p:cNvPr name="Group 12" id="12"/>
          <p:cNvGrpSpPr/>
          <p:nvPr/>
        </p:nvGrpSpPr>
        <p:grpSpPr>
          <a:xfrm rot="0">
            <a:off x="1721687" y="2938754"/>
            <a:ext cx="3848201" cy="2005358"/>
            <a:chOff x="0" y="0"/>
            <a:chExt cx="852775" cy="444395"/>
          </a:xfrm>
        </p:grpSpPr>
        <p:sp>
          <p:nvSpPr>
            <p:cNvPr name="Freeform 13" id="13"/>
            <p:cNvSpPr/>
            <p:nvPr/>
          </p:nvSpPr>
          <p:spPr>
            <a:xfrm flipH="false" flipV="false" rot="0">
              <a:off x="0" y="0"/>
              <a:ext cx="852775" cy="444395"/>
            </a:xfrm>
            <a:custGeom>
              <a:avLst/>
              <a:gdLst/>
              <a:ahLst/>
              <a:cxnLst/>
              <a:rect r="r" b="b" t="t" l="l"/>
              <a:pathLst>
                <a:path h="444395" w="852775">
                  <a:moveTo>
                    <a:pt x="38225" y="0"/>
                  </a:moveTo>
                  <a:lnTo>
                    <a:pt x="814551" y="0"/>
                  </a:lnTo>
                  <a:cubicBezTo>
                    <a:pt x="835662" y="0"/>
                    <a:pt x="852775" y="17114"/>
                    <a:pt x="852775" y="38225"/>
                  </a:cubicBezTo>
                  <a:lnTo>
                    <a:pt x="852775" y="406170"/>
                  </a:lnTo>
                  <a:cubicBezTo>
                    <a:pt x="852775" y="427281"/>
                    <a:pt x="835662" y="444395"/>
                    <a:pt x="814551" y="444395"/>
                  </a:cubicBezTo>
                  <a:lnTo>
                    <a:pt x="38225" y="444395"/>
                  </a:lnTo>
                  <a:cubicBezTo>
                    <a:pt x="28087" y="444395"/>
                    <a:pt x="18364" y="440368"/>
                    <a:pt x="11196" y="433199"/>
                  </a:cubicBezTo>
                  <a:cubicBezTo>
                    <a:pt x="4027" y="426030"/>
                    <a:pt x="0" y="416308"/>
                    <a:pt x="0" y="406170"/>
                  </a:cubicBezTo>
                  <a:lnTo>
                    <a:pt x="0" y="38225"/>
                  </a:lnTo>
                  <a:cubicBezTo>
                    <a:pt x="0" y="17114"/>
                    <a:pt x="17114" y="0"/>
                    <a:pt x="38225" y="0"/>
                  </a:cubicBezTo>
                  <a:close/>
                </a:path>
              </a:pathLst>
            </a:custGeom>
            <a:gradFill rotWithShape="true">
              <a:gsLst>
                <a:gs pos="0">
                  <a:srgbClr val="5DD3D8">
                    <a:alpha val="100000"/>
                  </a:srgbClr>
                </a:gs>
                <a:gs pos="100000">
                  <a:srgbClr val="006D97">
                    <a:alpha val="100000"/>
                  </a:srgbClr>
                </a:gs>
              </a:gsLst>
              <a:lin ang="0"/>
            </a:gradFill>
          </p:spPr>
        </p:sp>
        <p:sp>
          <p:nvSpPr>
            <p:cNvPr name="TextBox 14" id="14"/>
            <p:cNvSpPr txBox="true"/>
            <p:nvPr/>
          </p:nvSpPr>
          <p:spPr>
            <a:xfrm>
              <a:off x="0" y="-38100"/>
              <a:ext cx="852775" cy="482495"/>
            </a:xfrm>
            <a:prstGeom prst="rect">
              <a:avLst/>
            </a:prstGeom>
          </p:spPr>
          <p:txBody>
            <a:bodyPr anchor="ctr" rtlCol="false" tIns="50800" lIns="50800" bIns="50800" rIns="50800"/>
            <a:lstStyle/>
            <a:p>
              <a:pPr algn="ctr">
                <a:lnSpc>
                  <a:spcPts val="3499"/>
                </a:lnSpc>
              </a:pPr>
            </a:p>
          </p:txBody>
        </p:sp>
      </p:grpSp>
      <p:grpSp>
        <p:nvGrpSpPr>
          <p:cNvPr name="Group 15" id="15"/>
          <p:cNvGrpSpPr/>
          <p:nvPr/>
        </p:nvGrpSpPr>
        <p:grpSpPr>
          <a:xfrm rot="0">
            <a:off x="12907381" y="2878718"/>
            <a:ext cx="3851395" cy="2005358"/>
            <a:chOff x="0" y="0"/>
            <a:chExt cx="853483" cy="444395"/>
          </a:xfrm>
        </p:grpSpPr>
        <p:sp>
          <p:nvSpPr>
            <p:cNvPr name="Freeform 16" id="16"/>
            <p:cNvSpPr/>
            <p:nvPr/>
          </p:nvSpPr>
          <p:spPr>
            <a:xfrm flipH="false" flipV="false" rot="0">
              <a:off x="0" y="0"/>
              <a:ext cx="853483" cy="444395"/>
            </a:xfrm>
            <a:custGeom>
              <a:avLst/>
              <a:gdLst/>
              <a:ahLst/>
              <a:cxnLst/>
              <a:rect r="r" b="b" t="t" l="l"/>
              <a:pathLst>
                <a:path h="444395" w="853483">
                  <a:moveTo>
                    <a:pt x="38193" y="0"/>
                  </a:moveTo>
                  <a:lnTo>
                    <a:pt x="815290" y="0"/>
                  </a:lnTo>
                  <a:cubicBezTo>
                    <a:pt x="836384" y="0"/>
                    <a:pt x="853483" y="17100"/>
                    <a:pt x="853483" y="38193"/>
                  </a:cubicBezTo>
                  <a:lnTo>
                    <a:pt x="853483" y="406202"/>
                  </a:lnTo>
                  <a:cubicBezTo>
                    <a:pt x="853483" y="427295"/>
                    <a:pt x="836384" y="444395"/>
                    <a:pt x="815290" y="444395"/>
                  </a:cubicBezTo>
                  <a:lnTo>
                    <a:pt x="38193" y="444395"/>
                  </a:lnTo>
                  <a:cubicBezTo>
                    <a:pt x="17100" y="444395"/>
                    <a:pt x="0" y="427295"/>
                    <a:pt x="0" y="406202"/>
                  </a:cubicBezTo>
                  <a:lnTo>
                    <a:pt x="0" y="38193"/>
                  </a:lnTo>
                  <a:cubicBezTo>
                    <a:pt x="0" y="17100"/>
                    <a:pt x="17100" y="0"/>
                    <a:pt x="38193" y="0"/>
                  </a:cubicBezTo>
                  <a:close/>
                </a:path>
              </a:pathLst>
            </a:custGeom>
            <a:gradFill rotWithShape="true">
              <a:gsLst>
                <a:gs pos="0">
                  <a:srgbClr val="5DD3D8">
                    <a:alpha val="100000"/>
                  </a:srgbClr>
                </a:gs>
                <a:gs pos="100000">
                  <a:srgbClr val="006D97">
                    <a:alpha val="100000"/>
                  </a:srgbClr>
                </a:gs>
              </a:gsLst>
              <a:lin ang="0"/>
            </a:gradFill>
          </p:spPr>
        </p:sp>
        <p:sp>
          <p:nvSpPr>
            <p:cNvPr name="TextBox 17" id="17"/>
            <p:cNvSpPr txBox="true"/>
            <p:nvPr/>
          </p:nvSpPr>
          <p:spPr>
            <a:xfrm>
              <a:off x="0" y="-38100"/>
              <a:ext cx="853483" cy="482495"/>
            </a:xfrm>
            <a:prstGeom prst="rect">
              <a:avLst/>
            </a:prstGeom>
          </p:spPr>
          <p:txBody>
            <a:bodyPr anchor="ctr" rtlCol="false" tIns="50800" lIns="50800" bIns="50800" rIns="50800"/>
            <a:lstStyle/>
            <a:p>
              <a:pPr algn="ctr">
                <a:lnSpc>
                  <a:spcPts val="3499"/>
                </a:lnSpc>
              </a:pPr>
            </a:p>
          </p:txBody>
        </p:sp>
      </p:grpSp>
      <p:grpSp>
        <p:nvGrpSpPr>
          <p:cNvPr name="Group 18" id="18"/>
          <p:cNvGrpSpPr/>
          <p:nvPr/>
        </p:nvGrpSpPr>
        <p:grpSpPr>
          <a:xfrm rot="0">
            <a:off x="7449117" y="2938754"/>
            <a:ext cx="3678112" cy="2005358"/>
            <a:chOff x="0" y="0"/>
            <a:chExt cx="815083" cy="444395"/>
          </a:xfrm>
        </p:grpSpPr>
        <p:sp>
          <p:nvSpPr>
            <p:cNvPr name="Freeform 19" id="19"/>
            <p:cNvSpPr/>
            <p:nvPr/>
          </p:nvSpPr>
          <p:spPr>
            <a:xfrm flipH="false" flipV="false" rot="0">
              <a:off x="0" y="0"/>
              <a:ext cx="815083" cy="444395"/>
            </a:xfrm>
            <a:custGeom>
              <a:avLst/>
              <a:gdLst/>
              <a:ahLst/>
              <a:cxnLst/>
              <a:rect r="r" b="b" t="t" l="l"/>
              <a:pathLst>
                <a:path h="444395" w="815083">
                  <a:moveTo>
                    <a:pt x="39992" y="0"/>
                  </a:moveTo>
                  <a:lnTo>
                    <a:pt x="775091" y="0"/>
                  </a:lnTo>
                  <a:cubicBezTo>
                    <a:pt x="797178" y="0"/>
                    <a:pt x="815083" y="17905"/>
                    <a:pt x="815083" y="39992"/>
                  </a:cubicBezTo>
                  <a:lnTo>
                    <a:pt x="815083" y="404402"/>
                  </a:lnTo>
                  <a:cubicBezTo>
                    <a:pt x="815083" y="415009"/>
                    <a:pt x="810870" y="425181"/>
                    <a:pt x="803370" y="432681"/>
                  </a:cubicBezTo>
                  <a:cubicBezTo>
                    <a:pt x="795870" y="440181"/>
                    <a:pt x="785697" y="444395"/>
                    <a:pt x="775091" y="444395"/>
                  </a:cubicBezTo>
                  <a:lnTo>
                    <a:pt x="39992" y="444395"/>
                  </a:lnTo>
                  <a:cubicBezTo>
                    <a:pt x="29386" y="444395"/>
                    <a:pt x="19214" y="440181"/>
                    <a:pt x="11714" y="432681"/>
                  </a:cubicBezTo>
                  <a:cubicBezTo>
                    <a:pt x="4213" y="425181"/>
                    <a:pt x="0" y="415009"/>
                    <a:pt x="0" y="404402"/>
                  </a:cubicBezTo>
                  <a:lnTo>
                    <a:pt x="0" y="39992"/>
                  </a:lnTo>
                  <a:cubicBezTo>
                    <a:pt x="0" y="29386"/>
                    <a:pt x="4213" y="19214"/>
                    <a:pt x="11714" y="11714"/>
                  </a:cubicBezTo>
                  <a:cubicBezTo>
                    <a:pt x="19214" y="4213"/>
                    <a:pt x="29386" y="0"/>
                    <a:pt x="39992" y="0"/>
                  </a:cubicBezTo>
                  <a:close/>
                </a:path>
              </a:pathLst>
            </a:custGeom>
            <a:gradFill rotWithShape="true">
              <a:gsLst>
                <a:gs pos="0">
                  <a:srgbClr val="5DD3D8">
                    <a:alpha val="100000"/>
                  </a:srgbClr>
                </a:gs>
                <a:gs pos="100000">
                  <a:srgbClr val="006D97">
                    <a:alpha val="100000"/>
                  </a:srgbClr>
                </a:gs>
              </a:gsLst>
              <a:lin ang="0"/>
            </a:gradFill>
          </p:spPr>
        </p:sp>
        <p:sp>
          <p:nvSpPr>
            <p:cNvPr name="TextBox 20" id="20"/>
            <p:cNvSpPr txBox="true"/>
            <p:nvPr/>
          </p:nvSpPr>
          <p:spPr>
            <a:xfrm>
              <a:off x="0" y="-38100"/>
              <a:ext cx="815083" cy="482495"/>
            </a:xfrm>
            <a:prstGeom prst="rect">
              <a:avLst/>
            </a:prstGeom>
          </p:spPr>
          <p:txBody>
            <a:bodyPr anchor="ctr" rtlCol="false" tIns="50800" lIns="50800" bIns="50800" rIns="50800"/>
            <a:lstStyle/>
            <a:p>
              <a:pPr algn="ctr">
                <a:lnSpc>
                  <a:spcPts val="3499"/>
                </a:lnSpc>
              </a:pPr>
            </a:p>
          </p:txBody>
        </p:sp>
      </p:grpSp>
      <p:grpSp>
        <p:nvGrpSpPr>
          <p:cNvPr name="Group 21" id="21"/>
          <p:cNvGrpSpPr/>
          <p:nvPr/>
        </p:nvGrpSpPr>
        <p:grpSpPr>
          <a:xfrm rot="0">
            <a:off x="10433532" y="5783246"/>
            <a:ext cx="3740887" cy="1957346"/>
            <a:chOff x="0" y="0"/>
            <a:chExt cx="985254" cy="515515"/>
          </a:xfrm>
        </p:grpSpPr>
        <p:sp>
          <p:nvSpPr>
            <p:cNvPr name="Freeform 22" id="22"/>
            <p:cNvSpPr/>
            <p:nvPr/>
          </p:nvSpPr>
          <p:spPr>
            <a:xfrm flipH="false" flipV="false" rot="0">
              <a:off x="0" y="0"/>
              <a:ext cx="985254" cy="515515"/>
            </a:xfrm>
            <a:custGeom>
              <a:avLst/>
              <a:gdLst/>
              <a:ahLst/>
              <a:cxnLst/>
              <a:rect r="r" b="b" t="t" l="l"/>
              <a:pathLst>
                <a:path h="515515" w="985254">
                  <a:moveTo>
                    <a:pt x="39321" y="0"/>
                  </a:moveTo>
                  <a:lnTo>
                    <a:pt x="945933" y="0"/>
                  </a:lnTo>
                  <a:cubicBezTo>
                    <a:pt x="967649" y="0"/>
                    <a:pt x="985254" y="17605"/>
                    <a:pt x="985254" y="39321"/>
                  </a:cubicBezTo>
                  <a:lnTo>
                    <a:pt x="985254" y="476194"/>
                  </a:lnTo>
                  <a:cubicBezTo>
                    <a:pt x="985254" y="497910"/>
                    <a:pt x="967649" y="515515"/>
                    <a:pt x="945933" y="515515"/>
                  </a:cubicBezTo>
                  <a:lnTo>
                    <a:pt x="39321" y="515515"/>
                  </a:lnTo>
                  <a:cubicBezTo>
                    <a:pt x="17605" y="515515"/>
                    <a:pt x="0" y="497910"/>
                    <a:pt x="0" y="476194"/>
                  </a:cubicBezTo>
                  <a:lnTo>
                    <a:pt x="0" y="39321"/>
                  </a:lnTo>
                  <a:cubicBezTo>
                    <a:pt x="0" y="17605"/>
                    <a:pt x="17605" y="0"/>
                    <a:pt x="39321" y="0"/>
                  </a:cubicBezTo>
                  <a:close/>
                </a:path>
              </a:pathLst>
            </a:custGeom>
            <a:gradFill rotWithShape="true">
              <a:gsLst>
                <a:gs pos="0">
                  <a:srgbClr val="5DD3D8">
                    <a:alpha val="100000"/>
                  </a:srgbClr>
                </a:gs>
                <a:gs pos="100000">
                  <a:srgbClr val="006D97">
                    <a:alpha val="100000"/>
                  </a:srgbClr>
                </a:gs>
              </a:gsLst>
              <a:lin ang="0"/>
            </a:gradFill>
          </p:spPr>
        </p:sp>
        <p:sp>
          <p:nvSpPr>
            <p:cNvPr name="TextBox 23" id="23"/>
            <p:cNvSpPr txBox="true"/>
            <p:nvPr/>
          </p:nvSpPr>
          <p:spPr>
            <a:xfrm>
              <a:off x="0" y="-38100"/>
              <a:ext cx="985254" cy="553615"/>
            </a:xfrm>
            <a:prstGeom prst="rect">
              <a:avLst/>
            </a:prstGeom>
          </p:spPr>
          <p:txBody>
            <a:bodyPr anchor="ctr" rtlCol="false" tIns="50800" lIns="50800" bIns="50800" rIns="50800"/>
            <a:lstStyle/>
            <a:p>
              <a:pPr algn="ctr">
                <a:lnSpc>
                  <a:spcPts val="3499"/>
                </a:lnSpc>
              </a:pPr>
            </a:p>
          </p:txBody>
        </p:sp>
      </p:grpSp>
      <p:sp>
        <p:nvSpPr>
          <p:cNvPr name="TextBox 24" id="24"/>
          <p:cNvSpPr txBox="true"/>
          <p:nvPr/>
        </p:nvSpPr>
        <p:spPr>
          <a:xfrm rot="0">
            <a:off x="1721687" y="3401280"/>
            <a:ext cx="3848201" cy="1023157"/>
          </a:xfrm>
          <a:prstGeom prst="rect">
            <a:avLst/>
          </a:prstGeom>
        </p:spPr>
        <p:txBody>
          <a:bodyPr anchor="t" rtlCol="false" tIns="0" lIns="0" bIns="0" rIns="0">
            <a:spAutoFit/>
          </a:bodyPr>
          <a:lstStyle/>
          <a:p>
            <a:pPr algn="ctr">
              <a:lnSpc>
                <a:spcPts val="4159"/>
              </a:lnSpc>
              <a:spcBef>
                <a:spcPct val="0"/>
              </a:spcBef>
            </a:pPr>
            <a:r>
              <a:rPr lang="en-US" sz="2971">
                <a:solidFill>
                  <a:srgbClr val="FFFFFF"/>
                </a:solidFill>
                <a:latin typeface="Pattanakarn"/>
                <a:ea typeface="Pattanakarn"/>
                <a:cs typeface="Pattanakarn"/>
                <a:sym typeface="Pattanakarn"/>
              </a:rPr>
              <a:t>An operational amplifier, op-amp.</a:t>
            </a:r>
          </a:p>
        </p:txBody>
      </p:sp>
      <p:sp>
        <p:nvSpPr>
          <p:cNvPr name="TextBox 25" id="25"/>
          <p:cNvSpPr txBox="true"/>
          <p:nvPr/>
        </p:nvSpPr>
        <p:spPr>
          <a:xfrm rot="0">
            <a:off x="7451892" y="3409366"/>
            <a:ext cx="3678112" cy="1023157"/>
          </a:xfrm>
          <a:prstGeom prst="rect">
            <a:avLst/>
          </a:prstGeom>
        </p:spPr>
        <p:txBody>
          <a:bodyPr anchor="t" rtlCol="false" tIns="0" lIns="0" bIns="0" rIns="0">
            <a:spAutoFit/>
          </a:bodyPr>
          <a:lstStyle/>
          <a:p>
            <a:pPr algn="ctr">
              <a:lnSpc>
                <a:spcPts val="4159"/>
              </a:lnSpc>
              <a:spcBef>
                <a:spcPct val="0"/>
              </a:spcBef>
            </a:pPr>
            <a:r>
              <a:rPr lang="en-US" sz="2971">
                <a:solidFill>
                  <a:srgbClr val="FFFFFF"/>
                </a:solidFill>
                <a:latin typeface="Pattanakarn"/>
                <a:ea typeface="Pattanakarn"/>
                <a:cs typeface="Pattanakarn"/>
                <a:sym typeface="Pattanakarn"/>
              </a:rPr>
              <a:t>An input voltage, Vin​.</a:t>
            </a:r>
          </a:p>
        </p:txBody>
      </p:sp>
      <p:sp>
        <p:nvSpPr>
          <p:cNvPr name="TextBox 26" id="26"/>
          <p:cNvSpPr txBox="true"/>
          <p:nvPr/>
        </p:nvSpPr>
        <p:spPr>
          <a:xfrm rot="0">
            <a:off x="13247875" y="3341243"/>
            <a:ext cx="3173181" cy="1023157"/>
          </a:xfrm>
          <a:prstGeom prst="rect">
            <a:avLst/>
          </a:prstGeom>
        </p:spPr>
        <p:txBody>
          <a:bodyPr anchor="t" rtlCol="false" tIns="0" lIns="0" bIns="0" rIns="0">
            <a:spAutoFit/>
          </a:bodyPr>
          <a:lstStyle/>
          <a:p>
            <a:pPr algn="ctr">
              <a:lnSpc>
                <a:spcPts val="4159"/>
              </a:lnSpc>
              <a:spcBef>
                <a:spcPct val="0"/>
              </a:spcBef>
            </a:pPr>
            <a:r>
              <a:rPr lang="en-US" sz="2971">
                <a:solidFill>
                  <a:srgbClr val="FFFFFF"/>
                </a:solidFill>
                <a:latin typeface="Pattanakarn"/>
                <a:ea typeface="Pattanakarn"/>
                <a:cs typeface="Pattanakarn"/>
                <a:sym typeface="Pattanakarn"/>
              </a:rPr>
              <a:t>A feedback </a:t>
            </a:r>
          </a:p>
          <a:p>
            <a:pPr algn="ctr">
              <a:lnSpc>
                <a:spcPts val="4159"/>
              </a:lnSpc>
              <a:spcBef>
                <a:spcPct val="0"/>
              </a:spcBef>
            </a:pPr>
            <a:r>
              <a:rPr lang="en-US" sz="2971">
                <a:solidFill>
                  <a:srgbClr val="FFFFFF"/>
                </a:solidFill>
                <a:latin typeface="Pattanakarn"/>
                <a:ea typeface="Pattanakarn"/>
                <a:cs typeface="Pattanakarn"/>
                <a:sym typeface="Pattanakarn"/>
              </a:rPr>
              <a:t>resistor, Rf​</a:t>
            </a:r>
          </a:p>
        </p:txBody>
      </p:sp>
      <p:sp>
        <p:nvSpPr>
          <p:cNvPr name="TextBox 27" id="27"/>
          <p:cNvSpPr txBox="true"/>
          <p:nvPr/>
        </p:nvSpPr>
        <p:spPr>
          <a:xfrm rot="0">
            <a:off x="10663056" y="6182401"/>
            <a:ext cx="3371850" cy="850900"/>
          </a:xfrm>
          <a:prstGeom prst="rect">
            <a:avLst/>
          </a:prstGeom>
        </p:spPr>
        <p:txBody>
          <a:bodyPr anchor="t" rtlCol="false" tIns="0" lIns="0" bIns="0" rIns="0">
            <a:spAutoFit/>
          </a:bodyPr>
          <a:lstStyle/>
          <a:p>
            <a:pPr algn="ctr">
              <a:lnSpc>
                <a:spcPts val="3499"/>
              </a:lnSpc>
              <a:spcBef>
                <a:spcPct val="0"/>
              </a:spcBef>
            </a:pPr>
            <a:r>
              <a:rPr lang="en-US" sz="2499">
                <a:solidFill>
                  <a:srgbClr val="FFFFFF"/>
                </a:solidFill>
                <a:latin typeface="Pattanakarn"/>
                <a:ea typeface="Pattanakarn"/>
                <a:cs typeface="Pattanakarn"/>
                <a:sym typeface="Pattanakarn"/>
              </a:rPr>
              <a:t>A resistor connected</a:t>
            </a:r>
          </a:p>
          <a:p>
            <a:pPr algn="ctr">
              <a:lnSpc>
                <a:spcPts val="3499"/>
              </a:lnSpc>
              <a:spcBef>
                <a:spcPct val="0"/>
              </a:spcBef>
            </a:pPr>
            <a:r>
              <a:rPr lang="en-US" sz="2499">
                <a:solidFill>
                  <a:srgbClr val="FFFFFF"/>
                </a:solidFill>
                <a:latin typeface="Pattanakarn"/>
                <a:ea typeface="Pattanakarn"/>
                <a:cs typeface="Pattanakarn"/>
                <a:sym typeface="Pattanakarn"/>
              </a:rPr>
              <a:t> to ground, R1​</a:t>
            </a:r>
          </a:p>
        </p:txBody>
      </p:sp>
      <p:grpSp>
        <p:nvGrpSpPr>
          <p:cNvPr name="Group 28" id="28"/>
          <p:cNvGrpSpPr/>
          <p:nvPr/>
        </p:nvGrpSpPr>
        <p:grpSpPr>
          <a:xfrm rot="0">
            <a:off x="4731481" y="5735233"/>
            <a:ext cx="3848201" cy="2005358"/>
            <a:chOff x="0" y="0"/>
            <a:chExt cx="852775" cy="444395"/>
          </a:xfrm>
        </p:grpSpPr>
        <p:sp>
          <p:nvSpPr>
            <p:cNvPr name="Freeform 29" id="29"/>
            <p:cNvSpPr/>
            <p:nvPr/>
          </p:nvSpPr>
          <p:spPr>
            <a:xfrm flipH="false" flipV="false" rot="0">
              <a:off x="0" y="0"/>
              <a:ext cx="852775" cy="444395"/>
            </a:xfrm>
            <a:custGeom>
              <a:avLst/>
              <a:gdLst/>
              <a:ahLst/>
              <a:cxnLst/>
              <a:rect r="r" b="b" t="t" l="l"/>
              <a:pathLst>
                <a:path h="444395" w="852775">
                  <a:moveTo>
                    <a:pt x="38225" y="0"/>
                  </a:moveTo>
                  <a:lnTo>
                    <a:pt x="814551" y="0"/>
                  </a:lnTo>
                  <a:cubicBezTo>
                    <a:pt x="835662" y="0"/>
                    <a:pt x="852775" y="17114"/>
                    <a:pt x="852775" y="38225"/>
                  </a:cubicBezTo>
                  <a:lnTo>
                    <a:pt x="852775" y="406170"/>
                  </a:lnTo>
                  <a:cubicBezTo>
                    <a:pt x="852775" y="427281"/>
                    <a:pt x="835662" y="444395"/>
                    <a:pt x="814551" y="444395"/>
                  </a:cubicBezTo>
                  <a:lnTo>
                    <a:pt x="38225" y="444395"/>
                  </a:lnTo>
                  <a:cubicBezTo>
                    <a:pt x="28087" y="444395"/>
                    <a:pt x="18364" y="440368"/>
                    <a:pt x="11196" y="433199"/>
                  </a:cubicBezTo>
                  <a:cubicBezTo>
                    <a:pt x="4027" y="426030"/>
                    <a:pt x="0" y="416308"/>
                    <a:pt x="0" y="406170"/>
                  </a:cubicBezTo>
                  <a:lnTo>
                    <a:pt x="0" y="38225"/>
                  </a:lnTo>
                  <a:cubicBezTo>
                    <a:pt x="0" y="17114"/>
                    <a:pt x="17114" y="0"/>
                    <a:pt x="38225" y="0"/>
                  </a:cubicBezTo>
                  <a:close/>
                </a:path>
              </a:pathLst>
            </a:custGeom>
            <a:gradFill rotWithShape="true">
              <a:gsLst>
                <a:gs pos="0">
                  <a:srgbClr val="5DD3D8">
                    <a:alpha val="100000"/>
                  </a:srgbClr>
                </a:gs>
                <a:gs pos="100000">
                  <a:srgbClr val="006D97">
                    <a:alpha val="100000"/>
                  </a:srgbClr>
                </a:gs>
              </a:gsLst>
              <a:lin ang="0"/>
            </a:gradFill>
          </p:spPr>
        </p:sp>
        <p:sp>
          <p:nvSpPr>
            <p:cNvPr name="TextBox 30" id="30"/>
            <p:cNvSpPr txBox="true"/>
            <p:nvPr/>
          </p:nvSpPr>
          <p:spPr>
            <a:xfrm>
              <a:off x="0" y="-38100"/>
              <a:ext cx="852775" cy="482495"/>
            </a:xfrm>
            <a:prstGeom prst="rect">
              <a:avLst/>
            </a:prstGeom>
          </p:spPr>
          <p:txBody>
            <a:bodyPr anchor="ctr" rtlCol="false" tIns="50800" lIns="50800" bIns="50800" rIns="50800"/>
            <a:lstStyle/>
            <a:p>
              <a:pPr algn="ctr">
                <a:lnSpc>
                  <a:spcPts val="3499"/>
                </a:lnSpc>
              </a:pPr>
            </a:p>
          </p:txBody>
        </p:sp>
      </p:grpSp>
      <p:sp>
        <p:nvSpPr>
          <p:cNvPr name="TextBox 31" id="31"/>
          <p:cNvSpPr txBox="true"/>
          <p:nvPr/>
        </p:nvSpPr>
        <p:spPr>
          <a:xfrm rot="0">
            <a:off x="4845292" y="6274025"/>
            <a:ext cx="3620578" cy="1054643"/>
          </a:xfrm>
          <a:prstGeom prst="rect">
            <a:avLst/>
          </a:prstGeom>
        </p:spPr>
        <p:txBody>
          <a:bodyPr anchor="t" rtlCol="false" tIns="0" lIns="0" bIns="0" rIns="0">
            <a:spAutoFit/>
          </a:bodyPr>
          <a:lstStyle/>
          <a:p>
            <a:pPr algn="ctr">
              <a:lnSpc>
                <a:spcPts val="4254"/>
              </a:lnSpc>
              <a:spcBef>
                <a:spcPct val="0"/>
              </a:spcBef>
            </a:pPr>
            <a:r>
              <a:rPr lang="en-US" sz="3038">
                <a:solidFill>
                  <a:srgbClr val="FFFFFF"/>
                </a:solidFill>
                <a:latin typeface="Pattanakarn"/>
                <a:ea typeface="Pattanakarn"/>
                <a:cs typeface="Pattanakarn"/>
                <a:sym typeface="Pattanakarn"/>
              </a:rPr>
              <a:t>An output voltage, </a:t>
            </a:r>
          </a:p>
          <a:p>
            <a:pPr algn="ctr">
              <a:lnSpc>
                <a:spcPts val="4254"/>
              </a:lnSpc>
              <a:spcBef>
                <a:spcPct val="0"/>
              </a:spcBef>
            </a:pPr>
            <a:r>
              <a:rPr lang="en-US" sz="3038">
                <a:solidFill>
                  <a:srgbClr val="FFFFFF"/>
                </a:solidFill>
                <a:latin typeface="Pattanakarn"/>
                <a:ea typeface="Pattanakarn"/>
                <a:cs typeface="Pattanakarn"/>
                <a:sym typeface="Pattanakarn"/>
              </a:rPr>
              <a:t>Vout​.</a:t>
            </a:r>
          </a:p>
        </p:txBody>
      </p:sp>
      <p:grpSp>
        <p:nvGrpSpPr>
          <p:cNvPr name="Group 32" id="32"/>
          <p:cNvGrpSpPr/>
          <p:nvPr/>
        </p:nvGrpSpPr>
        <p:grpSpPr>
          <a:xfrm rot="5400000">
            <a:off x="17078240" y="828987"/>
            <a:ext cx="135674" cy="118714"/>
            <a:chOff x="0" y="0"/>
            <a:chExt cx="812800" cy="711200"/>
          </a:xfrm>
        </p:grpSpPr>
        <p:sp>
          <p:nvSpPr>
            <p:cNvPr name="Freeform 33" id="33"/>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5DD3D8"/>
            </a:solidFill>
          </p:spPr>
        </p:sp>
        <p:sp>
          <p:nvSpPr>
            <p:cNvPr name="TextBox 34" id="34"/>
            <p:cNvSpPr txBox="true"/>
            <p:nvPr/>
          </p:nvSpPr>
          <p:spPr>
            <a:xfrm>
              <a:off x="127000" y="292100"/>
              <a:ext cx="558800" cy="368300"/>
            </a:xfrm>
            <a:prstGeom prst="rect">
              <a:avLst/>
            </a:prstGeom>
          </p:spPr>
          <p:txBody>
            <a:bodyPr anchor="ctr" rtlCol="false" tIns="50800" lIns="50800" bIns="50800" rIns="50800"/>
            <a:lstStyle/>
            <a:p>
              <a:pPr algn="ctr">
                <a:lnSpc>
                  <a:spcPts val="3499"/>
                </a:lnSpc>
              </a:pPr>
            </a:p>
          </p:txBody>
        </p:sp>
      </p:gr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3868263" y="5518854"/>
            <a:ext cx="9793926" cy="6480614"/>
          </a:xfrm>
          <a:custGeom>
            <a:avLst/>
            <a:gdLst/>
            <a:ahLst/>
            <a:cxnLst/>
            <a:rect r="r" b="b" t="t" l="l"/>
            <a:pathLst>
              <a:path h="6480614" w="9793926">
                <a:moveTo>
                  <a:pt x="0" y="0"/>
                </a:moveTo>
                <a:lnTo>
                  <a:pt x="9793926" y="0"/>
                </a:lnTo>
                <a:lnTo>
                  <a:pt x="9793926" y="6480613"/>
                </a:lnTo>
                <a:lnTo>
                  <a:pt x="0" y="648061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800525" y="562743"/>
            <a:ext cx="16773396" cy="651202"/>
            <a:chOff x="0" y="0"/>
            <a:chExt cx="4417685" cy="171510"/>
          </a:xfrm>
        </p:grpSpPr>
        <p:sp>
          <p:nvSpPr>
            <p:cNvPr name="Freeform 5" id="5"/>
            <p:cNvSpPr/>
            <p:nvPr/>
          </p:nvSpPr>
          <p:spPr>
            <a:xfrm flipH="false" flipV="false" rot="0">
              <a:off x="0" y="0"/>
              <a:ext cx="4417685" cy="171510"/>
            </a:xfrm>
            <a:custGeom>
              <a:avLst/>
              <a:gdLst/>
              <a:ahLst/>
              <a:cxnLst/>
              <a:rect r="r" b="b" t="t" l="l"/>
              <a:pathLst>
                <a:path h="171510" w="4417685">
                  <a:moveTo>
                    <a:pt x="6462" y="0"/>
                  </a:moveTo>
                  <a:lnTo>
                    <a:pt x="4411223" y="0"/>
                  </a:lnTo>
                  <a:cubicBezTo>
                    <a:pt x="4412936" y="0"/>
                    <a:pt x="4414580" y="681"/>
                    <a:pt x="4415792" y="1893"/>
                  </a:cubicBezTo>
                  <a:cubicBezTo>
                    <a:pt x="4417004" y="3104"/>
                    <a:pt x="4417685" y="4748"/>
                    <a:pt x="4417685" y="6462"/>
                  </a:cubicBezTo>
                  <a:lnTo>
                    <a:pt x="4417685" y="165048"/>
                  </a:lnTo>
                  <a:cubicBezTo>
                    <a:pt x="4417685" y="168617"/>
                    <a:pt x="4414791" y="171510"/>
                    <a:pt x="4411223" y="171510"/>
                  </a:cubicBezTo>
                  <a:lnTo>
                    <a:pt x="6462" y="171510"/>
                  </a:lnTo>
                  <a:cubicBezTo>
                    <a:pt x="4748" y="171510"/>
                    <a:pt x="3104" y="170829"/>
                    <a:pt x="1893" y="169617"/>
                  </a:cubicBezTo>
                  <a:cubicBezTo>
                    <a:pt x="681" y="168406"/>
                    <a:pt x="0" y="166762"/>
                    <a:pt x="0" y="165048"/>
                  </a:cubicBezTo>
                  <a:lnTo>
                    <a:pt x="0" y="6462"/>
                  </a:lnTo>
                  <a:cubicBezTo>
                    <a:pt x="0" y="4748"/>
                    <a:pt x="681" y="3104"/>
                    <a:pt x="1893" y="1893"/>
                  </a:cubicBezTo>
                  <a:cubicBezTo>
                    <a:pt x="3104" y="681"/>
                    <a:pt x="4748" y="0"/>
                    <a:pt x="6462" y="0"/>
                  </a:cubicBezTo>
                  <a:close/>
                </a:path>
              </a:pathLst>
            </a:custGeom>
            <a:ln w="38100" cap="sq">
              <a:gradFill>
                <a:gsLst>
                  <a:gs pos="0">
                    <a:srgbClr val="5DD3D8">
                      <a:alpha val="100000"/>
                    </a:srgbClr>
                  </a:gs>
                  <a:gs pos="100000">
                    <a:srgbClr val="006D97">
                      <a:alpha val="100000"/>
                    </a:srgbClr>
                  </a:gs>
                </a:gsLst>
                <a:lin ang="5400000"/>
              </a:gradFill>
              <a:prstDash val="solid"/>
              <a:miter/>
            </a:ln>
          </p:spPr>
        </p:sp>
        <p:sp>
          <p:nvSpPr>
            <p:cNvPr name="TextBox 6" id="6"/>
            <p:cNvSpPr txBox="true"/>
            <p:nvPr/>
          </p:nvSpPr>
          <p:spPr>
            <a:xfrm>
              <a:off x="0" y="-38100"/>
              <a:ext cx="4417685" cy="209610"/>
            </a:xfrm>
            <a:prstGeom prst="rect">
              <a:avLst/>
            </a:prstGeom>
          </p:spPr>
          <p:txBody>
            <a:bodyPr anchor="ctr" rtlCol="false" tIns="50800" lIns="50800" bIns="50800" rIns="50800"/>
            <a:lstStyle/>
            <a:p>
              <a:pPr algn="ctr">
                <a:lnSpc>
                  <a:spcPts val="3499"/>
                </a:lnSpc>
              </a:pPr>
            </a:p>
          </p:txBody>
        </p:sp>
      </p:grpSp>
      <p:sp>
        <p:nvSpPr>
          <p:cNvPr name="Freeform 7" id="7"/>
          <p:cNvSpPr/>
          <p:nvPr/>
        </p:nvSpPr>
        <p:spPr>
          <a:xfrm flipH="false" flipV="false" rot="0">
            <a:off x="16412486" y="8545707"/>
            <a:ext cx="3471546" cy="3548978"/>
          </a:xfrm>
          <a:custGeom>
            <a:avLst/>
            <a:gdLst/>
            <a:ahLst/>
            <a:cxnLst/>
            <a:rect r="r" b="b" t="t" l="l"/>
            <a:pathLst>
              <a:path h="3548978" w="3471546">
                <a:moveTo>
                  <a:pt x="0" y="0"/>
                </a:moveTo>
                <a:lnTo>
                  <a:pt x="3471545" y="0"/>
                </a:lnTo>
                <a:lnTo>
                  <a:pt x="3471545" y="3548978"/>
                </a:lnTo>
                <a:lnTo>
                  <a:pt x="0" y="3548978"/>
                </a:lnTo>
                <a:lnTo>
                  <a:pt x="0" y="0"/>
                </a:lnTo>
                <a:close/>
              </a:path>
            </a:pathLst>
          </a:custGeom>
          <a:blipFill>
            <a:blip r:embed="rId5">
              <a:alphaModFix amt="42000"/>
              <a:extLst>
                <a:ext uri="{96DAC541-7B7A-43D3-8B79-37D633B846F1}">
                  <asvg:svgBlip xmlns:asvg="http://schemas.microsoft.com/office/drawing/2016/SVG/main" r:embed="rId6"/>
                </a:ext>
              </a:extLst>
            </a:blip>
            <a:stretch>
              <a:fillRect l="0" t="0" r="0" b="0"/>
            </a:stretch>
          </a:blipFill>
        </p:spPr>
      </p:sp>
      <p:sp>
        <p:nvSpPr>
          <p:cNvPr name="TextBox 8" id="8"/>
          <p:cNvSpPr txBox="true"/>
          <p:nvPr/>
        </p:nvSpPr>
        <p:spPr>
          <a:xfrm rot="0">
            <a:off x="15678895" y="699741"/>
            <a:ext cx="1467181" cy="316263"/>
          </a:xfrm>
          <a:prstGeom prst="rect">
            <a:avLst/>
          </a:prstGeom>
        </p:spPr>
        <p:txBody>
          <a:bodyPr anchor="t" rtlCol="false" tIns="0" lIns="0" bIns="0" rIns="0">
            <a:spAutoFit/>
          </a:bodyPr>
          <a:lstStyle/>
          <a:p>
            <a:pPr algn="l">
              <a:lnSpc>
                <a:spcPts val="2520"/>
              </a:lnSpc>
            </a:pPr>
            <a:r>
              <a:rPr lang="en-US" sz="1800">
                <a:solidFill>
                  <a:srgbClr val="FFFFFF"/>
                </a:solidFill>
                <a:latin typeface="Tomorrow"/>
                <a:ea typeface="Tomorrow"/>
                <a:cs typeface="Tomorrow"/>
                <a:sym typeface="Tomorrow"/>
              </a:rPr>
              <a:t>NEXT PAGE</a:t>
            </a:r>
          </a:p>
        </p:txBody>
      </p:sp>
      <p:grpSp>
        <p:nvGrpSpPr>
          <p:cNvPr name="Group 9" id="9"/>
          <p:cNvGrpSpPr/>
          <p:nvPr/>
        </p:nvGrpSpPr>
        <p:grpSpPr>
          <a:xfrm rot="5400000">
            <a:off x="17078240" y="828987"/>
            <a:ext cx="135674" cy="118714"/>
            <a:chOff x="0" y="0"/>
            <a:chExt cx="812800" cy="711200"/>
          </a:xfrm>
        </p:grpSpPr>
        <p:sp>
          <p:nvSpPr>
            <p:cNvPr name="Freeform 10" id="10"/>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5DD3D8"/>
            </a:solidFill>
          </p:spPr>
        </p:sp>
        <p:sp>
          <p:nvSpPr>
            <p:cNvPr name="TextBox 11" id="11"/>
            <p:cNvSpPr txBox="true"/>
            <p:nvPr/>
          </p:nvSpPr>
          <p:spPr>
            <a:xfrm>
              <a:off x="127000" y="292100"/>
              <a:ext cx="558800" cy="368300"/>
            </a:xfrm>
            <a:prstGeom prst="rect">
              <a:avLst/>
            </a:prstGeom>
          </p:spPr>
          <p:txBody>
            <a:bodyPr anchor="ctr" rtlCol="false" tIns="50800" lIns="50800" bIns="50800" rIns="50800"/>
            <a:lstStyle/>
            <a:p>
              <a:pPr algn="ctr">
                <a:lnSpc>
                  <a:spcPts val="3499"/>
                </a:lnSpc>
              </a:pPr>
            </a:p>
          </p:txBody>
        </p:sp>
      </p:grpSp>
      <p:sp>
        <p:nvSpPr>
          <p:cNvPr name="TextBox 12" id="12"/>
          <p:cNvSpPr txBox="true"/>
          <p:nvPr/>
        </p:nvSpPr>
        <p:spPr>
          <a:xfrm rot="0">
            <a:off x="149947" y="2148787"/>
            <a:ext cx="6851856" cy="6692509"/>
          </a:xfrm>
          <a:prstGeom prst="rect">
            <a:avLst/>
          </a:prstGeom>
        </p:spPr>
        <p:txBody>
          <a:bodyPr anchor="t" rtlCol="false" tIns="0" lIns="0" bIns="0" rIns="0">
            <a:spAutoFit/>
          </a:bodyPr>
          <a:lstStyle/>
          <a:p>
            <a:pPr algn="l" marL="516087" indent="-258044" lvl="1">
              <a:lnSpc>
                <a:spcPts val="3346"/>
              </a:lnSpc>
              <a:spcBef>
                <a:spcPct val="0"/>
              </a:spcBef>
              <a:buFont typeface="Arial"/>
              <a:buChar char="•"/>
            </a:pPr>
            <a:r>
              <a:rPr lang="en-US" sz="2390">
                <a:solidFill>
                  <a:srgbClr val="FFFFFF"/>
                </a:solidFill>
                <a:latin typeface="Pattanakarn"/>
                <a:ea typeface="Pattanakarn"/>
                <a:cs typeface="Pattanakarn"/>
                <a:sym typeface="Pattanakarn"/>
              </a:rPr>
              <a:t>V</a:t>
            </a:r>
            <a:r>
              <a:rPr lang="en-US" sz="2390">
                <a:solidFill>
                  <a:srgbClr val="FFFFFF"/>
                </a:solidFill>
                <a:latin typeface="Pattanakarn"/>
                <a:ea typeface="Pattanakarn"/>
                <a:cs typeface="Pattanakarn"/>
                <a:sym typeface="Pattanakarn"/>
              </a:rPr>
              <a:t>in​ is the voltage signal entering the circuit from the left. </a:t>
            </a:r>
          </a:p>
          <a:p>
            <a:pPr algn="l">
              <a:lnSpc>
                <a:spcPts val="3346"/>
              </a:lnSpc>
              <a:spcBef>
                <a:spcPct val="0"/>
              </a:spcBef>
            </a:pPr>
          </a:p>
          <a:p>
            <a:pPr algn="l" marL="516087" indent="-258044" lvl="1">
              <a:lnSpc>
                <a:spcPts val="3346"/>
              </a:lnSpc>
              <a:spcBef>
                <a:spcPct val="0"/>
              </a:spcBef>
              <a:buFont typeface="Arial"/>
              <a:buChar char="•"/>
            </a:pPr>
            <a:r>
              <a:rPr lang="en-US" sz="2390">
                <a:solidFill>
                  <a:srgbClr val="FFFFFF"/>
                </a:solidFill>
                <a:latin typeface="Pattanakarn"/>
                <a:ea typeface="Pattanakarn"/>
                <a:cs typeface="Pattanakarn"/>
                <a:sym typeface="Pattanakarn"/>
              </a:rPr>
              <a:t>The triangle represents the operational amplifier, or op-amp. </a:t>
            </a:r>
          </a:p>
          <a:p>
            <a:pPr algn="l">
              <a:lnSpc>
                <a:spcPts val="3346"/>
              </a:lnSpc>
              <a:spcBef>
                <a:spcPct val="0"/>
              </a:spcBef>
            </a:pPr>
            <a:r>
              <a:rPr lang="en-US" sz="2390">
                <a:solidFill>
                  <a:srgbClr val="FFFFFF"/>
                </a:solidFill>
                <a:latin typeface="Pattanakarn"/>
                <a:ea typeface="Pattanakarn"/>
                <a:cs typeface="Pattanakarn"/>
                <a:sym typeface="Pattanakarn"/>
              </a:rPr>
              <a:t>    </a:t>
            </a:r>
            <a:r>
              <a:rPr lang="en-US" sz="2390">
                <a:solidFill>
                  <a:srgbClr val="FFFFFF"/>
                </a:solidFill>
                <a:latin typeface="Pattanakarn"/>
                <a:ea typeface="Pattanakarn"/>
                <a:cs typeface="Pattanakarn"/>
                <a:sym typeface="Pattanakarn"/>
              </a:rPr>
              <a:t>A plus input, called the non-inverting input.</a:t>
            </a:r>
          </a:p>
          <a:p>
            <a:pPr algn="l">
              <a:lnSpc>
                <a:spcPts val="3346"/>
              </a:lnSpc>
              <a:spcBef>
                <a:spcPct val="0"/>
              </a:spcBef>
            </a:pPr>
            <a:r>
              <a:rPr lang="en-US" sz="2390">
                <a:solidFill>
                  <a:srgbClr val="FFFFFF"/>
                </a:solidFill>
                <a:latin typeface="Pattanakarn"/>
                <a:ea typeface="Pattanakarn"/>
                <a:cs typeface="Pattanakarn"/>
                <a:sym typeface="Pattanakarn"/>
              </a:rPr>
              <a:t>    A minus input, called the inverting input.</a:t>
            </a:r>
          </a:p>
          <a:p>
            <a:pPr algn="l">
              <a:lnSpc>
                <a:spcPts val="3346"/>
              </a:lnSpc>
              <a:spcBef>
                <a:spcPct val="0"/>
              </a:spcBef>
            </a:pPr>
          </a:p>
          <a:p>
            <a:pPr algn="l" marL="516087" indent="-258044" lvl="1">
              <a:lnSpc>
                <a:spcPts val="3346"/>
              </a:lnSpc>
              <a:buFont typeface="Arial"/>
              <a:buChar char="•"/>
            </a:pPr>
            <a:r>
              <a:rPr lang="en-US" sz="2390">
                <a:solidFill>
                  <a:srgbClr val="FFFFFF"/>
                </a:solidFill>
                <a:latin typeface="Pattanakarn"/>
                <a:ea typeface="Pattanakarn"/>
                <a:cs typeface="Pattanakarn"/>
                <a:sym typeface="Pattanakarn"/>
              </a:rPr>
              <a:t>Vout​ is the amplified voltage leaving the circuit on the right.</a:t>
            </a:r>
          </a:p>
          <a:p>
            <a:pPr algn="l">
              <a:lnSpc>
                <a:spcPts val="3346"/>
              </a:lnSpc>
              <a:spcBef>
                <a:spcPct val="0"/>
              </a:spcBef>
            </a:pPr>
          </a:p>
          <a:p>
            <a:pPr algn="l" marL="516087" indent="-258044" lvl="1">
              <a:lnSpc>
                <a:spcPts val="3346"/>
              </a:lnSpc>
              <a:spcBef>
                <a:spcPct val="0"/>
              </a:spcBef>
              <a:buFont typeface="Arial"/>
              <a:buChar char="•"/>
            </a:pPr>
            <a:r>
              <a:rPr lang="en-US" sz="2390">
                <a:solidFill>
                  <a:srgbClr val="FFFFFF"/>
                </a:solidFill>
                <a:latin typeface="Pattanakarn"/>
                <a:ea typeface="Pattanakarn"/>
                <a:cs typeface="Pattanakarn"/>
                <a:sym typeface="Pattanakarn"/>
              </a:rPr>
              <a:t>Rf​ is the feedback resistor.</a:t>
            </a:r>
          </a:p>
          <a:p>
            <a:pPr algn="l">
              <a:lnSpc>
                <a:spcPts val="3346"/>
              </a:lnSpc>
              <a:spcBef>
                <a:spcPct val="0"/>
              </a:spcBef>
            </a:pPr>
          </a:p>
          <a:p>
            <a:pPr algn="l" marL="516087" indent="-258044" lvl="1">
              <a:lnSpc>
                <a:spcPts val="3346"/>
              </a:lnSpc>
              <a:spcBef>
                <a:spcPct val="0"/>
              </a:spcBef>
              <a:buFont typeface="Arial"/>
              <a:buChar char="•"/>
            </a:pPr>
            <a:r>
              <a:rPr lang="en-US" sz="2390">
                <a:solidFill>
                  <a:srgbClr val="FFFFFF"/>
                </a:solidFill>
                <a:latin typeface="Pattanakarn"/>
                <a:ea typeface="Pattanakarn"/>
                <a:cs typeface="Pattanakarn"/>
                <a:sym typeface="Pattanakarn"/>
              </a:rPr>
              <a:t>R1​ connects the minus-input junction to ground.</a:t>
            </a:r>
          </a:p>
          <a:p>
            <a:pPr algn="l">
              <a:lnSpc>
                <a:spcPts val="3346"/>
              </a:lnSpc>
              <a:spcBef>
                <a:spcPct val="0"/>
              </a:spcBef>
            </a:pPr>
          </a:p>
        </p:txBody>
      </p:sp>
      <p:grpSp>
        <p:nvGrpSpPr>
          <p:cNvPr name="Group 13" id="13"/>
          <p:cNvGrpSpPr/>
          <p:nvPr/>
        </p:nvGrpSpPr>
        <p:grpSpPr>
          <a:xfrm rot="5400000">
            <a:off x="256382" y="4329756"/>
            <a:ext cx="232171" cy="203150"/>
            <a:chOff x="0" y="0"/>
            <a:chExt cx="812800" cy="711200"/>
          </a:xfrm>
        </p:grpSpPr>
        <p:sp>
          <p:nvSpPr>
            <p:cNvPr name="Freeform 14" id="14"/>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5DD3D8"/>
            </a:solidFill>
          </p:spPr>
        </p:sp>
        <p:sp>
          <p:nvSpPr>
            <p:cNvPr name="TextBox 15" id="15"/>
            <p:cNvSpPr txBox="true"/>
            <p:nvPr/>
          </p:nvSpPr>
          <p:spPr>
            <a:xfrm>
              <a:off x="127000" y="292100"/>
              <a:ext cx="558800" cy="368300"/>
            </a:xfrm>
            <a:prstGeom prst="rect">
              <a:avLst/>
            </a:prstGeom>
          </p:spPr>
          <p:txBody>
            <a:bodyPr anchor="ctr" rtlCol="false" tIns="50800" lIns="50800" bIns="50800" rIns="50800"/>
            <a:lstStyle/>
            <a:p>
              <a:pPr algn="ctr">
                <a:lnSpc>
                  <a:spcPts val="3499"/>
                </a:lnSpc>
              </a:pPr>
            </a:p>
          </p:txBody>
        </p:sp>
      </p:grpSp>
      <p:grpSp>
        <p:nvGrpSpPr>
          <p:cNvPr name="Group 16" id="16"/>
          <p:cNvGrpSpPr/>
          <p:nvPr/>
        </p:nvGrpSpPr>
        <p:grpSpPr>
          <a:xfrm rot="5400000">
            <a:off x="256382" y="4767311"/>
            <a:ext cx="232171" cy="203150"/>
            <a:chOff x="0" y="0"/>
            <a:chExt cx="812800" cy="711200"/>
          </a:xfrm>
        </p:grpSpPr>
        <p:sp>
          <p:nvSpPr>
            <p:cNvPr name="Freeform 17" id="17"/>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5DD3D8"/>
            </a:solidFill>
          </p:spPr>
        </p:sp>
        <p:sp>
          <p:nvSpPr>
            <p:cNvPr name="TextBox 18" id="18"/>
            <p:cNvSpPr txBox="true"/>
            <p:nvPr/>
          </p:nvSpPr>
          <p:spPr>
            <a:xfrm>
              <a:off x="127000" y="292100"/>
              <a:ext cx="558800" cy="368300"/>
            </a:xfrm>
            <a:prstGeom prst="rect">
              <a:avLst/>
            </a:prstGeom>
          </p:spPr>
          <p:txBody>
            <a:bodyPr anchor="ctr" rtlCol="false" tIns="50800" lIns="50800" bIns="50800" rIns="50800"/>
            <a:lstStyle/>
            <a:p>
              <a:pPr algn="ctr">
                <a:lnSpc>
                  <a:spcPts val="3499"/>
                </a:lnSpc>
              </a:pPr>
            </a:p>
          </p:txBody>
        </p:sp>
      </p:grpSp>
      <p:sp>
        <p:nvSpPr>
          <p:cNvPr name="Freeform 19" id="19"/>
          <p:cNvSpPr/>
          <p:nvPr/>
        </p:nvSpPr>
        <p:spPr>
          <a:xfrm flipH="false" flipV="false" rot="0">
            <a:off x="7001803" y="1855546"/>
            <a:ext cx="11051948" cy="6575909"/>
          </a:xfrm>
          <a:custGeom>
            <a:avLst/>
            <a:gdLst/>
            <a:ahLst/>
            <a:cxnLst/>
            <a:rect r="r" b="b" t="t" l="l"/>
            <a:pathLst>
              <a:path h="6575909" w="11051948">
                <a:moveTo>
                  <a:pt x="0" y="0"/>
                </a:moveTo>
                <a:lnTo>
                  <a:pt x="11051948" y="0"/>
                </a:lnTo>
                <a:lnTo>
                  <a:pt x="11051948" y="6575908"/>
                </a:lnTo>
                <a:lnTo>
                  <a:pt x="0" y="6575908"/>
                </a:lnTo>
                <a:lnTo>
                  <a:pt x="0" y="0"/>
                </a:lnTo>
                <a:close/>
              </a:path>
            </a:pathLst>
          </a:custGeom>
          <a:blipFill>
            <a:blip r:embed="rId7"/>
            <a:stretch>
              <a:fillRect l="0" t="0" r="0" b="0"/>
            </a:stretch>
          </a:blipFill>
        </p:spPr>
      </p:sp>
      <p:sp>
        <p:nvSpPr>
          <p:cNvPr name="TextBox 20" id="20"/>
          <p:cNvSpPr txBox="true"/>
          <p:nvPr/>
        </p:nvSpPr>
        <p:spPr>
          <a:xfrm rot="0">
            <a:off x="1218062" y="699741"/>
            <a:ext cx="3332215" cy="316263"/>
          </a:xfrm>
          <a:prstGeom prst="rect">
            <a:avLst/>
          </a:prstGeom>
        </p:spPr>
        <p:txBody>
          <a:bodyPr anchor="t" rtlCol="false" tIns="0" lIns="0" bIns="0" rIns="0">
            <a:spAutoFit/>
          </a:bodyPr>
          <a:lstStyle/>
          <a:p>
            <a:pPr algn="l">
              <a:lnSpc>
                <a:spcPts val="2520"/>
              </a:lnSpc>
            </a:pPr>
            <a:r>
              <a:rPr lang="en-US" sz="1800">
                <a:solidFill>
                  <a:srgbClr val="FFFFFF"/>
                </a:solidFill>
                <a:latin typeface="Tomorrow"/>
                <a:ea typeface="Tomorrow"/>
                <a:cs typeface="Tomorrow"/>
                <a:sym typeface="Tomorrow"/>
              </a:rPr>
              <a:t>C</a:t>
            </a:r>
            <a:r>
              <a:rPr lang="en-US" sz="1800">
                <a:solidFill>
                  <a:srgbClr val="FFFFFF"/>
                </a:solidFill>
                <a:latin typeface="Tomorrow"/>
                <a:ea typeface="Tomorrow"/>
                <a:cs typeface="Tomorrow"/>
                <a:sym typeface="Tomorrow"/>
              </a:rPr>
              <a:t>IRCUIT NETWORKS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9259" r="0" b="-9259"/>
            </a:stretch>
          </a:blipFill>
        </p:spPr>
      </p:sp>
      <p:grpSp>
        <p:nvGrpSpPr>
          <p:cNvPr name="Group 3" id="3"/>
          <p:cNvGrpSpPr/>
          <p:nvPr/>
        </p:nvGrpSpPr>
        <p:grpSpPr>
          <a:xfrm rot="0">
            <a:off x="800525" y="562743"/>
            <a:ext cx="16773396" cy="651202"/>
            <a:chOff x="0" y="0"/>
            <a:chExt cx="4417685" cy="171510"/>
          </a:xfrm>
        </p:grpSpPr>
        <p:sp>
          <p:nvSpPr>
            <p:cNvPr name="Freeform 4" id="4"/>
            <p:cNvSpPr/>
            <p:nvPr/>
          </p:nvSpPr>
          <p:spPr>
            <a:xfrm flipH="false" flipV="false" rot="0">
              <a:off x="0" y="0"/>
              <a:ext cx="4417685" cy="171510"/>
            </a:xfrm>
            <a:custGeom>
              <a:avLst/>
              <a:gdLst/>
              <a:ahLst/>
              <a:cxnLst/>
              <a:rect r="r" b="b" t="t" l="l"/>
              <a:pathLst>
                <a:path h="171510" w="4417685">
                  <a:moveTo>
                    <a:pt x="6462" y="0"/>
                  </a:moveTo>
                  <a:lnTo>
                    <a:pt x="4411223" y="0"/>
                  </a:lnTo>
                  <a:cubicBezTo>
                    <a:pt x="4412936" y="0"/>
                    <a:pt x="4414580" y="681"/>
                    <a:pt x="4415792" y="1893"/>
                  </a:cubicBezTo>
                  <a:cubicBezTo>
                    <a:pt x="4417004" y="3104"/>
                    <a:pt x="4417685" y="4748"/>
                    <a:pt x="4417685" y="6462"/>
                  </a:cubicBezTo>
                  <a:lnTo>
                    <a:pt x="4417685" y="165048"/>
                  </a:lnTo>
                  <a:cubicBezTo>
                    <a:pt x="4417685" y="168617"/>
                    <a:pt x="4414791" y="171510"/>
                    <a:pt x="4411223" y="171510"/>
                  </a:cubicBezTo>
                  <a:lnTo>
                    <a:pt x="6462" y="171510"/>
                  </a:lnTo>
                  <a:cubicBezTo>
                    <a:pt x="4748" y="171510"/>
                    <a:pt x="3104" y="170829"/>
                    <a:pt x="1893" y="169617"/>
                  </a:cubicBezTo>
                  <a:cubicBezTo>
                    <a:pt x="681" y="168406"/>
                    <a:pt x="0" y="166762"/>
                    <a:pt x="0" y="165048"/>
                  </a:cubicBezTo>
                  <a:lnTo>
                    <a:pt x="0" y="6462"/>
                  </a:lnTo>
                  <a:cubicBezTo>
                    <a:pt x="0" y="4748"/>
                    <a:pt x="681" y="3104"/>
                    <a:pt x="1893" y="1893"/>
                  </a:cubicBezTo>
                  <a:cubicBezTo>
                    <a:pt x="3104" y="681"/>
                    <a:pt x="4748" y="0"/>
                    <a:pt x="6462" y="0"/>
                  </a:cubicBezTo>
                  <a:close/>
                </a:path>
              </a:pathLst>
            </a:custGeom>
            <a:ln w="38100" cap="sq">
              <a:gradFill>
                <a:gsLst>
                  <a:gs pos="0">
                    <a:srgbClr val="5DD3D8">
                      <a:alpha val="100000"/>
                    </a:srgbClr>
                  </a:gs>
                  <a:gs pos="100000">
                    <a:srgbClr val="006D97">
                      <a:alpha val="100000"/>
                    </a:srgbClr>
                  </a:gs>
                </a:gsLst>
                <a:lin ang="5400000"/>
              </a:gradFill>
              <a:prstDash val="solid"/>
              <a:miter/>
            </a:ln>
          </p:spPr>
        </p:sp>
        <p:sp>
          <p:nvSpPr>
            <p:cNvPr name="TextBox 5" id="5"/>
            <p:cNvSpPr txBox="true"/>
            <p:nvPr/>
          </p:nvSpPr>
          <p:spPr>
            <a:xfrm>
              <a:off x="0" y="-38100"/>
              <a:ext cx="4417685" cy="209610"/>
            </a:xfrm>
            <a:prstGeom prst="rect">
              <a:avLst/>
            </a:prstGeom>
          </p:spPr>
          <p:txBody>
            <a:bodyPr anchor="ctr" rtlCol="false" tIns="50800" lIns="50800" bIns="50800" rIns="50800"/>
            <a:lstStyle/>
            <a:p>
              <a:pPr algn="ctr">
                <a:lnSpc>
                  <a:spcPts val="3499"/>
                </a:lnSpc>
              </a:pPr>
            </a:p>
          </p:txBody>
        </p:sp>
      </p:grpSp>
      <p:sp>
        <p:nvSpPr>
          <p:cNvPr name="TextBox 6" id="6"/>
          <p:cNvSpPr txBox="true"/>
          <p:nvPr/>
        </p:nvSpPr>
        <p:spPr>
          <a:xfrm rot="0">
            <a:off x="1218062" y="699741"/>
            <a:ext cx="3332215" cy="316263"/>
          </a:xfrm>
          <a:prstGeom prst="rect">
            <a:avLst/>
          </a:prstGeom>
        </p:spPr>
        <p:txBody>
          <a:bodyPr anchor="t" rtlCol="false" tIns="0" lIns="0" bIns="0" rIns="0">
            <a:spAutoFit/>
          </a:bodyPr>
          <a:lstStyle/>
          <a:p>
            <a:pPr algn="l">
              <a:lnSpc>
                <a:spcPts val="2520"/>
              </a:lnSpc>
            </a:pPr>
            <a:r>
              <a:rPr lang="en-US" sz="1800">
                <a:solidFill>
                  <a:srgbClr val="FFFFFF"/>
                </a:solidFill>
                <a:latin typeface="Tomorrow"/>
                <a:ea typeface="Tomorrow"/>
                <a:cs typeface="Tomorrow"/>
                <a:sym typeface="Tomorrow"/>
              </a:rPr>
              <a:t>C</a:t>
            </a:r>
            <a:r>
              <a:rPr lang="en-US" sz="1800">
                <a:solidFill>
                  <a:srgbClr val="FFFFFF"/>
                </a:solidFill>
                <a:latin typeface="Tomorrow"/>
                <a:ea typeface="Tomorrow"/>
                <a:cs typeface="Tomorrow"/>
                <a:sym typeface="Tomorrow"/>
              </a:rPr>
              <a:t>IRCUIT NETWORKS</a:t>
            </a:r>
          </a:p>
        </p:txBody>
      </p:sp>
      <p:sp>
        <p:nvSpPr>
          <p:cNvPr name="TextBox 7" id="7"/>
          <p:cNvSpPr txBox="true"/>
          <p:nvPr/>
        </p:nvSpPr>
        <p:spPr>
          <a:xfrm rot="0">
            <a:off x="15678895" y="699741"/>
            <a:ext cx="1467181" cy="316263"/>
          </a:xfrm>
          <a:prstGeom prst="rect">
            <a:avLst/>
          </a:prstGeom>
        </p:spPr>
        <p:txBody>
          <a:bodyPr anchor="t" rtlCol="false" tIns="0" lIns="0" bIns="0" rIns="0">
            <a:spAutoFit/>
          </a:bodyPr>
          <a:lstStyle/>
          <a:p>
            <a:pPr algn="l">
              <a:lnSpc>
                <a:spcPts val="2520"/>
              </a:lnSpc>
            </a:pPr>
            <a:r>
              <a:rPr lang="en-US" sz="1800">
                <a:solidFill>
                  <a:srgbClr val="FFFFFF"/>
                </a:solidFill>
                <a:latin typeface="Tomorrow"/>
                <a:ea typeface="Tomorrow"/>
                <a:cs typeface="Tomorrow"/>
                <a:sym typeface="Tomorrow"/>
              </a:rPr>
              <a:t>NEXT PAGE</a:t>
            </a:r>
          </a:p>
        </p:txBody>
      </p:sp>
      <p:grpSp>
        <p:nvGrpSpPr>
          <p:cNvPr name="Group 8" id="8"/>
          <p:cNvGrpSpPr/>
          <p:nvPr/>
        </p:nvGrpSpPr>
        <p:grpSpPr>
          <a:xfrm rot="5400000">
            <a:off x="17078240" y="828987"/>
            <a:ext cx="135674" cy="118714"/>
            <a:chOff x="0" y="0"/>
            <a:chExt cx="812800" cy="711200"/>
          </a:xfrm>
        </p:grpSpPr>
        <p:sp>
          <p:nvSpPr>
            <p:cNvPr name="Freeform 9" id="9"/>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5DD3D8"/>
            </a:solidFill>
          </p:spPr>
        </p:sp>
        <p:sp>
          <p:nvSpPr>
            <p:cNvPr name="TextBox 10" id="10"/>
            <p:cNvSpPr txBox="true"/>
            <p:nvPr/>
          </p:nvSpPr>
          <p:spPr>
            <a:xfrm>
              <a:off x="127000" y="292100"/>
              <a:ext cx="558800" cy="368300"/>
            </a:xfrm>
            <a:prstGeom prst="rect">
              <a:avLst/>
            </a:prstGeom>
          </p:spPr>
          <p:txBody>
            <a:bodyPr anchor="ctr" rtlCol="false" tIns="50800" lIns="50800" bIns="50800" rIns="50800"/>
            <a:lstStyle/>
            <a:p>
              <a:pPr algn="ctr">
                <a:lnSpc>
                  <a:spcPts val="3499"/>
                </a:lnSpc>
              </a:pPr>
            </a:p>
          </p:txBody>
        </p:sp>
      </p:grpSp>
      <p:sp>
        <p:nvSpPr>
          <p:cNvPr name="Freeform 11" id="11"/>
          <p:cNvSpPr/>
          <p:nvPr/>
        </p:nvSpPr>
        <p:spPr>
          <a:xfrm flipH="true" flipV="false" rot="0">
            <a:off x="12189756" y="5315685"/>
            <a:ext cx="9793926" cy="6480614"/>
          </a:xfrm>
          <a:custGeom>
            <a:avLst/>
            <a:gdLst/>
            <a:ahLst/>
            <a:cxnLst/>
            <a:rect r="r" b="b" t="t" l="l"/>
            <a:pathLst>
              <a:path h="6480614" w="9793926">
                <a:moveTo>
                  <a:pt x="9793926" y="0"/>
                </a:moveTo>
                <a:lnTo>
                  <a:pt x="0" y="0"/>
                </a:lnTo>
                <a:lnTo>
                  <a:pt x="0" y="6480614"/>
                </a:lnTo>
                <a:lnTo>
                  <a:pt x="9793926" y="6480614"/>
                </a:lnTo>
                <a:lnTo>
                  <a:pt x="9793926"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false" flipV="false" rot="0">
            <a:off x="-2043238" y="1766707"/>
            <a:ext cx="3471546" cy="3548978"/>
          </a:xfrm>
          <a:custGeom>
            <a:avLst/>
            <a:gdLst/>
            <a:ahLst/>
            <a:cxnLst/>
            <a:rect r="r" b="b" t="t" l="l"/>
            <a:pathLst>
              <a:path h="3548978" w="3471546">
                <a:moveTo>
                  <a:pt x="0" y="0"/>
                </a:moveTo>
                <a:lnTo>
                  <a:pt x="3471545" y="0"/>
                </a:lnTo>
                <a:lnTo>
                  <a:pt x="3471545" y="3548978"/>
                </a:lnTo>
                <a:lnTo>
                  <a:pt x="0" y="3548978"/>
                </a:lnTo>
                <a:lnTo>
                  <a:pt x="0" y="0"/>
                </a:lnTo>
                <a:close/>
              </a:path>
            </a:pathLst>
          </a:custGeom>
          <a:blipFill>
            <a:blip r:embed="rId5">
              <a:alphaModFix amt="42000"/>
              <a:extLst>
                <a:ext uri="{96DAC541-7B7A-43D3-8B79-37D633B846F1}">
                  <asvg:svgBlip xmlns:asvg="http://schemas.microsoft.com/office/drawing/2016/SVG/main" r:embed="rId6"/>
                </a:ext>
              </a:extLst>
            </a:blip>
            <a:stretch>
              <a:fillRect l="0" t="0" r="0" b="0"/>
            </a:stretch>
          </a:blipFill>
        </p:spPr>
      </p:sp>
      <p:grpSp>
        <p:nvGrpSpPr>
          <p:cNvPr name="Group 13" id="13"/>
          <p:cNvGrpSpPr/>
          <p:nvPr/>
        </p:nvGrpSpPr>
        <p:grpSpPr>
          <a:xfrm rot="0">
            <a:off x="1028700" y="1351689"/>
            <a:ext cx="2993565" cy="761479"/>
            <a:chOff x="0" y="0"/>
            <a:chExt cx="788429" cy="200554"/>
          </a:xfrm>
        </p:grpSpPr>
        <p:sp>
          <p:nvSpPr>
            <p:cNvPr name="Freeform 14" id="14"/>
            <p:cNvSpPr/>
            <p:nvPr/>
          </p:nvSpPr>
          <p:spPr>
            <a:xfrm flipH="false" flipV="false" rot="0">
              <a:off x="0" y="0"/>
              <a:ext cx="788429" cy="200554"/>
            </a:xfrm>
            <a:custGeom>
              <a:avLst/>
              <a:gdLst/>
              <a:ahLst/>
              <a:cxnLst/>
              <a:rect r="r" b="b" t="t" l="l"/>
              <a:pathLst>
                <a:path h="200554" w="788429">
                  <a:moveTo>
                    <a:pt x="49138" y="0"/>
                  </a:moveTo>
                  <a:lnTo>
                    <a:pt x="739291" y="0"/>
                  </a:lnTo>
                  <a:cubicBezTo>
                    <a:pt x="752323" y="0"/>
                    <a:pt x="764822" y="5177"/>
                    <a:pt x="774037" y="14392"/>
                  </a:cubicBezTo>
                  <a:cubicBezTo>
                    <a:pt x="783252" y="23607"/>
                    <a:pt x="788429" y="36105"/>
                    <a:pt x="788429" y="49138"/>
                  </a:cubicBezTo>
                  <a:lnTo>
                    <a:pt x="788429" y="151417"/>
                  </a:lnTo>
                  <a:cubicBezTo>
                    <a:pt x="788429" y="178554"/>
                    <a:pt x="766429" y="200554"/>
                    <a:pt x="739291" y="200554"/>
                  </a:cubicBezTo>
                  <a:lnTo>
                    <a:pt x="49138" y="200554"/>
                  </a:lnTo>
                  <a:cubicBezTo>
                    <a:pt x="22000" y="200554"/>
                    <a:pt x="0" y="178554"/>
                    <a:pt x="0" y="151417"/>
                  </a:cubicBezTo>
                  <a:lnTo>
                    <a:pt x="0" y="49138"/>
                  </a:lnTo>
                  <a:cubicBezTo>
                    <a:pt x="0" y="22000"/>
                    <a:pt x="22000" y="0"/>
                    <a:pt x="49138" y="0"/>
                  </a:cubicBezTo>
                  <a:close/>
                </a:path>
              </a:pathLst>
            </a:custGeom>
            <a:gradFill rotWithShape="true">
              <a:gsLst>
                <a:gs pos="0">
                  <a:srgbClr val="5DD3D8">
                    <a:alpha val="100000"/>
                  </a:srgbClr>
                </a:gs>
                <a:gs pos="100000">
                  <a:srgbClr val="006D97">
                    <a:alpha val="100000"/>
                  </a:srgbClr>
                </a:gs>
              </a:gsLst>
              <a:lin ang="0"/>
            </a:gradFill>
          </p:spPr>
        </p:sp>
        <p:sp>
          <p:nvSpPr>
            <p:cNvPr name="TextBox 15" id="15"/>
            <p:cNvSpPr txBox="true"/>
            <p:nvPr/>
          </p:nvSpPr>
          <p:spPr>
            <a:xfrm>
              <a:off x="0" y="-38100"/>
              <a:ext cx="788429" cy="238654"/>
            </a:xfrm>
            <a:prstGeom prst="rect">
              <a:avLst/>
            </a:prstGeom>
          </p:spPr>
          <p:txBody>
            <a:bodyPr anchor="ctr" rtlCol="false" tIns="50800" lIns="50800" bIns="50800" rIns="50800"/>
            <a:lstStyle/>
            <a:p>
              <a:pPr algn="ctr">
                <a:lnSpc>
                  <a:spcPts val="3499"/>
                </a:lnSpc>
              </a:pPr>
            </a:p>
          </p:txBody>
        </p:sp>
      </p:grpSp>
      <p:sp>
        <p:nvSpPr>
          <p:cNvPr name="TextBox 16" id="16"/>
          <p:cNvSpPr txBox="true"/>
          <p:nvPr/>
        </p:nvSpPr>
        <p:spPr>
          <a:xfrm rot="0">
            <a:off x="1195703" y="1417151"/>
            <a:ext cx="2659559" cy="563881"/>
          </a:xfrm>
          <a:prstGeom prst="rect">
            <a:avLst/>
          </a:prstGeom>
        </p:spPr>
        <p:txBody>
          <a:bodyPr anchor="t" rtlCol="false" tIns="0" lIns="0" bIns="0" rIns="0">
            <a:spAutoFit/>
          </a:bodyPr>
          <a:lstStyle/>
          <a:p>
            <a:pPr algn="ctr">
              <a:lnSpc>
                <a:spcPts val="4619"/>
              </a:lnSpc>
              <a:spcBef>
                <a:spcPct val="0"/>
              </a:spcBef>
            </a:pPr>
            <a:r>
              <a:rPr lang="en-US" sz="3299">
                <a:solidFill>
                  <a:srgbClr val="FFFFFF"/>
                </a:solidFill>
                <a:latin typeface="Pattanakarn"/>
                <a:ea typeface="Pattanakarn"/>
                <a:cs typeface="Pattanakarn"/>
                <a:sym typeface="Pattanakarn"/>
              </a:rPr>
              <a:t>Virtual Short</a:t>
            </a:r>
          </a:p>
        </p:txBody>
      </p:sp>
      <p:sp>
        <p:nvSpPr>
          <p:cNvPr name="TextBox 17" id="17"/>
          <p:cNvSpPr txBox="true"/>
          <p:nvPr/>
        </p:nvSpPr>
        <p:spPr>
          <a:xfrm rot="0">
            <a:off x="2702207" y="2208418"/>
            <a:ext cx="13710279" cy="1727200"/>
          </a:xfrm>
          <a:prstGeom prst="rect">
            <a:avLst/>
          </a:prstGeom>
        </p:spPr>
        <p:txBody>
          <a:bodyPr anchor="t" rtlCol="false" tIns="0" lIns="0" bIns="0" rIns="0">
            <a:spAutoFit/>
          </a:bodyPr>
          <a:lstStyle/>
          <a:p>
            <a:pPr algn="just">
              <a:lnSpc>
                <a:spcPts val="3499"/>
              </a:lnSpc>
              <a:spcBef>
                <a:spcPct val="0"/>
              </a:spcBef>
            </a:pPr>
            <a:r>
              <a:rPr lang="en-US" sz="2499">
                <a:solidFill>
                  <a:srgbClr val="FFFFFF"/>
                </a:solidFill>
                <a:latin typeface="Pattanakarn"/>
                <a:ea typeface="Pattanakarn"/>
                <a:cs typeface="Pattanakarn"/>
                <a:sym typeface="Pattanakarn"/>
              </a:rPr>
              <a:t>The virtual-short concept is used to analyze a noninverting amplifier.</a:t>
            </a:r>
          </a:p>
          <a:p>
            <a:pPr algn="just">
              <a:lnSpc>
                <a:spcPts val="3499"/>
              </a:lnSpc>
              <a:spcBef>
                <a:spcPct val="0"/>
              </a:spcBef>
            </a:pPr>
            <a:r>
              <a:rPr lang="en-US" sz="2499">
                <a:solidFill>
                  <a:srgbClr val="FFFFFF"/>
                </a:solidFill>
                <a:latin typeface="Pattanakarn"/>
                <a:ea typeface="Pattanakarn"/>
                <a:cs typeface="Pattanakarn"/>
                <a:sym typeface="Pattanakarn"/>
              </a:rPr>
              <a:t>A virtual short means that the two op-amp input terminals have approximately equal voltages, even though they are not physically connected.</a:t>
            </a:r>
          </a:p>
          <a:p>
            <a:pPr algn="just">
              <a:lnSpc>
                <a:spcPts val="3499"/>
              </a:lnSpc>
              <a:spcBef>
                <a:spcPct val="0"/>
              </a:spcBef>
            </a:pPr>
          </a:p>
        </p:txBody>
      </p:sp>
      <p:sp>
        <p:nvSpPr>
          <p:cNvPr name="TextBox 18" id="18"/>
          <p:cNvSpPr txBox="true"/>
          <p:nvPr/>
        </p:nvSpPr>
        <p:spPr>
          <a:xfrm rot="0">
            <a:off x="2702207" y="4871185"/>
            <a:ext cx="14495264" cy="850900"/>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FFFFFF"/>
                </a:solidFill>
                <a:latin typeface="Pattanakarn"/>
                <a:ea typeface="Pattanakarn"/>
                <a:cs typeface="Pattanakarn"/>
                <a:sym typeface="Pattanakarn"/>
              </a:rPr>
              <a:t>No current flows into the input terminals because the input impedance is extremely high.</a:t>
            </a:r>
          </a:p>
          <a:p>
            <a:pPr algn="l" marL="539749" indent="-269875" lvl="1">
              <a:lnSpc>
                <a:spcPts val="3499"/>
              </a:lnSpc>
              <a:buFont typeface="Arial"/>
              <a:buChar char="•"/>
            </a:pPr>
            <a:r>
              <a:rPr lang="en-US" sz="2499">
                <a:solidFill>
                  <a:srgbClr val="FFFFFF"/>
                </a:solidFill>
                <a:latin typeface="Pattanakarn"/>
                <a:ea typeface="Pattanakarn"/>
                <a:cs typeface="Pattanakarn"/>
                <a:sym typeface="Pattanakarn"/>
              </a:rPr>
              <a:t>The voltage difference between the input terminals is approximately zero.</a:t>
            </a:r>
          </a:p>
        </p:txBody>
      </p:sp>
      <p:grpSp>
        <p:nvGrpSpPr>
          <p:cNvPr name="Group 19" id="19"/>
          <p:cNvGrpSpPr/>
          <p:nvPr/>
        </p:nvGrpSpPr>
        <p:grpSpPr>
          <a:xfrm rot="0">
            <a:off x="1028700" y="4068968"/>
            <a:ext cx="3970833" cy="582407"/>
            <a:chOff x="0" y="0"/>
            <a:chExt cx="1045816" cy="153391"/>
          </a:xfrm>
        </p:grpSpPr>
        <p:sp>
          <p:nvSpPr>
            <p:cNvPr name="Freeform 20" id="20"/>
            <p:cNvSpPr/>
            <p:nvPr/>
          </p:nvSpPr>
          <p:spPr>
            <a:xfrm flipH="false" flipV="false" rot="0">
              <a:off x="0" y="0"/>
              <a:ext cx="1045816" cy="153391"/>
            </a:xfrm>
            <a:custGeom>
              <a:avLst/>
              <a:gdLst/>
              <a:ahLst/>
              <a:cxnLst/>
              <a:rect r="r" b="b" t="t" l="l"/>
              <a:pathLst>
                <a:path h="153391" w="1045816">
                  <a:moveTo>
                    <a:pt x="37044" y="0"/>
                  </a:moveTo>
                  <a:lnTo>
                    <a:pt x="1008772" y="0"/>
                  </a:lnTo>
                  <a:cubicBezTo>
                    <a:pt x="1018597" y="0"/>
                    <a:pt x="1028019" y="3903"/>
                    <a:pt x="1034966" y="10850"/>
                  </a:cubicBezTo>
                  <a:cubicBezTo>
                    <a:pt x="1041913" y="17797"/>
                    <a:pt x="1045816" y="27219"/>
                    <a:pt x="1045816" y="37044"/>
                  </a:cubicBezTo>
                  <a:lnTo>
                    <a:pt x="1045816" y="116347"/>
                  </a:lnTo>
                  <a:cubicBezTo>
                    <a:pt x="1045816" y="126172"/>
                    <a:pt x="1041913" y="135594"/>
                    <a:pt x="1034966" y="142541"/>
                  </a:cubicBezTo>
                  <a:cubicBezTo>
                    <a:pt x="1028019" y="149488"/>
                    <a:pt x="1018597" y="153391"/>
                    <a:pt x="1008772" y="153391"/>
                  </a:cubicBezTo>
                  <a:lnTo>
                    <a:pt x="37044" y="153391"/>
                  </a:lnTo>
                  <a:cubicBezTo>
                    <a:pt x="16585" y="153391"/>
                    <a:pt x="0" y="136806"/>
                    <a:pt x="0" y="116347"/>
                  </a:cubicBezTo>
                  <a:lnTo>
                    <a:pt x="0" y="37044"/>
                  </a:lnTo>
                  <a:cubicBezTo>
                    <a:pt x="0" y="27219"/>
                    <a:pt x="3903" y="17797"/>
                    <a:pt x="10850" y="10850"/>
                  </a:cubicBezTo>
                  <a:cubicBezTo>
                    <a:pt x="17797" y="3903"/>
                    <a:pt x="27219" y="0"/>
                    <a:pt x="37044" y="0"/>
                  </a:cubicBezTo>
                  <a:close/>
                </a:path>
              </a:pathLst>
            </a:custGeom>
            <a:gradFill rotWithShape="true">
              <a:gsLst>
                <a:gs pos="0">
                  <a:srgbClr val="5DD3D8">
                    <a:alpha val="100000"/>
                  </a:srgbClr>
                </a:gs>
                <a:gs pos="100000">
                  <a:srgbClr val="006D97">
                    <a:alpha val="100000"/>
                  </a:srgbClr>
                </a:gs>
              </a:gsLst>
              <a:lin ang="0"/>
            </a:gradFill>
          </p:spPr>
        </p:sp>
        <p:sp>
          <p:nvSpPr>
            <p:cNvPr name="TextBox 21" id="21"/>
            <p:cNvSpPr txBox="true"/>
            <p:nvPr/>
          </p:nvSpPr>
          <p:spPr>
            <a:xfrm>
              <a:off x="0" y="-38100"/>
              <a:ext cx="1045816" cy="191491"/>
            </a:xfrm>
            <a:prstGeom prst="rect">
              <a:avLst/>
            </a:prstGeom>
          </p:spPr>
          <p:txBody>
            <a:bodyPr anchor="ctr" rtlCol="false" tIns="50800" lIns="50800" bIns="50800" rIns="50800"/>
            <a:lstStyle/>
            <a:p>
              <a:pPr algn="ctr">
                <a:lnSpc>
                  <a:spcPts val="3499"/>
                </a:lnSpc>
              </a:pPr>
            </a:p>
          </p:txBody>
        </p:sp>
      </p:grpSp>
      <p:sp>
        <p:nvSpPr>
          <p:cNvPr name="TextBox 22" id="22"/>
          <p:cNvSpPr txBox="true"/>
          <p:nvPr/>
        </p:nvSpPr>
        <p:spPr>
          <a:xfrm rot="0">
            <a:off x="1407814" y="4134746"/>
            <a:ext cx="3212604" cy="412750"/>
          </a:xfrm>
          <a:prstGeom prst="rect">
            <a:avLst/>
          </a:prstGeom>
        </p:spPr>
        <p:txBody>
          <a:bodyPr anchor="t" rtlCol="false" tIns="0" lIns="0" bIns="0" rIns="0">
            <a:spAutoFit/>
          </a:bodyPr>
          <a:lstStyle/>
          <a:p>
            <a:pPr algn="ctr">
              <a:lnSpc>
                <a:spcPts val="3499"/>
              </a:lnSpc>
              <a:spcBef>
                <a:spcPct val="0"/>
              </a:spcBef>
            </a:pPr>
            <a:r>
              <a:rPr lang="en-US" sz="2499">
                <a:solidFill>
                  <a:srgbClr val="FFFFFF"/>
                </a:solidFill>
                <a:latin typeface="Pattanakarn"/>
                <a:ea typeface="Pattanakarn"/>
                <a:cs typeface="Pattanakarn"/>
                <a:sym typeface="Pattanakarn"/>
              </a:rPr>
              <a:t>For an ideal op-amp:</a:t>
            </a:r>
          </a:p>
        </p:txBody>
      </p:sp>
      <p:sp>
        <p:nvSpPr>
          <p:cNvPr name="TextBox 23" id="23"/>
          <p:cNvSpPr txBox="true"/>
          <p:nvPr/>
        </p:nvSpPr>
        <p:spPr>
          <a:xfrm rot="0">
            <a:off x="3523184" y="6712685"/>
            <a:ext cx="12068324" cy="3041650"/>
          </a:xfrm>
          <a:prstGeom prst="rect">
            <a:avLst/>
          </a:prstGeom>
        </p:spPr>
        <p:txBody>
          <a:bodyPr anchor="t" rtlCol="false" tIns="0" lIns="0" bIns="0" rIns="0">
            <a:spAutoFit/>
          </a:bodyPr>
          <a:lstStyle/>
          <a:p>
            <a:pPr algn="ctr">
              <a:lnSpc>
                <a:spcPts val="3499"/>
              </a:lnSpc>
              <a:spcBef>
                <a:spcPct val="0"/>
              </a:spcBef>
            </a:pPr>
          </a:p>
          <a:p>
            <a:pPr algn="ctr">
              <a:lnSpc>
                <a:spcPts val="3499"/>
              </a:lnSpc>
              <a:spcBef>
                <a:spcPct val="0"/>
              </a:spcBef>
            </a:pPr>
            <a:r>
              <a:rPr lang="en-US" sz="2499">
                <a:solidFill>
                  <a:srgbClr val="FFFFFF"/>
                </a:solidFill>
                <a:latin typeface="Pattanakarn"/>
                <a:ea typeface="Pattanakarn"/>
                <a:cs typeface="Pattanakarn"/>
                <a:sym typeface="Pattanakarn"/>
              </a:rPr>
              <a:t>V1​≈V2​</a:t>
            </a:r>
          </a:p>
          <a:p>
            <a:pPr algn="ctr">
              <a:lnSpc>
                <a:spcPts val="3499"/>
              </a:lnSpc>
              <a:spcBef>
                <a:spcPct val="0"/>
              </a:spcBef>
            </a:pPr>
            <a:r>
              <a:rPr lang="en-US" sz="2499">
                <a:solidFill>
                  <a:srgbClr val="FFFFFF"/>
                </a:solidFill>
                <a:latin typeface="Pattanakarn"/>
                <a:ea typeface="Pattanakarn"/>
                <a:cs typeface="Pattanakarn"/>
                <a:sym typeface="Pattanakarn"/>
              </a:rPr>
              <a:t>Because the input voltage is connected to the noninverting terminal:</a:t>
            </a:r>
          </a:p>
          <a:p>
            <a:pPr algn="ctr">
              <a:lnSpc>
                <a:spcPts val="3499"/>
              </a:lnSpc>
              <a:spcBef>
                <a:spcPct val="0"/>
              </a:spcBef>
            </a:pPr>
            <a:r>
              <a:rPr lang="en-US" sz="2499">
                <a:solidFill>
                  <a:srgbClr val="FFFFFF"/>
                </a:solidFill>
                <a:latin typeface="Pattanakarn"/>
                <a:ea typeface="Pattanakarn"/>
                <a:cs typeface="Pattanakarn"/>
                <a:sym typeface="Pattanakarn"/>
              </a:rPr>
              <a:t>V1​=Vin​</a:t>
            </a:r>
          </a:p>
          <a:p>
            <a:pPr algn="ctr">
              <a:lnSpc>
                <a:spcPts val="3499"/>
              </a:lnSpc>
              <a:spcBef>
                <a:spcPct val="0"/>
              </a:spcBef>
            </a:pPr>
            <a:r>
              <a:rPr lang="en-US" sz="2499">
                <a:solidFill>
                  <a:srgbClr val="FFFFFF"/>
                </a:solidFill>
                <a:latin typeface="Pattanakarn"/>
                <a:ea typeface="Pattanakarn"/>
                <a:cs typeface="Pattanakarn"/>
                <a:sym typeface="Pattanakarn"/>
              </a:rPr>
              <a:t>Therefore, the voltage at the inverting terminal also follows the input voltage:</a:t>
            </a:r>
          </a:p>
          <a:p>
            <a:pPr algn="ctr">
              <a:lnSpc>
                <a:spcPts val="3499"/>
              </a:lnSpc>
              <a:spcBef>
                <a:spcPct val="0"/>
              </a:spcBef>
            </a:pPr>
            <a:r>
              <a:rPr lang="en-US" sz="2499">
                <a:solidFill>
                  <a:srgbClr val="FFFFFF"/>
                </a:solidFill>
                <a:latin typeface="Pattanakarn"/>
                <a:ea typeface="Pattanakarn"/>
                <a:cs typeface="Pattanakarn"/>
                <a:sym typeface="Pattanakarn"/>
              </a:rPr>
              <a:t>V2​≈Vin​</a:t>
            </a:r>
          </a:p>
          <a:p>
            <a:pPr algn="ctr">
              <a:lnSpc>
                <a:spcPts val="3499"/>
              </a:lnSpc>
              <a:spcBef>
                <a:spcPct val="0"/>
              </a:spcBef>
            </a:pPr>
            <a:r>
              <a:rPr lang="en-US" sz="2499">
                <a:solidFill>
                  <a:srgbClr val="FFFFFF"/>
                </a:solidFill>
                <a:latin typeface="Pattanakarn"/>
                <a:ea typeface="Pattanakarn"/>
                <a:cs typeface="Pattanakarn"/>
                <a:sym typeface="Pattanakarn"/>
              </a:rPr>
              <a:t>The virtual short is a short for voltage, but it is an open circuit for current.</a:t>
            </a:r>
          </a:p>
        </p:txBody>
      </p:sp>
      <p:grpSp>
        <p:nvGrpSpPr>
          <p:cNvPr name="Group 24" id="24"/>
          <p:cNvGrpSpPr/>
          <p:nvPr/>
        </p:nvGrpSpPr>
        <p:grpSpPr>
          <a:xfrm rot="0">
            <a:off x="1028700" y="6274535"/>
            <a:ext cx="2337767" cy="582407"/>
            <a:chOff x="0" y="0"/>
            <a:chExt cx="615708" cy="153391"/>
          </a:xfrm>
        </p:grpSpPr>
        <p:sp>
          <p:nvSpPr>
            <p:cNvPr name="Freeform 25" id="25"/>
            <p:cNvSpPr/>
            <p:nvPr/>
          </p:nvSpPr>
          <p:spPr>
            <a:xfrm flipH="false" flipV="false" rot="0">
              <a:off x="0" y="0"/>
              <a:ext cx="615708" cy="153391"/>
            </a:xfrm>
            <a:custGeom>
              <a:avLst/>
              <a:gdLst/>
              <a:ahLst/>
              <a:cxnLst/>
              <a:rect r="r" b="b" t="t" l="l"/>
              <a:pathLst>
                <a:path h="153391" w="615708">
                  <a:moveTo>
                    <a:pt x="62922" y="0"/>
                  </a:moveTo>
                  <a:lnTo>
                    <a:pt x="552786" y="0"/>
                  </a:lnTo>
                  <a:cubicBezTo>
                    <a:pt x="569474" y="0"/>
                    <a:pt x="585479" y="6629"/>
                    <a:pt x="597279" y="18429"/>
                  </a:cubicBezTo>
                  <a:cubicBezTo>
                    <a:pt x="609079" y="30229"/>
                    <a:pt x="615708" y="46234"/>
                    <a:pt x="615708" y="62922"/>
                  </a:cubicBezTo>
                  <a:lnTo>
                    <a:pt x="615708" y="90469"/>
                  </a:lnTo>
                  <a:cubicBezTo>
                    <a:pt x="615708" y="107157"/>
                    <a:pt x="609079" y="123162"/>
                    <a:pt x="597279" y="134962"/>
                  </a:cubicBezTo>
                  <a:cubicBezTo>
                    <a:pt x="585479" y="146762"/>
                    <a:pt x="569474" y="153391"/>
                    <a:pt x="552786" y="153391"/>
                  </a:cubicBezTo>
                  <a:lnTo>
                    <a:pt x="62922" y="153391"/>
                  </a:lnTo>
                  <a:cubicBezTo>
                    <a:pt x="46234" y="153391"/>
                    <a:pt x="30229" y="146762"/>
                    <a:pt x="18429" y="134962"/>
                  </a:cubicBezTo>
                  <a:cubicBezTo>
                    <a:pt x="6629" y="123162"/>
                    <a:pt x="0" y="107157"/>
                    <a:pt x="0" y="90469"/>
                  </a:cubicBezTo>
                  <a:lnTo>
                    <a:pt x="0" y="62922"/>
                  </a:lnTo>
                  <a:cubicBezTo>
                    <a:pt x="0" y="46234"/>
                    <a:pt x="6629" y="30229"/>
                    <a:pt x="18429" y="18429"/>
                  </a:cubicBezTo>
                  <a:cubicBezTo>
                    <a:pt x="30229" y="6629"/>
                    <a:pt x="46234" y="0"/>
                    <a:pt x="62922" y="0"/>
                  </a:cubicBezTo>
                  <a:close/>
                </a:path>
              </a:pathLst>
            </a:custGeom>
            <a:gradFill rotWithShape="true">
              <a:gsLst>
                <a:gs pos="0">
                  <a:srgbClr val="5DD3D8">
                    <a:alpha val="100000"/>
                  </a:srgbClr>
                </a:gs>
                <a:gs pos="100000">
                  <a:srgbClr val="006D97">
                    <a:alpha val="100000"/>
                  </a:srgbClr>
                </a:gs>
              </a:gsLst>
              <a:lin ang="0"/>
            </a:gradFill>
          </p:spPr>
        </p:sp>
        <p:sp>
          <p:nvSpPr>
            <p:cNvPr name="TextBox 26" id="26"/>
            <p:cNvSpPr txBox="true"/>
            <p:nvPr/>
          </p:nvSpPr>
          <p:spPr>
            <a:xfrm>
              <a:off x="0" y="-38100"/>
              <a:ext cx="615708" cy="191491"/>
            </a:xfrm>
            <a:prstGeom prst="rect">
              <a:avLst/>
            </a:prstGeom>
          </p:spPr>
          <p:txBody>
            <a:bodyPr anchor="ctr" rtlCol="false" tIns="50800" lIns="50800" bIns="50800" rIns="50800"/>
            <a:lstStyle/>
            <a:p>
              <a:pPr algn="ctr">
                <a:lnSpc>
                  <a:spcPts val="3499"/>
                </a:lnSpc>
              </a:pPr>
            </a:p>
          </p:txBody>
        </p:sp>
      </p:grpSp>
      <p:sp>
        <p:nvSpPr>
          <p:cNvPr name="TextBox 27" id="27"/>
          <p:cNvSpPr txBox="true"/>
          <p:nvPr/>
        </p:nvSpPr>
        <p:spPr>
          <a:xfrm rot="0">
            <a:off x="1380728" y="6340314"/>
            <a:ext cx="1633389" cy="412750"/>
          </a:xfrm>
          <a:prstGeom prst="rect">
            <a:avLst/>
          </a:prstGeom>
        </p:spPr>
        <p:txBody>
          <a:bodyPr anchor="t" rtlCol="false" tIns="0" lIns="0" bIns="0" rIns="0">
            <a:spAutoFit/>
          </a:bodyPr>
          <a:lstStyle/>
          <a:p>
            <a:pPr algn="ctr">
              <a:lnSpc>
                <a:spcPts val="3499"/>
              </a:lnSpc>
              <a:spcBef>
                <a:spcPct val="0"/>
              </a:spcBef>
            </a:pPr>
            <a:r>
              <a:rPr lang="en-US" sz="2499">
                <a:solidFill>
                  <a:srgbClr val="FFFFFF"/>
                </a:solidFill>
                <a:latin typeface="Pattanakarn"/>
                <a:ea typeface="Pattanakarn"/>
                <a:cs typeface="Pattanakarn"/>
                <a:sym typeface="Pattanakarn"/>
              </a:rPr>
              <a:t>Therefore: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062E45"/>
        </a:solidFill>
      </p:bgPr>
    </p:bg>
    <p:spTree>
      <p:nvGrpSpPr>
        <p:cNvPr id="1" name=""/>
        <p:cNvGrpSpPr/>
        <p:nvPr/>
      </p:nvGrpSpPr>
      <p:grpSpPr>
        <a:xfrm>
          <a:off x="0" y="0"/>
          <a:ext cx="0" cy="0"/>
          <a:chOff x="0" y="0"/>
          <a:chExt cx="0" cy="0"/>
        </a:xfrm>
      </p:grpSpPr>
      <p:grpSp>
        <p:nvGrpSpPr>
          <p:cNvPr name="Group 2" id="2"/>
          <p:cNvGrpSpPr/>
          <p:nvPr/>
        </p:nvGrpSpPr>
        <p:grpSpPr>
          <a:xfrm rot="0">
            <a:off x="800525" y="562743"/>
            <a:ext cx="16773396" cy="651202"/>
            <a:chOff x="0" y="0"/>
            <a:chExt cx="4417685" cy="171510"/>
          </a:xfrm>
        </p:grpSpPr>
        <p:sp>
          <p:nvSpPr>
            <p:cNvPr name="Freeform 3" id="3"/>
            <p:cNvSpPr/>
            <p:nvPr/>
          </p:nvSpPr>
          <p:spPr>
            <a:xfrm flipH="false" flipV="false" rot="0">
              <a:off x="0" y="0"/>
              <a:ext cx="4417685" cy="171510"/>
            </a:xfrm>
            <a:custGeom>
              <a:avLst/>
              <a:gdLst/>
              <a:ahLst/>
              <a:cxnLst/>
              <a:rect r="r" b="b" t="t" l="l"/>
              <a:pathLst>
                <a:path h="171510" w="4417685">
                  <a:moveTo>
                    <a:pt x="6462" y="0"/>
                  </a:moveTo>
                  <a:lnTo>
                    <a:pt x="4411223" y="0"/>
                  </a:lnTo>
                  <a:cubicBezTo>
                    <a:pt x="4412936" y="0"/>
                    <a:pt x="4414580" y="681"/>
                    <a:pt x="4415792" y="1893"/>
                  </a:cubicBezTo>
                  <a:cubicBezTo>
                    <a:pt x="4417004" y="3104"/>
                    <a:pt x="4417685" y="4748"/>
                    <a:pt x="4417685" y="6462"/>
                  </a:cubicBezTo>
                  <a:lnTo>
                    <a:pt x="4417685" y="165048"/>
                  </a:lnTo>
                  <a:cubicBezTo>
                    <a:pt x="4417685" y="168617"/>
                    <a:pt x="4414791" y="171510"/>
                    <a:pt x="4411223" y="171510"/>
                  </a:cubicBezTo>
                  <a:lnTo>
                    <a:pt x="6462" y="171510"/>
                  </a:lnTo>
                  <a:cubicBezTo>
                    <a:pt x="4748" y="171510"/>
                    <a:pt x="3104" y="170829"/>
                    <a:pt x="1893" y="169617"/>
                  </a:cubicBezTo>
                  <a:cubicBezTo>
                    <a:pt x="681" y="168406"/>
                    <a:pt x="0" y="166762"/>
                    <a:pt x="0" y="165048"/>
                  </a:cubicBezTo>
                  <a:lnTo>
                    <a:pt x="0" y="6462"/>
                  </a:lnTo>
                  <a:cubicBezTo>
                    <a:pt x="0" y="4748"/>
                    <a:pt x="681" y="3104"/>
                    <a:pt x="1893" y="1893"/>
                  </a:cubicBezTo>
                  <a:cubicBezTo>
                    <a:pt x="3104" y="681"/>
                    <a:pt x="4748" y="0"/>
                    <a:pt x="6462" y="0"/>
                  </a:cubicBezTo>
                  <a:close/>
                </a:path>
              </a:pathLst>
            </a:custGeom>
            <a:ln w="38100" cap="sq">
              <a:gradFill>
                <a:gsLst>
                  <a:gs pos="0">
                    <a:srgbClr val="5DD3D8">
                      <a:alpha val="100000"/>
                    </a:srgbClr>
                  </a:gs>
                  <a:gs pos="100000">
                    <a:srgbClr val="006D97">
                      <a:alpha val="100000"/>
                    </a:srgbClr>
                  </a:gs>
                </a:gsLst>
                <a:lin ang="5400000"/>
              </a:gradFill>
              <a:prstDash val="solid"/>
              <a:miter/>
            </a:ln>
          </p:spPr>
        </p:sp>
        <p:sp>
          <p:nvSpPr>
            <p:cNvPr name="TextBox 4" id="4"/>
            <p:cNvSpPr txBox="true"/>
            <p:nvPr/>
          </p:nvSpPr>
          <p:spPr>
            <a:xfrm>
              <a:off x="0" y="-38100"/>
              <a:ext cx="4417685" cy="209610"/>
            </a:xfrm>
            <a:prstGeom prst="rect">
              <a:avLst/>
            </a:prstGeom>
          </p:spPr>
          <p:txBody>
            <a:bodyPr anchor="ctr" rtlCol="false" tIns="50800" lIns="50800" bIns="50800" rIns="50800"/>
            <a:lstStyle/>
            <a:p>
              <a:pPr algn="ctr">
                <a:lnSpc>
                  <a:spcPts val="3499"/>
                </a:lnSpc>
              </a:pPr>
            </a:p>
          </p:txBody>
        </p:sp>
      </p:grpSp>
      <p:sp>
        <p:nvSpPr>
          <p:cNvPr name="TextBox 5" id="5"/>
          <p:cNvSpPr txBox="true"/>
          <p:nvPr/>
        </p:nvSpPr>
        <p:spPr>
          <a:xfrm rot="0">
            <a:off x="15678895" y="699741"/>
            <a:ext cx="1467181" cy="316263"/>
          </a:xfrm>
          <a:prstGeom prst="rect">
            <a:avLst/>
          </a:prstGeom>
        </p:spPr>
        <p:txBody>
          <a:bodyPr anchor="t" rtlCol="false" tIns="0" lIns="0" bIns="0" rIns="0">
            <a:spAutoFit/>
          </a:bodyPr>
          <a:lstStyle/>
          <a:p>
            <a:pPr algn="l">
              <a:lnSpc>
                <a:spcPts val="2520"/>
              </a:lnSpc>
            </a:pPr>
            <a:r>
              <a:rPr lang="en-US" sz="1800">
                <a:solidFill>
                  <a:srgbClr val="FFFFFF"/>
                </a:solidFill>
                <a:latin typeface="Tomorrow"/>
                <a:ea typeface="Tomorrow"/>
                <a:cs typeface="Tomorrow"/>
                <a:sym typeface="Tomorrow"/>
              </a:rPr>
              <a:t>NEXT PAGE</a:t>
            </a:r>
          </a:p>
        </p:txBody>
      </p:sp>
      <p:grpSp>
        <p:nvGrpSpPr>
          <p:cNvPr name="Group 6" id="6"/>
          <p:cNvGrpSpPr/>
          <p:nvPr/>
        </p:nvGrpSpPr>
        <p:grpSpPr>
          <a:xfrm rot="5400000">
            <a:off x="17078240" y="828987"/>
            <a:ext cx="135674" cy="118714"/>
            <a:chOff x="0" y="0"/>
            <a:chExt cx="812800" cy="711200"/>
          </a:xfrm>
        </p:grpSpPr>
        <p:sp>
          <p:nvSpPr>
            <p:cNvPr name="Freeform 7" id="7"/>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5DD3D8"/>
            </a:solidFill>
          </p:spPr>
        </p:sp>
        <p:sp>
          <p:nvSpPr>
            <p:cNvPr name="TextBox 8" id="8"/>
            <p:cNvSpPr txBox="true"/>
            <p:nvPr/>
          </p:nvSpPr>
          <p:spPr>
            <a:xfrm>
              <a:off x="127000" y="292100"/>
              <a:ext cx="558800" cy="368300"/>
            </a:xfrm>
            <a:prstGeom prst="rect">
              <a:avLst/>
            </a:prstGeom>
          </p:spPr>
          <p:txBody>
            <a:bodyPr anchor="ctr" rtlCol="false" tIns="50800" lIns="50800" bIns="50800" rIns="50800"/>
            <a:lstStyle/>
            <a:p>
              <a:pPr algn="ctr">
                <a:lnSpc>
                  <a:spcPts val="3499"/>
                </a:lnSpc>
              </a:pPr>
            </a:p>
          </p:txBody>
        </p:sp>
      </p:grpSp>
      <p:sp>
        <p:nvSpPr>
          <p:cNvPr name="TextBox 9" id="9"/>
          <p:cNvSpPr txBox="true"/>
          <p:nvPr/>
        </p:nvSpPr>
        <p:spPr>
          <a:xfrm rot="0">
            <a:off x="1218062" y="699741"/>
            <a:ext cx="3332215" cy="316263"/>
          </a:xfrm>
          <a:prstGeom prst="rect">
            <a:avLst/>
          </a:prstGeom>
        </p:spPr>
        <p:txBody>
          <a:bodyPr anchor="t" rtlCol="false" tIns="0" lIns="0" bIns="0" rIns="0">
            <a:spAutoFit/>
          </a:bodyPr>
          <a:lstStyle/>
          <a:p>
            <a:pPr algn="l">
              <a:lnSpc>
                <a:spcPts val="2520"/>
              </a:lnSpc>
            </a:pPr>
            <a:r>
              <a:rPr lang="en-US" sz="1800">
                <a:solidFill>
                  <a:srgbClr val="FFFFFF"/>
                </a:solidFill>
                <a:latin typeface="Tomorrow"/>
                <a:ea typeface="Tomorrow"/>
                <a:cs typeface="Tomorrow"/>
                <a:sym typeface="Tomorrow"/>
              </a:rPr>
              <a:t>C</a:t>
            </a:r>
            <a:r>
              <a:rPr lang="en-US" sz="1800">
                <a:solidFill>
                  <a:srgbClr val="FFFFFF"/>
                </a:solidFill>
                <a:latin typeface="Tomorrow"/>
                <a:ea typeface="Tomorrow"/>
                <a:cs typeface="Tomorrow"/>
                <a:sym typeface="Tomorrow"/>
              </a:rPr>
              <a:t>IRCUIT NETWORKS</a:t>
            </a:r>
          </a:p>
        </p:txBody>
      </p:sp>
      <p:sp>
        <p:nvSpPr>
          <p:cNvPr name="Freeform 10" id="10"/>
          <p:cNvSpPr/>
          <p:nvPr/>
        </p:nvSpPr>
        <p:spPr>
          <a:xfrm flipH="false" flipV="false" rot="0">
            <a:off x="16553035" y="1335098"/>
            <a:ext cx="3471546" cy="3548978"/>
          </a:xfrm>
          <a:custGeom>
            <a:avLst/>
            <a:gdLst/>
            <a:ahLst/>
            <a:cxnLst/>
            <a:rect r="r" b="b" t="t" l="l"/>
            <a:pathLst>
              <a:path h="3548978" w="3471546">
                <a:moveTo>
                  <a:pt x="0" y="0"/>
                </a:moveTo>
                <a:lnTo>
                  <a:pt x="3471546" y="0"/>
                </a:lnTo>
                <a:lnTo>
                  <a:pt x="3471546" y="3548978"/>
                </a:lnTo>
                <a:lnTo>
                  <a:pt x="0" y="3548978"/>
                </a:lnTo>
                <a:lnTo>
                  <a:pt x="0" y="0"/>
                </a:lnTo>
                <a:close/>
              </a:path>
            </a:pathLst>
          </a:custGeom>
          <a:blipFill>
            <a:blip r:embed="rId2">
              <a:alphaModFix amt="42000"/>
              <a:extLst>
                <a:ext uri="{96DAC541-7B7A-43D3-8B79-37D633B846F1}">
                  <asvg:svgBlip xmlns:asvg="http://schemas.microsoft.com/office/drawing/2016/SVG/main" r:embed="rId3"/>
                </a:ext>
              </a:extLst>
            </a:blip>
            <a:stretch>
              <a:fillRect l="0" t="0" r="0" b="0"/>
            </a:stretch>
          </a:blipFill>
        </p:spPr>
      </p:sp>
      <p:sp>
        <p:nvSpPr>
          <p:cNvPr name="Freeform 11" id="11"/>
          <p:cNvSpPr/>
          <p:nvPr/>
        </p:nvSpPr>
        <p:spPr>
          <a:xfrm flipH="false" flipV="false" rot="0">
            <a:off x="-3801873" y="5541046"/>
            <a:ext cx="9793926" cy="6480614"/>
          </a:xfrm>
          <a:custGeom>
            <a:avLst/>
            <a:gdLst/>
            <a:ahLst/>
            <a:cxnLst/>
            <a:rect r="r" b="b" t="t" l="l"/>
            <a:pathLst>
              <a:path h="6480614" w="9793926">
                <a:moveTo>
                  <a:pt x="0" y="0"/>
                </a:moveTo>
                <a:lnTo>
                  <a:pt x="9793925" y="0"/>
                </a:lnTo>
                <a:lnTo>
                  <a:pt x="9793925" y="6480614"/>
                </a:lnTo>
                <a:lnTo>
                  <a:pt x="0" y="64806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2" id="12"/>
          <p:cNvGrpSpPr/>
          <p:nvPr/>
        </p:nvGrpSpPr>
        <p:grpSpPr>
          <a:xfrm rot="0">
            <a:off x="925282" y="1700665"/>
            <a:ext cx="3534984" cy="843313"/>
            <a:chOff x="0" y="0"/>
            <a:chExt cx="783365" cy="186881"/>
          </a:xfrm>
        </p:grpSpPr>
        <p:sp>
          <p:nvSpPr>
            <p:cNvPr name="Freeform 13" id="13"/>
            <p:cNvSpPr/>
            <p:nvPr/>
          </p:nvSpPr>
          <p:spPr>
            <a:xfrm flipH="false" flipV="false" rot="0">
              <a:off x="0" y="0"/>
              <a:ext cx="783365" cy="186881"/>
            </a:xfrm>
            <a:custGeom>
              <a:avLst/>
              <a:gdLst/>
              <a:ahLst/>
              <a:cxnLst/>
              <a:rect r="r" b="b" t="t" l="l"/>
              <a:pathLst>
                <a:path h="186881" w="783365">
                  <a:moveTo>
                    <a:pt x="41612" y="0"/>
                  </a:moveTo>
                  <a:lnTo>
                    <a:pt x="741754" y="0"/>
                  </a:lnTo>
                  <a:cubicBezTo>
                    <a:pt x="752790" y="0"/>
                    <a:pt x="763374" y="4384"/>
                    <a:pt x="771178" y="12188"/>
                  </a:cubicBezTo>
                  <a:cubicBezTo>
                    <a:pt x="778981" y="19991"/>
                    <a:pt x="783365" y="30576"/>
                    <a:pt x="783365" y="41612"/>
                  </a:cubicBezTo>
                  <a:lnTo>
                    <a:pt x="783365" y="145270"/>
                  </a:lnTo>
                  <a:cubicBezTo>
                    <a:pt x="783365" y="168251"/>
                    <a:pt x="764735" y="186881"/>
                    <a:pt x="741754" y="186881"/>
                  </a:cubicBezTo>
                  <a:lnTo>
                    <a:pt x="41612" y="186881"/>
                  </a:lnTo>
                  <a:cubicBezTo>
                    <a:pt x="30576" y="186881"/>
                    <a:pt x="19991" y="182497"/>
                    <a:pt x="12188" y="174693"/>
                  </a:cubicBezTo>
                  <a:cubicBezTo>
                    <a:pt x="4384" y="166890"/>
                    <a:pt x="0" y="156306"/>
                    <a:pt x="0" y="145270"/>
                  </a:cubicBezTo>
                  <a:lnTo>
                    <a:pt x="0" y="41612"/>
                  </a:lnTo>
                  <a:cubicBezTo>
                    <a:pt x="0" y="30576"/>
                    <a:pt x="4384" y="19991"/>
                    <a:pt x="12188" y="12188"/>
                  </a:cubicBezTo>
                  <a:cubicBezTo>
                    <a:pt x="19991" y="4384"/>
                    <a:pt x="30576" y="0"/>
                    <a:pt x="41612" y="0"/>
                  </a:cubicBezTo>
                  <a:close/>
                </a:path>
              </a:pathLst>
            </a:custGeom>
            <a:gradFill rotWithShape="true">
              <a:gsLst>
                <a:gs pos="0">
                  <a:srgbClr val="5DD3D8">
                    <a:alpha val="100000"/>
                  </a:srgbClr>
                </a:gs>
                <a:gs pos="100000">
                  <a:srgbClr val="006D97">
                    <a:alpha val="100000"/>
                  </a:srgbClr>
                </a:gs>
              </a:gsLst>
              <a:lin ang="0"/>
            </a:gradFill>
          </p:spPr>
        </p:sp>
        <p:sp>
          <p:nvSpPr>
            <p:cNvPr name="TextBox 14" id="14"/>
            <p:cNvSpPr txBox="true"/>
            <p:nvPr/>
          </p:nvSpPr>
          <p:spPr>
            <a:xfrm>
              <a:off x="0" y="-38100"/>
              <a:ext cx="783365" cy="224981"/>
            </a:xfrm>
            <a:prstGeom prst="rect">
              <a:avLst/>
            </a:prstGeom>
          </p:spPr>
          <p:txBody>
            <a:bodyPr anchor="ctr" rtlCol="false" tIns="50800" lIns="50800" bIns="50800" rIns="50800"/>
            <a:lstStyle/>
            <a:p>
              <a:pPr algn="ctr">
                <a:lnSpc>
                  <a:spcPts val="3499"/>
                </a:lnSpc>
              </a:pPr>
            </a:p>
          </p:txBody>
        </p:sp>
      </p:grpSp>
      <p:sp>
        <p:nvSpPr>
          <p:cNvPr name="TextBox 15" id="15"/>
          <p:cNvSpPr txBox="true"/>
          <p:nvPr/>
        </p:nvSpPr>
        <p:spPr>
          <a:xfrm rot="0">
            <a:off x="1205760" y="1800059"/>
            <a:ext cx="2811959" cy="587376"/>
          </a:xfrm>
          <a:prstGeom prst="rect">
            <a:avLst/>
          </a:prstGeom>
        </p:spPr>
        <p:txBody>
          <a:bodyPr anchor="t" rtlCol="false" tIns="0" lIns="0" bIns="0" rIns="0">
            <a:spAutoFit/>
          </a:bodyPr>
          <a:lstStyle/>
          <a:p>
            <a:pPr algn="ctr">
              <a:lnSpc>
                <a:spcPts val="4899"/>
              </a:lnSpc>
              <a:spcBef>
                <a:spcPct val="0"/>
              </a:spcBef>
            </a:pPr>
            <a:r>
              <a:rPr lang="en-US" sz="3499">
                <a:solidFill>
                  <a:srgbClr val="FFFFFF"/>
                </a:solidFill>
                <a:latin typeface="Pattanakarn"/>
                <a:ea typeface="Pattanakarn"/>
                <a:cs typeface="Pattanakarn"/>
                <a:sym typeface="Pattanakarn"/>
              </a:rPr>
              <a:t>Voltage Gain</a:t>
            </a:r>
          </a:p>
        </p:txBody>
      </p:sp>
      <p:sp>
        <p:nvSpPr>
          <p:cNvPr name="TextBox 16" id="16"/>
          <p:cNvSpPr txBox="true"/>
          <p:nvPr/>
        </p:nvSpPr>
        <p:spPr>
          <a:xfrm rot="0">
            <a:off x="2932572" y="2667234"/>
            <a:ext cx="12509302" cy="1609091"/>
          </a:xfrm>
          <a:prstGeom prst="rect">
            <a:avLst/>
          </a:prstGeom>
        </p:spPr>
        <p:txBody>
          <a:bodyPr anchor="t" rtlCol="false" tIns="0" lIns="0" bIns="0" rIns="0">
            <a:spAutoFit/>
          </a:bodyPr>
          <a:lstStyle/>
          <a:p>
            <a:pPr algn="ctr">
              <a:lnSpc>
                <a:spcPts val="4759"/>
              </a:lnSpc>
              <a:spcBef>
                <a:spcPct val="0"/>
              </a:spcBef>
            </a:pPr>
            <a:r>
              <a:rPr lang="en-US" sz="3399">
                <a:solidFill>
                  <a:srgbClr val="FFFFFF"/>
                </a:solidFill>
                <a:latin typeface="Pattanakarn"/>
                <a:ea typeface="Pattanakarn"/>
                <a:cs typeface="Pattanakarn"/>
                <a:sym typeface="Pattanakarn"/>
              </a:rPr>
              <a:t>The closed-loop voltage gain of a noninverting amplifier is:</a:t>
            </a:r>
          </a:p>
          <a:p>
            <a:pPr algn="ctr">
              <a:lnSpc>
                <a:spcPts val="3499"/>
              </a:lnSpc>
              <a:spcBef>
                <a:spcPct val="0"/>
              </a:spcBef>
            </a:pPr>
          </a:p>
          <a:p>
            <a:pPr algn="ctr">
              <a:lnSpc>
                <a:spcPts val="4759"/>
              </a:lnSpc>
              <a:spcBef>
                <a:spcPct val="0"/>
              </a:spcBef>
            </a:pPr>
            <a:r>
              <a:rPr lang="en-US" sz="3399">
                <a:solidFill>
                  <a:srgbClr val="FFFFFF"/>
                </a:solidFill>
                <a:latin typeface="Pattanakarn"/>
                <a:ea typeface="Pattanakarn"/>
                <a:cs typeface="Pattanakarn"/>
                <a:sym typeface="Pattanakarn"/>
              </a:rPr>
              <a:t>Av     = 1+ Rf​</a:t>
            </a:r>
          </a:p>
        </p:txBody>
      </p:sp>
      <p:sp>
        <p:nvSpPr>
          <p:cNvPr name="TextBox 17" id="17"/>
          <p:cNvSpPr txBox="true"/>
          <p:nvPr/>
        </p:nvSpPr>
        <p:spPr>
          <a:xfrm rot="0">
            <a:off x="9826796" y="4313210"/>
            <a:ext cx="820401" cy="570866"/>
          </a:xfrm>
          <a:prstGeom prst="rect">
            <a:avLst/>
          </a:prstGeom>
        </p:spPr>
        <p:txBody>
          <a:bodyPr anchor="t" rtlCol="false" tIns="0" lIns="0" bIns="0" rIns="0">
            <a:spAutoFit/>
          </a:bodyPr>
          <a:lstStyle/>
          <a:p>
            <a:pPr algn="ctr">
              <a:lnSpc>
                <a:spcPts val="4759"/>
              </a:lnSpc>
              <a:spcBef>
                <a:spcPct val="0"/>
              </a:spcBef>
            </a:pPr>
            <a:r>
              <a:rPr lang="en-US" sz="3399">
                <a:solidFill>
                  <a:srgbClr val="FFFFFF"/>
                </a:solidFill>
                <a:latin typeface="Pattanakarn"/>
                <a:ea typeface="Pattanakarn"/>
                <a:cs typeface="Pattanakarn"/>
                <a:sym typeface="Pattanakarn"/>
              </a:rPr>
              <a:t>R1</a:t>
            </a:r>
          </a:p>
        </p:txBody>
      </p:sp>
      <p:sp>
        <p:nvSpPr>
          <p:cNvPr name="TextBox 18" id="18"/>
          <p:cNvSpPr txBox="true"/>
          <p:nvPr/>
        </p:nvSpPr>
        <p:spPr>
          <a:xfrm rot="0">
            <a:off x="8515040" y="3995863"/>
            <a:ext cx="515909" cy="336244"/>
          </a:xfrm>
          <a:prstGeom prst="rect">
            <a:avLst/>
          </a:prstGeom>
        </p:spPr>
        <p:txBody>
          <a:bodyPr anchor="t" rtlCol="false" tIns="0" lIns="0" bIns="0" rIns="0">
            <a:spAutoFit/>
          </a:bodyPr>
          <a:lstStyle/>
          <a:p>
            <a:pPr algn="ctr">
              <a:lnSpc>
                <a:spcPts val="2785"/>
              </a:lnSpc>
              <a:spcBef>
                <a:spcPct val="0"/>
              </a:spcBef>
            </a:pPr>
            <a:r>
              <a:rPr lang="en-US" sz="1989">
                <a:solidFill>
                  <a:srgbClr val="FFFFFF"/>
                </a:solidFill>
                <a:latin typeface="Pattanakarn"/>
                <a:ea typeface="Pattanakarn"/>
                <a:cs typeface="Pattanakarn"/>
                <a:sym typeface="Pattanakarn"/>
              </a:rPr>
              <a:t>(CL)</a:t>
            </a:r>
          </a:p>
        </p:txBody>
      </p:sp>
      <p:sp>
        <p:nvSpPr>
          <p:cNvPr name="TextBox 19" id="19"/>
          <p:cNvSpPr txBox="true"/>
          <p:nvPr/>
        </p:nvSpPr>
        <p:spPr>
          <a:xfrm rot="0">
            <a:off x="9826410" y="3957610"/>
            <a:ext cx="820787" cy="412750"/>
          </a:xfrm>
          <a:prstGeom prst="rect">
            <a:avLst/>
          </a:prstGeom>
        </p:spPr>
        <p:txBody>
          <a:bodyPr anchor="t" rtlCol="false" tIns="0" lIns="0" bIns="0" rIns="0">
            <a:spAutoFit/>
          </a:bodyPr>
          <a:lstStyle/>
          <a:p>
            <a:pPr algn="ctr">
              <a:lnSpc>
                <a:spcPts val="3499"/>
              </a:lnSpc>
              <a:spcBef>
                <a:spcPct val="0"/>
              </a:spcBef>
            </a:pPr>
            <a:r>
              <a:rPr lang="en-US" sz="2499">
                <a:solidFill>
                  <a:srgbClr val="FFFFFF"/>
                </a:solidFill>
                <a:latin typeface="Pattanakarn"/>
                <a:ea typeface="Pattanakarn"/>
                <a:cs typeface="Pattanakarn"/>
                <a:sym typeface="Pattanakarn"/>
              </a:rPr>
              <a:t>_____</a:t>
            </a:r>
          </a:p>
        </p:txBody>
      </p:sp>
      <p:sp>
        <p:nvSpPr>
          <p:cNvPr name="TextBox 20" id="20"/>
          <p:cNvSpPr txBox="true"/>
          <p:nvPr/>
        </p:nvSpPr>
        <p:spPr>
          <a:xfrm rot="0">
            <a:off x="2715741" y="4570068"/>
            <a:ext cx="12856518" cy="4864735"/>
          </a:xfrm>
          <a:prstGeom prst="rect">
            <a:avLst/>
          </a:prstGeom>
        </p:spPr>
        <p:txBody>
          <a:bodyPr anchor="t" rtlCol="false" tIns="0" lIns="0" bIns="0" rIns="0">
            <a:spAutoFit/>
          </a:bodyPr>
          <a:lstStyle/>
          <a:p>
            <a:pPr algn="l">
              <a:lnSpc>
                <a:spcPts val="4339"/>
              </a:lnSpc>
              <a:spcBef>
                <a:spcPct val="0"/>
              </a:spcBef>
            </a:pPr>
            <a:r>
              <a:rPr lang="en-US" sz="3099">
                <a:solidFill>
                  <a:srgbClr val="FFFFFF"/>
                </a:solidFill>
                <a:latin typeface="Pattanakarn"/>
                <a:ea typeface="Pattanakarn"/>
                <a:cs typeface="Pattanakarn"/>
                <a:sym typeface="Pattanakarn"/>
              </a:rPr>
              <a:t>Where:</a:t>
            </a:r>
          </a:p>
          <a:p>
            <a:pPr algn="l">
              <a:lnSpc>
                <a:spcPts val="4339"/>
              </a:lnSpc>
              <a:spcBef>
                <a:spcPct val="0"/>
              </a:spcBef>
            </a:pPr>
          </a:p>
          <a:p>
            <a:pPr algn="l">
              <a:lnSpc>
                <a:spcPts val="4339"/>
              </a:lnSpc>
              <a:spcBef>
                <a:spcPct val="0"/>
              </a:spcBef>
            </a:pPr>
            <a:r>
              <a:rPr lang="en-US" sz="3099">
                <a:solidFill>
                  <a:srgbClr val="FFFFFF"/>
                </a:solidFill>
                <a:latin typeface="Pattanakarn"/>
                <a:ea typeface="Pattanakarn"/>
                <a:cs typeface="Pattanakarn"/>
                <a:sym typeface="Pattanakarn"/>
              </a:rPr>
              <a:t>Av​     is the closed-loop voltage gain.</a:t>
            </a:r>
          </a:p>
          <a:p>
            <a:pPr algn="l">
              <a:lnSpc>
                <a:spcPts val="4339"/>
              </a:lnSpc>
              <a:spcBef>
                <a:spcPct val="0"/>
              </a:spcBef>
            </a:pPr>
          </a:p>
          <a:p>
            <a:pPr algn="l">
              <a:lnSpc>
                <a:spcPts val="4339"/>
              </a:lnSpc>
              <a:spcBef>
                <a:spcPct val="0"/>
              </a:spcBef>
            </a:pPr>
            <a:r>
              <a:rPr lang="en-US" sz="3099">
                <a:solidFill>
                  <a:srgbClr val="FFFFFF"/>
                </a:solidFill>
                <a:latin typeface="Pattanakarn"/>
                <a:ea typeface="Pattanakarn"/>
                <a:cs typeface="Pattanakarn"/>
                <a:sym typeface="Pattanakarn"/>
              </a:rPr>
              <a:t>Rf​ is the feedback resistor.</a:t>
            </a:r>
          </a:p>
          <a:p>
            <a:pPr algn="l">
              <a:lnSpc>
                <a:spcPts val="4339"/>
              </a:lnSpc>
              <a:spcBef>
                <a:spcPct val="0"/>
              </a:spcBef>
            </a:pPr>
          </a:p>
          <a:p>
            <a:pPr algn="l">
              <a:lnSpc>
                <a:spcPts val="4339"/>
              </a:lnSpc>
              <a:spcBef>
                <a:spcPct val="0"/>
              </a:spcBef>
            </a:pPr>
            <a:r>
              <a:rPr lang="en-US" sz="3099">
                <a:solidFill>
                  <a:srgbClr val="FFFFFF"/>
                </a:solidFill>
                <a:latin typeface="Pattanakarn"/>
                <a:ea typeface="Pattanakarn"/>
                <a:cs typeface="Pattanakarn"/>
                <a:sym typeface="Pattanakarn"/>
              </a:rPr>
              <a:t>R1​ is the resistor connected to ground.</a:t>
            </a:r>
          </a:p>
          <a:p>
            <a:pPr algn="l">
              <a:lnSpc>
                <a:spcPts val="4339"/>
              </a:lnSpc>
              <a:spcBef>
                <a:spcPct val="0"/>
              </a:spcBef>
            </a:pPr>
          </a:p>
          <a:p>
            <a:pPr algn="l">
              <a:lnSpc>
                <a:spcPts val="4339"/>
              </a:lnSpc>
              <a:spcBef>
                <a:spcPct val="0"/>
              </a:spcBef>
            </a:pPr>
            <a:r>
              <a:rPr lang="en-US" sz="3099">
                <a:solidFill>
                  <a:srgbClr val="FFFFFF"/>
                </a:solidFill>
                <a:latin typeface="Pattanakarn"/>
                <a:ea typeface="Pattanakarn"/>
                <a:cs typeface="Pattanakarn"/>
                <a:sym typeface="Pattanakarn"/>
              </a:rPr>
              <a:t>The gain is positive because the output is in phase with the input.</a:t>
            </a:r>
          </a:p>
        </p:txBody>
      </p:sp>
      <p:grpSp>
        <p:nvGrpSpPr>
          <p:cNvPr name="Group 21" id="21"/>
          <p:cNvGrpSpPr/>
          <p:nvPr/>
        </p:nvGrpSpPr>
        <p:grpSpPr>
          <a:xfrm rot="5400000">
            <a:off x="2277126" y="5805925"/>
            <a:ext cx="356921" cy="312306"/>
            <a:chOff x="0" y="0"/>
            <a:chExt cx="812800" cy="711200"/>
          </a:xfrm>
        </p:grpSpPr>
        <p:sp>
          <p:nvSpPr>
            <p:cNvPr name="Freeform 22" id="22"/>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5DD3D8"/>
            </a:solidFill>
          </p:spPr>
        </p:sp>
        <p:sp>
          <p:nvSpPr>
            <p:cNvPr name="TextBox 23" id="23"/>
            <p:cNvSpPr txBox="true"/>
            <p:nvPr/>
          </p:nvSpPr>
          <p:spPr>
            <a:xfrm>
              <a:off x="127000" y="292100"/>
              <a:ext cx="558800" cy="368300"/>
            </a:xfrm>
            <a:prstGeom prst="rect">
              <a:avLst/>
            </a:prstGeom>
          </p:spPr>
          <p:txBody>
            <a:bodyPr anchor="ctr" rtlCol="false" tIns="50800" lIns="50800" bIns="50800" rIns="50800"/>
            <a:lstStyle/>
            <a:p>
              <a:pPr algn="ctr">
                <a:lnSpc>
                  <a:spcPts val="3499"/>
                </a:lnSpc>
              </a:pPr>
            </a:p>
          </p:txBody>
        </p:sp>
      </p:grpSp>
      <p:grpSp>
        <p:nvGrpSpPr>
          <p:cNvPr name="Group 24" id="24"/>
          <p:cNvGrpSpPr/>
          <p:nvPr/>
        </p:nvGrpSpPr>
        <p:grpSpPr>
          <a:xfrm rot="5400000">
            <a:off x="2277126" y="6848646"/>
            <a:ext cx="356921" cy="312306"/>
            <a:chOff x="0" y="0"/>
            <a:chExt cx="812800" cy="711200"/>
          </a:xfrm>
        </p:grpSpPr>
        <p:sp>
          <p:nvSpPr>
            <p:cNvPr name="Freeform 25" id="25"/>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5DD3D8"/>
            </a:solidFill>
          </p:spPr>
        </p:sp>
        <p:sp>
          <p:nvSpPr>
            <p:cNvPr name="TextBox 26" id="26"/>
            <p:cNvSpPr txBox="true"/>
            <p:nvPr/>
          </p:nvSpPr>
          <p:spPr>
            <a:xfrm>
              <a:off x="127000" y="292100"/>
              <a:ext cx="558800" cy="368300"/>
            </a:xfrm>
            <a:prstGeom prst="rect">
              <a:avLst/>
            </a:prstGeom>
          </p:spPr>
          <p:txBody>
            <a:bodyPr anchor="ctr" rtlCol="false" tIns="50800" lIns="50800" bIns="50800" rIns="50800"/>
            <a:lstStyle/>
            <a:p>
              <a:pPr algn="ctr">
                <a:lnSpc>
                  <a:spcPts val="3499"/>
                </a:lnSpc>
              </a:pPr>
            </a:p>
          </p:txBody>
        </p:sp>
      </p:grpSp>
      <p:grpSp>
        <p:nvGrpSpPr>
          <p:cNvPr name="Group 27" id="27"/>
          <p:cNvGrpSpPr/>
          <p:nvPr/>
        </p:nvGrpSpPr>
        <p:grpSpPr>
          <a:xfrm rot="5400000">
            <a:off x="2277126" y="7891367"/>
            <a:ext cx="356921" cy="312306"/>
            <a:chOff x="0" y="0"/>
            <a:chExt cx="812800" cy="711200"/>
          </a:xfrm>
        </p:grpSpPr>
        <p:sp>
          <p:nvSpPr>
            <p:cNvPr name="Freeform 28" id="28"/>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5DD3D8"/>
            </a:solidFill>
          </p:spPr>
        </p:sp>
        <p:sp>
          <p:nvSpPr>
            <p:cNvPr name="TextBox 29" id="29"/>
            <p:cNvSpPr txBox="true"/>
            <p:nvPr/>
          </p:nvSpPr>
          <p:spPr>
            <a:xfrm>
              <a:off x="127000" y="292100"/>
              <a:ext cx="558800" cy="368300"/>
            </a:xfrm>
            <a:prstGeom prst="rect">
              <a:avLst/>
            </a:prstGeom>
          </p:spPr>
          <p:txBody>
            <a:bodyPr anchor="ctr" rtlCol="false" tIns="50800" lIns="50800" bIns="50800" rIns="50800"/>
            <a:lstStyle/>
            <a:p>
              <a:pPr algn="ctr">
                <a:lnSpc>
                  <a:spcPts val="3499"/>
                </a:lnSpc>
              </a:pPr>
            </a:p>
          </p:txBody>
        </p:sp>
      </p:grpSp>
      <p:grpSp>
        <p:nvGrpSpPr>
          <p:cNvPr name="Group 30" id="30"/>
          <p:cNvGrpSpPr/>
          <p:nvPr/>
        </p:nvGrpSpPr>
        <p:grpSpPr>
          <a:xfrm rot="5400000">
            <a:off x="2277126" y="9086487"/>
            <a:ext cx="356921" cy="312306"/>
            <a:chOff x="0" y="0"/>
            <a:chExt cx="812800" cy="711200"/>
          </a:xfrm>
        </p:grpSpPr>
        <p:sp>
          <p:nvSpPr>
            <p:cNvPr name="Freeform 31" id="31"/>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5DD3D8"/>
            </a:solidFill>
          </p:spPr>
        </p:sp>
        <p:sp>
          <p:nvSpPr>
            <p:cNvPr name="TextBox 32" id="32"/>
            <p:cNvSpPr txBox="true"/>
            <p:nvPr/>
          </p:nvSpPr>
          <p:spPr>
            <a:xfrm>
              <a:off x="127000" y="292100"/>
              <a:ext cx="558800" cy="368300"/>
            </a:xfrm>
            <a:prstGeom prst="rect">
              <a:avLst/>
            </a:prstGeom>
          </p:spPr>
          <p:txBody>
            <a:bodyPr anchor="ctr" rtlCol="false" tIns="50800" lIns="50800" bIns="50800" rIns="50800"/>
            <a:lstStyle/>
            <a:p>
              <a:pPr algn="ctr">
                <a:lnSpc>
                  <a:spcPts val="3499"/>
                </a:lnSpc>
              </a:pPr>
            </a:p>
          </p:txBody>
        </p:sp>
      </p:grpSp>
      <p:sp>
        <p:nvSpPr>
          <p:cNvPr name="AutoShape 33" id="33"/>
          <p:cNvSpPr/>
          <p:nvPr/>
        </p:nvSpPr>
        <p:spPr>
          <a:xfrm>
            <a:off x="2715741" y="6268242"/>
            <a:ext cx="7750450" cy="0"/>
          </a:xfrm>
          <a:prstGeom prst="line">
            <a:avLst/>
          </a:prstGeom>
          <a:ln cap="flat" w="19050">
            <a:solidFill>
              <a:srgbClr val="FFFFFF"/>
            </a:solidFill>
            <a:prstDash val="solid"/>
            <a:headEnd type="none" len="sm" w="sm"/>
            <a:tailEnd type="none" len="sm" w="sm"/>
          </a:ln>
        </p:spPr>
      </p:sp>
      <p:sp>
        <p:nvSpPr>
          <p:cNvPr name="AutoShape 34" id="34"/>
          <p:cNvSpPr/>
          <p:nvPr/>
        </p:nvSpPr>
        <p:spPr>
          <a:xfrm>
            <a:off x="2715741" y="7325517"/>
            <a:ext cx="5667342" cy="0"/>
          </a:xfrm>
          <a:prstGeom prst="line">
            <a:avLst/>
          </a:prstGeom>
          <a:ln cap="flat" w="19050">
            <a:solidFill>
              <a:srgbClr val="FFFFFF"/>
            </a:solidFill>
            <a:prstDash val="solid"/>
            <a:headEnd type="none" len="sm" w="sm"/>
            <a:tailEnd type="none" len="sm" w="sm"/>
          </a:ln>
        </p:spPr>
      </p:sp>
      <p:sp>
        <p:nvSpPr>
          <p:cNvPr name="AutoShape 35" id="35"/>
          <p:cNvSpPr/>
          <p:nvPr/>
        </p:nvSpPr>
        <p:spPr>
          <a:xfrm>
            <a:off x="2715741" y="8482807"/>
            <a:ext cx="7750450" cy="0"/>
          </a:xfrm>
          <a:prstGeom prst="line">
            <a:avLst/>
          </a:prstGeom>
          <a:ln cap="flat" w="19050">
            <a:solidFill>
              <a:srgbClr val="FFFFFF"/>
            </a:solidFill>
            <a:prstDash val="solid"/>
            <a:headEnd type="none" len="sm" w="sm"/>
            <a:tailEnd type="none" len="sm" w="sm"/>
          </a:ln>
        </p:spPr>
      </p:sp>
      <p:sp>
        <p:nvSpPr>
          <p:cNvPr name="AutoShape 36" id="36"/>
          <p:cNvSpPr/>
          <p:nvPr/>
        </p:nvSpPr>
        <p:spPr>
          <a:xfrm>
            <a:off x="2715741" y="9539579"/>
            <a:ext cx="12963154" cy="0"/>
          </a:xfrm>
          <a:prstGeom prst="line">
            <a:avLst/>
          </a:prstGeom>
          <a:ln cap="flat" w="19050">
            <a:solidFill>
              <a:srgbClr val="FFFFFF"/>
            </a:solidFill>
            <a:prstDash val="solid"/>
            <a:headEnd type="none" len="sm" w="sm"/>
            <a:tailEnd type="none" len="sm" w="sm"/>
          </a:ln>
        </p:spPr>
      </p:sp>
      <p:sp>
        <p:nvSpPr>
          <p:cNvPr name="TextBox 37" id="37"/>
          <p:cNvSpPr txBox="true"/>
          <p:nvPr/>
        </p:nvSpPr>
        <p:spPr>
          <a:xfrm rot="0">
            <a:off x="3241034" y="5953366"/>
            <a:ext cx="515909" cy="336244"/>
          </a:xfrm>
          <a:prstGeom prst="rect">
            <a:avLst/>
          </a:prstGeom>
        </p:spPr>
        <p:txBody>
          <a:bodyPr anchor="t" rtlCol="false" tIns="0" lIns="0" bIns="0" rIns="0">
            <a:spAutoFit/>
          </a:bodyPr>
          <a:lstStyle/>
          <a:p>
            <a:pPr algn="ctr">
              <a:lnSpc>
                <a:spcPts val="2785"/>
              </a:lnSpc>
              <a:spcBef>
                <a:spcPct val="0"/>
              </a:spcBef>
            </a:pPr>
            <a:r>
              <a:rPr lang="en-US" sz="1989">
                <a:solidFill>
                  <a:srgbClr val="FFFFFF"/>
                </a:solidFill>
                <a:latin typeface="Pattanakarn"/>
                <a:ea typeface="Pattanakarn"/>
                <a:cs typeface="Pattanakarn"/>
                <a:sym typeface="Pattanakarn"/>
              </a:rPr>
              <a:t>(CL)</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800525" y="562743"/>
            <a:ext cx="16773396" cy="651202"/>
            <a:chOff x="0" y="0"/>
            <a:chExt cx="4417685" cy="171510"/>
          </a:xfrm>
        </p:grpSpPr>
        <p:sp>
          <p:nvSpPr>
            <p:cNvPr name="Freeform 4" id="4"/>
            <p:cNvSpPr/>
            <p:nvPr/>
          </p:nvSpPr>
          <p:spPr>
            <a:xfrm flipH="false" flipV="false" rot="0">
              <a:off x="0" y="0"/>
              <a:ext cx="4417685" cy="171510"/>
            </a:xfrm>
            <a:custGeom>
              <a:avLst/>
              <a:gdLst/>
              <a:ahLst/>
              <a:cxnLst/>
              <a:rect r="r" b="b" t="t" l="l"/>
              <a:pathLst>
                <a:path h="171510" w="4417685">
                  <a:moveTo>
                    <a:pt x="6462" y="0"/>
                  </a:moveTo>
                  <a:lnTo>
                    <a:pt x="4411223" y="0"/>
                  </a:lnTo>
                  <a:cubicBezTo>
                    <a:pt x="4412936" y="0"/>
                    <a:pt x="4414580" y="681"/>
                    <a:pt x="4415792" y="1893"/>
                  </a:cubicBezTo>
                  <a:cubicBezTo>
                    <a:pt x="4417004" y="3104"/>
                    <a:pt x="4417685" y="4748"/>
                    <a:pt x="4417685" y="6462"/>
                  </a:cubicBezTo>
                  <a:lnTo>
                    <a:pt x="4417685" y="165048"/>
                  </a:lnTo>
                  <a:cubicBezTo>
                    <a:pt x="4417685" y="168617"/>
                    <a:pt x="4414791" y="171510"/>
                    <a:pt x="4411223" y="171510"/>
                  </a:cubicBezTo>
                  <a:lnTo>
                    <a:pt x="6462" y="171510"/>
                  </a:lnTo>
                  <a:cubicBezTo>
                    <a:pt x="4748" y="171510"/>
                    <a:pt x="3104" y="170829"/>
                    <a:pt x="1893" y="169617"/>
                  </a:cubicBezTo>
                  <a:cubicBezTo>
                    <a:pt x="681" y="168406"/>
                    <a:pt x="0" y="166762"/>
                    <a:pt x="0" y="165048"/>
                  </a:cubicBezTo>
                  <a:lnTo>
                    <a:pt x="0" y="6462"/>
                  </a:lnTo>
                  <a:cubicBezTo>
                    <a:pt x="0" y="4748"/>
                    <a:pt x="681" y="3104"/>
                    <a:pt x="1893" y="1893"/>
                  </a:cubicBezTo>
                  <a:cubicBezTo>
                    <a:pt x="3104" y="681"/>
                    <a:pt x="4748" y="0"/>
                    <a:pt x="6462" y="0"/>
                  </a:cubicBezTo>
                  <a:close/>
                </a:path>
              </a:pathLst>
            </a:custGeom>
            <a:ln w="38100" cap="sq">
              <a:gradFill>
                <a:gsLst>
                  <a:gs pos="0">
                    <a:srgbClr val="5DD3D8">
                      <a:alpha val="100000"/>
                    </a:srgbClr>
                  </a:gs>
                  <a:gs pos="100000">
                    <a:srgbClr val="006D97">
                      <a:alpha val="100000"/>
                    </a:srgbClr>
                  </a:gs>
                </a:gsLst>
                <a:lin ang="5400000"/>
              </a:gradFill>
              <a:prstDash val="solid"/>
              <a:miter/>
            </a:ln>
          </p:spPr>
        </p:sp>
        <p:sp>
          <p:nvSpPr>
            <p:cNvPr name="TextBox 5" id="5"/>
            <p:cNvSpPr txBox="true"/>
            <p:nvPr/>
          </p:nvSpPr>
          <p:spPr>
            <a:xfrm>
              <a:off x="0" y="-38100"/>
              <a:ext cx="4417685" cy="209610"/>
            </a:xfrm>
            <a:prstGeom prst="rect">
              <a:avLst/>
            </a:prstGeom>
          </p:spPr>
          <p:txBody>
            <a:bodyPr anchor="ctr" rtlCol="false" tIns="50800" lIns="50800" bIns="50800" rIns="50800"/>
            <a:lstStyle/>
            <a:p>
              <a:pPr algn="ctr">
                <a:lnSpc>
                  <a:spcPts val="3499"/>
                </a:lnSpc>
              </a:pPr>
            </a:p>
          </p:txBody>
        </p:sp>
      </p:grpSp>
      <p:sp>
        <p:nvSpPr>
          <p:cNvPr name="TextBox 6" id="6"/>
          <p:cNvSpPr txBox="true"/>
          <p:nvPr/>
        </p:nvSpPr>
        <p:spPr>
          <a:xfrm rot="0">
            <a:off x="1218062" y="699741"/>
            <a:ext cx="3332215" cy="316263"/>
          </a:xfrm>
          <a:prstGeom prst="rect">
            <a:avLst/>
          </a:prstGeom>
        </p:spPr>
        <p:txBody>
          <a:bodyPr anchor="t" rtlCol="false" tIns="0" lIns="0" bIns="0" rIns="0">
            <a:spAutoFit/>
          </a:bodyPr>
          <a:lstStyle/>
          <a:p>
            <a:pPr algn="l">
              <a:lnSpc>
                <a:spcPts val="2520"/>
              </a:lnSpc>
            </a:pPr>
            <a:r>
              <a:rPr lang="en-US" sz="1800">
                <a:solidFill>
                  <a:srgbClr val="FFFFFF"/>
                </a:solidFill>
                <a:latin typeface="Tomorrow"/>
                <a:ea typeface="Tomorrow"/>
                <a:cs typeface="Tomorrow"/>
                <a:sym typeface="Tomorrow"/>
              </a:rPr>
              <a:t>C</a:t>
            </a:r>
            <a:r>
              <a:rPr lang="en-US" sz="1800">
                <a:solidFill>
                  <a:srgbClr val="FFFFFF"/>
                </a:solidFill>
                <a:latin typeface="Tomorrow"/>
                <a:ea typeface="Tomorrow"/>
                <a:cs typeface="Tomorrow"/>
                <a:sym typeface="Tomorrow"/>
              </a:rPr>
              <a:t>IRCUIT NETWORKS</a:t>
            </a:r>
          </a:p>
        </p:txBody>
      </p:sp>
      <p:sp>
        <p:nvSpPr>
          <p:cNvPr name="TextBox 7" id="7"/>
          <p:cNvSpPr txBox="true"/>
          <p:nvPr/>
        </p:nvSpPr>
        <p:spPr>
          <a:xfrm rot="0">
            <a:off x="15678895" y="699741"/>
            <a:ext cx="1467181" cy="316263"/>
          </a:xfrm>
          <a:prstGeom prst="rect">
            <a:avLst/>
          </a:prstGeom>
        </p:spPr>
        <p:txBody>
          <a:bodyPr anchor="t" rtlCol="false" tIns="0" lIns="0" bIns="0" rIns="0">
            <a:spAutoFit/>
          </a:bodyPr>
          <a:lstStyle/>
          <a:p>
            <a:pPr algn="l">
              <a:lnSpc>
                <a:spcPts val="2520"/>
              </a:lnSpc>
            </a:pPr>
            <a:r>
              <a:rPr lang="en-US" sz="1800">
                <a:solidFill>
                  <a:srgbClr val="FFFFFF"/>
                </a:solidFill>
                <a:latin typeface="Tomorrow"/>
                <a:ea typeface="Tomorrow"/>
                <a:cs typeface="Tomorrow"/>
                <a:sym typeface="Tomorrow"/>
              </a:rPr>
              <a:t>NEXT PAGE</a:t>
            </a:r>
          </a:p>
        </p:txBody>
      </p:sp>
      <p:grpSp>
        <p:nvGrpSpPr>
          <p:cNvPr name="Group 8" id="8"/>
          <p:cNvGrpSpPr/>
          <p:nvPr/>
        </p:nvGrpSpPr>
        <p:grpSpPr>
          <a:xfrm rot="5400000">
            <a:off x="17078240" y="828987"/>
            <a:ext cx="135674" cy="118714"/>
            <a:chOff x="0" y="0"/>
            <a:chExt cx="812800" cy="711200"/>
          </a:xfrm>
        </p:grpSpPr>
        <p:sp>
          <p:nvSpPr>
            <p:cNvPr name="Freeform 9" id="9"/>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5DD3D8"/>
            </a:solidFill>
          </p:spPr>
        </p:sp>
        <p:sp>
          <p:nvSpPr>
            <p:cNvPr name="TextBox 10" id="10"/>
            <p:cNvSpPr txBox="true"/>
            <p:nvPr/>
          </p:nvSpPr>
          <p:spPr>
            <a:xfrm>
              <a:off x="127000" y="292100"/>
              <a:ext cx="558800" cy="368300"/>
            </a:xfrm>
            <a:prstGeom prst="rect">
              <a:avLst/>
            </a:prstGeom>
          </p:spPr>
          <p:txBody>
            <a:bodyPr anchor="ctr" rtlCol="false" tIns="50800" lIns="50800" bIns="50800" rIns="50800"/>
            <a:lstStyle/>
            <a:p>
              <a:pPr algn="ctr">
                <a:lnSpc>
                  <a:spcPts val="3499"/>
                </a:lnSpc>
              </a:pPr>
            </a:p>
          </p:txBody>
        </p:sp>
      </p:grpSp>
      <p:sp>
        <p:nvSpPr>
          <p:cNvPr name="Freeform 11" id="11"/>
          <p:cNvSpPr/>
          <p:nvPr/>
        </p:nvSpPr>
        <p:spPr>
          <a:xfrm flipH="false" flipV="false" rot="0">
            <a:off x="16601877" y="1213945"/>
            <a:ext cx="3471546" cy="3548978"/>
          </a:xfrm>
          <a:custGeom>
            <a:avLst/>
            <a:gdLst/>
            <a:ahLst/>
            <a:cxnLst/>
            <a:rect r="r" b="b" t="t" l="l"/>
            <a:pathLst>
              <a:path h="3548978" w="3471546">
                <a:moveTo>
                  <a:pt x="0" y="0"/>
                </a:moveTo>
                <a:lnTo>
                  <a:pt x="3471546" y="0"/>
                </a:lnTo>
                <a:lnTo>
                  <a:pt x="3471546" y="3548978"/>
                </a:lnTo>
                <a:lnTo>
                  <a:pt x="0" y="3548978"/>
                </a:lnTo>
                <a:lnTo>
                  <a:pt x="0" y="0"/>
                </a:lnTo>
                <a:close/>
              </a:path>
            </a:pathLst>
          </a:custGeom>
          <a:blipFill>
            <a:blip r:embed="rId3">
              <a:alphaModFix amt="42000"/>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true" flipV="true" rot="0">
            <a:off x="-4096438" y="6643701"/>
            <a:ext cx="9793926" cy="6480614"/>
          </a:xfrm>
          <a:custGeom>
            <a:avLst/>
            <a:gdLst/>
            <a:ahLst/>
            <a:cxnLst/>
            <a:rect r="r" b="b" t="t" l="l"/>
            <a:pathLst>
              <a:path h="6480614" w="9793926">
                <a:moveTo>
                  <a:pt x="9793926" y="6480613"/>
                </a:moveTo>
                <a:lnTo>
                  <a:pt x="0" y="6480613"/>
                </a:lnTo>
                <a:lnTo>
                  <a:pt x="0" y="0"/>
                </a:lnTo>
                <a:lnTo>
                  <a:pt x="9793926" y="0"/>
                </a:lnTo>
                <a:lnTo>
                  <a:pt x="9793926" y="6480613"/>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13" id="13"/>
          <p:cNvSpPr txBox="true"/>
          <p:nvPr/>
        </p:nvSpPr>
        <p:spPr>
          <a:xfrm rot="0">
            <a:off x="940457" y="1599986"/>
            <a:ext cx="2730589" cy="522379"/>
          </a:xfrm>
          <a:prstGeom prst="rect">
            <a:avLst/>
          </a:prstGeom>
        </p:spPr>
        <p:txBody>
          <a:bodyPr anchor="t" rtlCol="false" tIns="0" lIns="0" bIns="0" rIns="0">
            <a:spAutoFit/>
          </a:bodyPr>
          <a:lstStyle/>
          <a:p>
            <a:pPr algn="l">
              <a:lnSpc>
                <a:spcPts val="4282"/>
              </a:lnSpc>
            </a:pPr>
            <a:r>
              <a:rPr lang="en-US" sz="3058" i="true">
                <a:solidFill>
                  <a:srgbClr val="FFFFFF"/>
                </a:solidFill>
                <a:latin typeface="Pattanakarn Italics"/>
                <a:ea typeface="Pattanakarn Italics"/>
                <a:cs typeface="Pattanakarn Italics"/>
                <a:sym typeface="Pattanakarn Italics"/>
              </a:rPr>
              <a:t>EXAMPLE:</a:t>
            </a:r>
          </a:p>
        </p:txBody>
      </p:sp>
      <p:grpSp>
        <p:nvGrpSpPr>
          <p:cNvPr name="Group 14" id="14"/>
          <p:cNvGrpSpPr/>
          <p:nvPr/>
        </p:nvGrpSpPr>
        <p:grpSpPr>
          <a:xfrm rot="0">
            <a:off x="8530302" y="1657136"/>
            <a:ext cx="912929" cy="839804"/>
            <a:chOff x="0" y="0"/>
            <a:chExt cx="134572" cy="123793"/>
          </a:xfrm>
        </p:grpSpPr>
        <p:sp>
          <p:nvSpPr>
            <p:cNvPr name="Freeform 15" id="15"/>
            <p:cNvSpPr/>
            <p:nvPr/>
          </p:nvSpPr>
          <p:spPr>
            <a:xfrm flipH="false" flipV="false" rot="0">
              <a:off x="0" y="0"/>
              <a:ext cx="134572" cy="123793"/>
            </a:xfrm>
            <a:custGeom>
              <a:avLst/>
              <a:gdLst/>
              <a:ahLst/>
              <a:cxnLst/>
              <a:rect r="r" b="b" t="t" l="l"/>
              <a:pathLst>
                <a:path h="123793" w="134572">
                  <a:moveTo>
                    <a:pt x="61897" y="0"/>
                  </a:moveTo>
                  <a:lnTo>
                    <a:pt x="72676" y="0"/>
                  </a:lnTo>
                  <a:cubicBezTo>
                    <a:pt x="106860" y="0"/>
                    <a:pt x="134572" y="27712"/>
                    <a:pt x="134572" y="61897"/>
                  </a:cubicBezTo>
                  <a:lnTo>
                    <a:pt x="134572" y="61897"/>
                  </a:lnTo>
                  <a:cubicBezTo>
                    <a:pt x="134572" y="96081"/>
                    <a:pt x="106860" y="123793"/>
                    <a:pt x="72676" y="123793"/>
                  </a:cubicBezTo>
                  <a:lnTo>
                    <a:pt x="61897" y="123793"/>
                  </a:lnTo>
                  <a:cubicBezTo>
                    <a:pt x="27712" y="123793"/>
                    <a:pt x="0" y="96081"/>
                    <a:pt x="0" y="61897"/>
                  </a:cubicBezTo>
                  <a:lnTo>
                    <a:pt x="0" y="61897"/>
                  </a:lnTo>
                  <a:cubicBezTo>
                    <a:pt x="0" y="27712"/>
                    <a:pt x="27712" y="0"/>
                    <a:pt x="61897" y="0"/>
                  </a:cubicBezTo>
                  <a:close/>
                </a:path>
              </a:pathLst>
            </a:custGeom>
            <a:gradFill rotWithShape="true">
              <a:gsLst>
                <a:gs pos="0">
                  <a:srgbClr val="5DD3D8">
                    <a:alpha val="100000"/>
                  </a:srgbClr>
                </a:gs>
                <a:gs pos="100000">
                  <a:srgbClr val="006D97">
                    <a:alpha val="100000"/>
                  </a:srgbClr>
                </a:gs>
              </a:gsLst>
              <a:lin ang="0"/>
            </a:gradFill>
          </p:spPr>
        </p:sp>
        <p:sp>
          <p:nvSpPr>
            <p:cNvPr name="TextBox 16" id="16"/>
            <p:cNvSpPr txBox="true"/>
            <p:nvPr/>
          </p:nvSpPr>
          <p:spPr>
            <a:xfrm>
              <a:off x="0" y="-38100"/>
              <a:ext cx="134572" cy="161893"/>
            </a:xfrm>
            <a:prstGeom prst="rect">
              <a:avLst/>
            </a:prstGeom>
          </p:spPr>
          <p:txBody>
            <a:bodyPr anchor="ctr" rtlCol="false" tIns="50800" lIns="50800" bIns="50800" rIns="50800"/>
            <a:lstStyle/>
            <a:p>
              <a:pPr algn="ctr">
                <a:lnSpc>
                  <a:spcPts val="3499"/>
                </a:lnSpc>
              </a:pPr>
            </a:p>
          </p:txBody>
        </p:sp>
      </p:grpSp>
      <p:sp>
        <p:nvSpPr>
          <p:cNvPr name="TextBox 17" id="17"/>
          <p:cNvSpPr txBox="true"/>
          <p:nvPr/>
        </p:nvSpPr>
        <p:spPr>
          <a:xfrm rot="0">
            <a:off x="9443230" y="2790994"/>
            <a:ext cx="1623007" cy="712846"/>
          </a:xfrm>
          <a:prstGeom prst="rect">
            <a:avLst/>
          </a:prstGeom>
        </p:spPr>
        <p:txBody>
          <a:bodyPr anchor="t" rtlCol="false" tIns="0" lIns="0" bIns="0" rIns="0">
            <a:spAutoFit/>
          </a:bodyPr>
          <a:lstStyle/>
          <a:p>
            <a:pPr algn="ctr">
              <a:lnSpc>
                <a:spcPts val="5950"/>
              </a:lnSpc>
              <a:spcBef>
                <a:spcPct val="0"/>
              </a:spcBef>
            </a:pPr>
            <a:r>
              <a:rPr lang="en-US" sz="4250">
                <a:solidFill>
                  <a:srgbClr val="FFFFFF"/>
                </a:solidFill>
                <a:latin typeface="Pattanakarn"/>
                <a:ea typeface="Pattanakarn"/>
                <a:cs typeface="Pattanakarn"/>
                <a:sym typeface="Pattanakarn"/>
              </a:rPr>
              <a:t>Given:</a:t>
            </a:r>
          </a:p>
        </p:txBody>
      </p:sp>
      <p:sp>
        <p:nvSpPr>
          <p:cNvPr name="TextBox 18" id="18"/>
          <p:cNvSpPr txBox="true"/>
          <p:nvPr/>
        </p:nvSpPr>
        <p:spPr>
          <a:xfrm rot="0">
            <a:off x="10255465" y="3569953"/>
            <a:ext cx="3043435" cy="712846"/>
          </a:xfrm>
          <a:prstGeom prst="rect">
            <a:avLst/>
          </a:prstGeom>
        </p:spPr>
        <p:txBody>
          <a:bodyPr anchor="t" rtlCol="false" tIns="0" lIns="0" bIns="0" rIns="0">
            <a:spAutoFit/>
          </a:bodyPr>
          <a:lstStyle/>
          <a:p>
            <a:pPr algn="ctr">
              <a:lnSpc>
                <a:spcPts val="5950"/>
              </a:lnSpc>
              <a:spcBef>
                <a:spcPct val="0"/>
              </a:spcBef>
            </a:pPr>
            <a:r>
              <a:rPr lang="en-US" sz="4250">
                <a:solidFill>
                  <a:srgbClr val="FFFFFF"/>
                </a:solidFill>
                <a:latin typeface="Pattanakarn"/>
                <a:ea typeface="Pattanakarn"/>
                <a:cs typeface="Pattanakarn"/>
                <a:sym typeface="Pattanakarn"/>
              </a:rPr>
              <a:t>Rf​ = 10kΩ</a:t>
            </a:r>
          </a:p>
        </p:txBody>
      </p:sp>
      <p:sp>
        <p:nvSpPr>
          <p:cNvPr name="TextBox 19" id="19"/>
          <p:cNvSpPr txBox="true"/>
          <p:nvPr/>
        </p:nvSpPr>
        <p:spPr>
          <a:xfrm rot="0">
            <a:off x="10164194" y="4245935"/>
            <a:ext cx="3043435" cy="712846"/>
          </a:xfrm>
          <a:prstGeom prst="rect">
            <a:avLst/>
          </a:prstGeom>
        </p:spPr>
        <p:txBody>
          <a:bodyPr anchor="t" rtlCol="false" tIns="0" lIns="0" bIns="0" rIns="0">
            <a:spAutoFit/>
          </a:bodyPr>
          <a:lstStyle/>
          <a:p>
            <a:pPr algn="ctr">
              <a:lnSpc>
                <a:spcPts val="5950"/>
              </a:lnSpc>
              <a:spcBef>
                <a:spcPct val="0"/>
              </a:spcBef>
            </a:pPr>
            <a:r>
              <a:rPr lang="en-US" sz="4250">
                <a:solidFill>
                  <a:srgbClr val="FFFFFF"/>
                </a:solidFill>
                <a:latin typeface="Pattanakarn"/>
                <a:ea typeface="Pattanakarn"/>
                <a:cs typeface="Pattanakarn"/>
                <a:sym typeface="Pattanakarn"/>
              </a:rPr>
              <a:t>R1 ​= 2kΩ</a:t>
            </a:r>
          </a:p>
        </p:txBody>
      </p:sp>
      <p:sp>
        <p:nvSpPr>
          <p:cNvPr name="TextBox 20" id="20"/>
          <p:cNvSpPr txBox="true"/>
          <p:nvPr/>
        </p:nvSpPr>
        <p:spPr>
          <a:xfrm rot="0">
            <a:off x="10509403" y="5078522"/>
            <a:ext cx="2767658" cy="712846"/>
          </a:xfrm>
          <a:prstGeom prst="rect">
            <a:avLst/>
          </a:prstGeom>
        </p:spPr>
        <p:txBody>
          <a:bodyPr anchor="t" rtlCol="false" tIns="0" lIns="0" bIns="0" rIns="0">
            <a:spAutoFit/>
          </a:bodyPr>
          <a:lstStyle/>
          <a:p>
            <a:pPr algn="ctr">
              <a:lnSpc>
                <a:spcPts val="5950"/>
              </a:lnSpc>
              <a:spcBef>
                <a:spcPct val="0"/>
              </a:spcBef>
            </a:pPr>
            <a:r>
              <a:rPr lang="en-US" sz="4250">
                <a:solidFill>
                  <a:srgbClr val="FFFFFF"/>
                </a:solidFill>
                <a:latin typeface="Pattanakarn"/>
                <a:ea typeface="Pattanakarn"/>
                <a:cs typeface="Pattanakarn"/>
                <a:sym typeface="Pattanakarn"/>
              </a:rPr>
              <a:t>Vin​ = 0.2V</a:t>
            </a:r>
          </a:p>
        </p:txBody>
      </p:sp>
      <p:sp>
        <p:nvSpPr>
          <p:cNvPr name="TextBox 21" id="21"/>
          <p:cNvSpPr txBox="true"/>
          <p:nvPr/>
        </p:nvSpPr>
        <p:spPr>
          <a:xfrm rot="0">
            <a:off x="9604915" y="1673835"/>
            <a:ext cx="5119831" cy="1076759"/>
          </a:xfrm>
          <a:prstGeom prst="rect">
            <a:avLst/>
          </a:prstGeom>
        </p:spPr>
        <p:txBody>
          <a:bodyPr anchor="t" rtlCol="false" tIns="0" lIns="0" bIns="0" rIns="0">
            <a:spAutoFit/>
          </a:bodyPr>
          <a:lstStyle/>
          <a:p>
            <a:pPr algn="ctr">
              <a:lnSpc>
                <a:spcPts val="4387"/>
              </a:lnSpc>
              <a:spcBef>
                <a:spcPct val="0"/>
              </a:spcBef>
            </a:pPr>
            <a:r>
              <a:rPr lang="en-US" sz="3134">
                <a:solidFill>
                  <a:srgbClr val="FFFFFF"/>
                </a:solidFill>
                <a:latin typeface="Pattanakarn"/>
                <a:ea typeface="Pattanakarn"/>
                <a:cs typeface="Pattanakarn"/>
                <a:sym typeface="Pattanakarn"/>
              </a:rPr>
              <a:t>Find the voltage gain and output voltage.</a:t>
            </a:r>
          </a:p>
        </p:txBody>
      </p:sp>
      <p:grpSp>
        <p:nvGrpSpPr>
          <p:cNvPr name="Group 22" id="22"/>
          <p:cNvGrpSpPr/>
          <p:nvPr/>
        </p:nvGrpSpPr>
        <p:grpSpPr>
          <a:xfrm rot="0">
            <a:off x="554693" y="2988434"/>
            <a:ext cx="5724607" cy="2702308"/>
            <a:chOff x="0" y="0"/>
            <a:chExt cx="1026060" cy="484353"/>
          </a:xfrm>
        </p:grpSpPr>
        <p:sp>
          <p:nvSpPr>
            <p:cNvPr name="Freeform 23" id="23"/>
            <p:cNvSpPr/>
            <p:nvPr/>
          </p:nvSpPr>
          <p:spPr>
            <a:xfrm flipH="false" flipV="false" rot="0">
              <a:off x="0" y="0"/>
              <a:ext cx="1026060" cy="484353"/>
            </a:xfrm>
            <a:custGeom>
              <a:avLst/>
              <a:gdLst/>
              <a:ahLst/>
              <a:cxnLst/>
              <a:rect r="r" b="b" t="t" l="l"/>
              <a:pathLst>
                <a:path h="484353" w="1026060">
                  <a:moveTo>
                    <a:pt x="25695" y="0"/>
                  </a:moveTo>
                  <a:lnTo>
                    <a:pt x="1000364" y="0"/>
                  </a:lnTo>
                  <a:cubicBezTo>
                    <a:pt x="1014555" y="0"/>
                    <a:pt x="1026060" y="11504"/>
                    <a:pt x="1026060" y="25695"/>
                  </a:cubicBezTo>
                  <a:lnTo>
                    <a:pt x="1026060" y="458657"/>
                  </a:lnTo>
                  <a:cubicBezTo>
                    <a:pt x="1026060" y="465472"/>
                    <a:pt x="1023352" y="472008"/>
                    <a:pt x="1018534" y="476827"/>
                  </a:cubicBezTo>
                  <a:cubicBezTo>
                    <a:pt x="1013715" y="481646"/>
                    <a:pt x="1007179" y="484353"/>
                    <a:pt x="1000364" y="484353"/>
                  </a:cubicBezTo>
                  <a:lnTo>
                    <a:pt x="25695" y="484353"/>
                  </a:lnTo>
                  <a:cubicBezTo>
                    <a:pt x="11504" y="484353"/>
                    <a:pt x="0" y="472848"/>
                    <a:pt x="0" y="458657"/>
                  </a:cubicBezTo>
                  <a:lnTo>
                    <a:pt x="0" y="25695"/>
                  </a:lnTo>
                  <a:cubicBezTo>
                    <a:pt x="0" y="11504"/>
                    <a:pt x="11504" y="0"/>
                    <a:pt x="25695" y="0"/>
                  </a:cubicBezTo>
                  <a:close/>
                </a:path>
              </a:pathLst>
            </a:custGeom>
            <a:gradFill rotWithShape="true">
              <a:gsLst>
                <a:gs pos="0">
                  <a:srgbClr val="5DD3D8">
                    <a:alpha val="100000"/>
                  </a:srgbClr>
                </a:gs>
                <a:gs pos="100000">
                  <a:srgbClr val="006D97">
                    <a:alpha val="100000"/>
                  </a:srgbClr>
                </a:gs>
              </a:gsLst>
              <a:lin ang="0"/>
            </a:gradFill>
          </p:spPr>
        </p:sp>
        <p:sp>
          <p:nvSpPr>
            <p:cNvPr name="TextBox 24" id="24"/>
            <p:cNvSpPr txBox="true"/>
            <p:nvPr/>
          </p:nvSpPr>
          <p:spPr>
            <a:xfrm>
              <a:off x="0" y="-57150"/>
              <a:ext cx="1026060" cy="541503"/>
            </a:xfrm>
            <a:prstGeom prst="rect">
              <a:avLst/>
            </a:prstGeom>
          </p:spPr>
          <p:txBody>
            <a:bodyPr anchor="ctr" rtlCol="false" tIns="50800" lIns="50800" bIns="50800" rIns="50800"/>
            <a:lstStyle/>
            <a:p>
              <a:pPr algn="ctr">
                <a:lnSpc>
                  <a:spcPts val="4059"/>
                </a:lnSpc>
              </a:pPr>
            </a:p>
          </p:txBody>
        </p:sp>
      </p:grpSp>
      <p:sp>
        <p:nvSpPr>
          <p:cNvPr name="TextBox 25" id="25"/>
          <p:cNvSpPr txBox="true"/>
          <p:nvPr/>
        </p:nvSpPr>
        <p:spPr>
          <a:xfrm rot="0">
            <a:off x="1028700" y="4043256"/>
            <a:ext cx="4614043" cy="821014"/>
          </a:xfrm>
          <a:prstGeom prst="rect">
            <a:avLst/>
          </a:prstGeom>
        </p:spPr>
        <p:txBody>
          <a:bodyPr anchor="t" rtlCol="false" tIns="0" lIns="0" bIns="0" rIns="0">
            <a:spAutoFit/>
          </a:bodyPr>
          <a:lstStyle/>
          <a:p>
            <a:pPr algn="ctr">
              <a:lnSpc>
                <a:spcPts val="6722"/>
              </a:lnSpc>
              <a:spcBef>
                <a:spcPct val="0"/>
              </a:spcBef>
            </a:pPr>
            <a:r>
              <a:rPr lang="en-US" sz="4801">
                <a:solidFill>
                  <a:srgbClr val="FFFFFF"/>
                </a:solidFill>
                <a:latin typeface="Pattanakarn"/>
                <a:ea typeface="Pattanakarn"/>
                <a:cs typeface="Pattanakarn"/>
                <a:sym typeface="Pattanakarn"/>
              </a:rPr>
              <a:t>Av      = 1+ Rf​</a:t>
            </a:r>
          </a:p>
        </p:txBody>
      </p:sp>
      <p:sp>
        <p:nvSpPr>
          <p:cNvPr name="TextBox 26" id="26"/>
          <p:cNvSpPr txBox="true"/>
          <p:nvPr/>
        </p:nvSpPr>
        <p:spPr>
          <a:xfrm rot="0">
            <a:off x="4466340" y="4919587"/>
            <a:ext cx="876740" cy="771155"/>
          </a:xfrm>
          <a:prstGeom prst="rect">
            <a:avLst/>
          </a:prstGeom>
        </p:spPr>
        <p:txBody>
          <a:bodyPr anchor="t" rtlCol="false" tIns="0" lIns="0" bIns="0" rIns="0">
            <a:spAutoFit/>
          </a:bodyPr>
          <a:lstStyle/>
          <a:p>
            <a:pPr algn="ctr">
              <a:lnSpc>
                <a:spcPts val="6320"/>
              </a:lnSpc>
              <a:spcBef>
                <a:spcPct val="0"/>
              </a:spcBef>
            </a:pPr>
            <a:r>
              <a:rPr lang="en-US" sz="4514">
                <a:solidFill>
                  <a:srgbClr val="FFFFFF"/>
                </a:solidFill>
                <a:latin typeface="Pattanakarn"/>
                <a:ea typeface="Pattanakarn"/>
                <a:cs typeface="Pattanakarn"/>
                <a:sym typeface="Pattanakarn"/>
              </a:rPr>
              <a:t>R1</a:t>
            </a:r>
          </a:p>
        </p:txBody>
      </p:sp>
      <p:sp>
        <p:nvSpPr>
          <p:cNvPr name="TextBox 27" id="27"/>
          <p:cNvSpPr txBox="true"/>
          <p:nvPr/>
        </p:nvSpPr>
        <p:spPr>
          <a:xfrm rot="0">
            <a:off x="4301126" y="4399679"/>
            <a:ext cx="1207168" cy="605634"/>
          </a:xfrm>
          <a:prstGeom prst="rect">
            <a:avLst/>
          </a:prstGeom>
        </p:spPr>
        <p:txBody>
          <a:bodyPr anchor="t" rtlCol="false" tIns="0" lIns="0" bIns="0" rIns="0">
            <a:spAutoFit/>
          </a:bodyPr>
          <a:lstStyle/>
          <a:p>
            <a:pPr algn="ctr">
              <a:lnSpc>
                <a:spcPts val="5057"/>
              </a:lnSpc>
              <a:spcBef>
                <a:spcPct val="0"/>
              </a:spcBef>
            </a:pPr>
            <a:r>
              <a:rPr lang="en-US" sz="3612">
                <a:solidFill>
                  <a:srgbClr val="FFFFFF"/>
                </a:solidFill>
                <a:latin typeface="Pattanakarn"/>
                <a:ea typeface="Pattanakarn"/>
                <a:cs typeface="Pattanakarn"/>
                <a:sym typeface="Pattanakarn"/>
              </a:rPr>
              <a:t>_____</a:t>
            </a:r>
          </a:p>
        </p:txBody>
      </p:sp>
      <p:sp>
        <p:nvSpPr>
          <p:cNvPr name="TextBox 28" id="28"/>
          <p:cNvSpPr txBox="true"/>
          <p:nvPr/>
        </p:nvSpPr>
        <p:spPr>
          <a:xfrm rot="0">
            <a:off x="859677" y="3141723"/>
            <a:ext cx="2680444" cy="654818"/>
          </a:xfrm>
          <a:prstGeom prst="rect">
            <a:avLst/>
          </a:prstGeom>
        </p:spPr>
        <p:txBody>
          <a:bodyPr anchor="t" rtlCol="false" tIns="0" lIns="0" bIns="0" rIns="0">
            <a:spAutoFit/>
          </a:bodyPr>
          <a:lstStyle/>
          <a:p>
            <a:pPr algn="ctr">
              <a:lnSpc>
                <a:spcPts val="5382"/>
              </a:lnSpc>
              <a:spcBef>
                <a:spcPct val="0"/>
              </a:spcBef>
            </a:pPr>
            <a:r>
              <a:rPr lang="en-US" sz="3844">
                <a:solidFill>
                  <a:srgbClr val="FFFFFF"/>
                </a:solidFill>
                <a:latin typeface="Pattanakarn"/>
                <a:ea typeface="Pattanakarn"/>
                <a:cs typeface="Pattanakarn"/>
                <a:sym typeface="Pattanakarn"/>
              </a:rPr>
              <a:t>FORMULA:</a:t>
            </a:r>
          </a:p>
        </p:txBody>
      </p:sp>
      <p:sp>
        <p:nvSpPr>
          <p:cNvPr name="TextBox 29" id="29"/>
          <p:cNvSpPr txBox="true"/>
          <p:nvPr/>
        </p:nvSpPr>
        <p:spPr>
          <a:xfrm rot="0">
            <a:off x="2157029" y="4558145"/>
            <a:ext cx="1178693" cy="555099"/>
          </a:xfrm>
          <a:prstGeom prst="rect">
            <a:avLst/>
          </a:prstGeom>
        </p:spPr>
        <p:txBody>
          <a:bodyPr anchor="t" rtlCol="false" tIns="0" lIns="0" bIns="0" rIns="0">
            <a:spAutoFit/>
          </a:bodyPr>
          <a:lstStyle/>
          <a:p>
            <a:pPr algn="ctr">
              <a:lnSpc>
                <a:spcPts val="4578"/>
              </a:lnSpc>
              <a:spcBef>
                <a:spcPct val="0"/>
              </a:spcBef>
            </a:pPr>
            <a:r>
              <a:rPr lang="en-US" sz="3270">
                <a:solidFill>
                  <a:srgbClr val="FFFFFF"/>
                </a:solidFill>
                <a:latin typeface="Pattanakarn"/>
                <a:ea typeface="Pattanakarn"/>
                <a:cs typeface="Pattanakarn"/>
                <a:sym typeface="Pattanakarn"/>
              </a:rPr>
              <a:t>(CL)</a:t>
            </a:r>
          </a:p>
        </p:txBody>
      </p:sp>
      <p:sp>
        <p:nvSpPr>
          <p:cNvPr name="TextBox 30" id="30"/>
          <p:cNvSpPr txBox="true"/>
          <p:nvPr/>
        </p:nvSpPr>
        <p:spPr>
          <a:xfrm rot="0">
            <a:off x="10620764" y="8681440"/>
            <a:ext cx="1999069" cy="665730"/>
          </a:xfrm>
          <a:prstGeom prst="rect">
            <a:avLst/>
          </a:prstGeom>
        </p:spPr>
        <p:txBody>
          <a:bodyPr anchor="t" rtlCol="false" tIns="0" lIns="0" bIns="0" rIns="0">
            <a:spAutoFit/>
          </a:bodyPr>
          <a:lstStyle/>
          <a:p>
            <a:pPr algn="ctr">
              <a:lnSpc>
                <a:spcPts val="5530"/>
              </a:lnSpc>
              <a:spcBef>
                <a:spcPct val="0"/>
              </a:spcBef>
            </a:pPr>
            <a:r>
              <a:rPr lang="en-US" sz="3950">
                <a:solidFill>
                  <a:srgbClr val="FFFFFF"/>
                </a:solidFill>
                <a:latin typeface="Pattanakarn"/>
                <a:ea typeface="Pattanakarn"/>
                <a:cs typeface="Pattanakarn"/>
                <a:sym typeface="Pattanakarn"/>
              </a:rPr>
              <a:t>R1​=10kΩ</a:t>
            </a:r>
          </a:p>
        </p:txBody>
      </p:sp>
      <p:sp>
        <p:nvSpPr>
          <p:cNvPr name="TextBox 31" id="31"/>
          <p:cNvSpPr txBox="true"/>
          <p:nvPr/>
        </p:nvSpPr>
        <p:spPr>
          <a:xfrm rot="0">
            <a:off x="9548140" y="6644998"/>
            <a:ext cx="7274027" cy="965550"/>
          </a:xfrm>
          <a:prstGeom prst="rect">
            <a:avLst/>
          </a:prstGeom>
        </p:spPr>
        <p:txBody>
          <a:bodyPr anchor="t" rtlCol="false" tIns="0" lIns="0" bIns="0" rIns="0">
            <a:spAutoFit/>
          </a:bodyPr>
          <a:lstStyle/>
          <a:p>
            <a:pPr algn="l">
              <a:lnSpc>
                <a:spcPts val="3856"/>
              </a:lnSpc>
              <a:spcBef>
                <a:spcPct val="0"/>
              </a:spcBef>
            </a:pPr>
            <a:r>
              <a:rPr lang="en-US" sz="2754">
                <a:solidFill>
                  <a:srgbClr val="FFFFFF"/>
                </a:solidFill>
                <a:latin typeface="Pattanakarn"/>
                <a:ea typeface="Pattanakarn"/>
                <a:cs typeface="Pattanakarn"/>
                <a:sym typeface="Pattanakarn"/>
              </a:rPr>
              <a:t>A noninverting amplifier must have a voltage gain of 11, and find the value of Rf.</a:t>
            </a:r>
          </a:p>
        </p:txBody>
      </p:sp>
      <p:sp>
        <p:nvSpPr>
          <p:cNvPr name="TextBox 32" id="32"/>
          <p:cNvSpPr txBox="true"/>
          <p:nvPr/>
        </p:nvSpPr>
        <p:spPr>
          <a:xfrm rot="0">
            <a:off x="9375407" y="7856646"/>
            <a:ext cx="1623007" cy="712846"/>
          </a:xfrm>
          <a:prstGeom prst="rect">
            <a:avLst/>
          </a:prstGeom>
        </p:spPr>
        <p:txBody>
          <a:bodyPr anchor="t" rtlCol="false" tIns="0" lIns="0" bIns="0" rIns="0">
            <a:spAutoFit/>
          </a:bodyPr>
          <a:lstStyle/>
          <a:p>
            <a:pPr algn="ctr">
              <a:lnSpc>
                <a:spcPts val="5950"/>
              </a:lnSpc>
              <a:spcBef>
                <a:spcPct val="0"/>
              </a:spcBef>
            </a:pPr>
            <a:r>
              <a:rPr lang="en-US" sz="4250">
                <a:solidFill>
                  <a:srgbClr val="FFFFFF"/>
                </a:solidFill>
                <a:latin typeface="Pattanakarn"/>
                <a:ea typeface="Pattanakarn"/>
                <a:cs typeface="Pattanakarn"/>
                <a:sym typeface="Pattanakarn"/>
              </a:rPr>
              <a:t>Given:</a:t>
            </a:r>
          </a:p>
        </p:txBody>
      </p:sp>
      <p:grpSp>
        <p:nvGrpSpPr>
          <p:cNvPr name="Group 33" id="33"/>
          <p:cNvGrpSpPr/>
          <p:nvPr/>
        </p:nvGrpSpPr>
        <p:grpSpPr>
          <a:xfrm rot="0">
            <a:off x="8530302" y="6686718"/>
            <a:ext cx="912929" cy="839804"/>
            <a:chOff x="0" y="0"/>
            <a:chExt cx="134572" cy="123793"/>
          </a:xfrm>
        </p:grpSpPr>
        <p:sp>
          <p:nvSpPr>
            <p:cNvPr name="Freeform 34" id="34"/>
            <p:cNvSpPr/>
            <p:nvPr/>
          </p:nvSpPr>
          <p:spPr>
            <a:xfrm flipH="false" flipV="false" rot="0">
              <a:off x="0" y="0"/>
              <a:ext cx="134572" cy="123793"/>
            </a:xfrm>
            <a:custGeom>
              <a:avLst/>
              <a:gdLst/>
              <a:ahLst/>
              <a:cxnLst/>
              <a:rect r="r" b="b" t="t" l="l"/>
              <a:pathLst>
                <a:path h="123793" w="134572">
                  <a:moveTo>
                    <a:pt x="61897" y="0"/>
                  </a:moveTo>
                  <a:lnTo>
                    <a:pt x="72676" y="0"/>
                  </a:lnTo>
                  <a:cubicBezTo>
                    <a:pt x="106860" y="0"/>
                    <a:pt x="134572" y="27712"/>
                    <a:pt x="134572" y="61897"/>
                  </a:cubicBezTo>
                  <a:lnTo>
                    <a:pt x="134572" y="61897"/>
                  </a:lnTo>
                  <a:cubicBezTo>
                    <a:pt x="134572" y="96081"/>
                    <a:pt x="106860" y="123793"/>
                    <a:pt x="72676" y="123793"/>
                  </a:cubicBezTo>
                  <a:lnTo>
                    <a:pt x="61897" y="123793"/>
                  </a:lnTo>
                  <a:cubicBezTo>
                    <a:pt x="27712" y="123793"/>
                    <a:pt x="0" y="96081"/>
                    <a:pt x="0" y="61897"/>
                  </a:cubicBezTo>
                  <a:lnTo>
                    <a:pt x="0" y="61897"/>
                  </a:lnTo>
                  <a:cubicBezTo>
                    <a:pt x="0" y="27712"/>
                    <a:pt x="27712" y="0"/>
                    <a:pt x="61897" y="0"/>
                  </a:cubicBezTo>
                  <a:close/>
                </a:path>
              </a:pathLst>
            </a:custGeom>
            <a:gradFill rotWithShape="true">
              <a:gsLst>
                <a:gs pos="0">
                  <a:srgbClr val="5DD3D8">
                    <a:alpha val="100000"/>
                  </a:srgbClr>
                </a:gs>
                <a:gs pos="100000">
                  <a:srgbClr val="006D97">
                    <a:alpha val="100000"/>
                  </a:srgbClr>
                </a:gs>
              </a:gsLst>
              <a:lin ang="0"/>
            </a:gradFill>
          </p:spPr>
        </p:sp>
        <p:sp>
          <p:nvSpPr>
            <p:cNvPr name="TextBox 35" id="35"/>
            <p:cNvSpPr txBox="true"/>
            <p:nvPr/>
          </p:nvSpPr>
          <p:spPr>
            <a:xfrm>
              <a:off x="0" y="-38100"/>
              <a:ext cx="134572" cy="161893"/>
            </a:xfrm>
            <a:prstGeom prst="rect">
              <a:avLst/>
            </a:prstGeom>
          </p:spPr>
          <p:txBody>
            <a:bodyPr anchor="ctr" rtlCol="false" tIns="50800" lIns="50800" bIns="50800" rIns="50800"/>
            <a:lstStyle/>
            <a:p>
              <a:pPr algn="ctr">
                <a:lnSpc>
                  <a:spcPts val="3499"/>
                </a:lnSpc>
              </a:pPr>
            </a:p>
          </p:txBody>
        </p:sp>
      </p:grpSp>
      <p:sp>
        <p:nvSpPr>
          <p:cNvPr name="TextBox 36" id="36"/>
          <p:cNvSpPr txBox="true"/>
          <p:nvPr/>
        </p:nvSpPr>
        <p:spPr>
          <a:xfrm rot="0">
            <a:off x="8898278" y="1614894"/>
            <a:ext cx="176976" cy="783038"/>
          </a:xfrm>
          <a:prstGeom prst="rect">
            <a:avLst/>
          </a:prstGeom>
        </p:spPr>
        <p:txBody>
          <a:bodyPr anchor="t" rtlCol="false" tIns="0" lIns="0" bIns="0" rIns="0">
            <a:spAutoFit/>
          </a:bodyPr>
          <a:lstStyle/>
          <a:p>
            <a:pPr algn="ctr">
              <a:lnSpc>
                <a:spcPts val="6503"/>
              </a:lnSpc>
              <a:spcBef>
                <a:spcPct val="0"/>
              </a:spcBef>
            </a:pPr>
            <a:r>
              <a:rPr lang="en-US" sz="4645">
                <a:solidFill>
                  <a:srgbClr val="FFFFFF"/>
                </a:solidFill>
                <a:latin typeface="Pattanakarn"/>
                <a:ea typeface="Pattanakarn"/>
                <a:cs typeface="Pattanakarn"/>
                <a:sym typeface="Pattanakarn"/>
              </a:rPr>
              <a:t>1</a:t>
            </a:r>
          </a:p>
        </p:txBody>
      </p:sp>
      <p:sp>
        <p:nvSpPr>
          <p:cNvPr name="TextBox 37" id="37"/>
          <p:cNvSpPr txBox="true"/>
          <p:nvPr/>
        </p:nvSpPr>
        <p:spPr>
          <a:xfrm rot="0">
            <a:off x="8802538" y="6725530"/>
            <a:ext cx="368456" cy="742573"/>
          </a:xfrm>
          <a:prstGeom prst="rect">
            <a:avLst/>
          </a:prstGeom>
        </p:spPr>
        <p:txBody>
          <a:bodyPr anchor="t" rtlCol="false" tIns="0" lIns="0" bIns="0" rIns="0">
            <a:spAutoFit/>
          </a:bodyPr>
          <a:lstStyle/>
          <a:p>
            <a:pPr algn="ctr">
              <a:lnSpc>
                <a:spcPts val="6134"/>
              </a:lnSpc>
              <a:spcBef>
                <a:spcPct val="0"/>
              </a:spcBef>
            </a:pPr>
            <a:r>
              <a:rPr lang="en-US" sz="4382">
                <a:solidFill>
                  <a:srgbClr val="FFFFFF"/>
                </a:solidFill>
                <a:latin typeface="Pattanakarn"/>
                <a:ea typeface="Pattanakarn"/>
                <a:cs typeface="Pattanakarn"/>
                <a:sym typeface="Pattanakarn"/>
              </a:rPr>
              <a:t>2</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471758" y="6569813"/>
            <a:ext cx="4848200" cy="1852795"/>
          </a:xfrm>
          <a:custGeom>
            <a:avLst/>
            <a:gdLst/>
            <a:ahLst/>
            <a:cxnLst/>
            <a:rect r="r" b="b" t="t" l="l"/>
            <a:pathLst>
              <a:path h="1852795" w="4848200">
                <a:moveTo>
                  <a:pt x="0" y="0"/>
                </a:moveTo>
                <a:lnTo>
                  <a:pt x="4848200" y="0"/>
                </a:lnTo>
                <a:lnTo>
                  <a:pt x="4848200" y="1852795"/>
                </a:lnTo>
                <a:lnTo>
                  <a:pt x="0" y="1852795"/>
                </a:lnTo>
                <a:lnTo>
                  <a:pt x="0" y="0"/>
                </a:lnTo>
                <a:close/>
              </a:path>
            </a:pathLst>
          </a:custGeom>
          <a:blipFill>
            <a:blip r:embed="rId3"/>
            <a:stretch>
              <a:fillRect l="0" t="0" r="-16690" b="0"/>
            </a:stretch>
          </a:blipFill>
        </p:spPr>
      </p:sp>
      <p:grpSp>
        <p:nvGrpSpPr>
          <p:cNvPr name="Group 4" id="4"/>
          <p:cNvGrpSpPr/>
          <p:nvPr/>
        </p:nvGrpSpPr>
        <p:grpSpPr>
          <a:xfrm rot="0">
            <a:off x="389760" y="5567510"/>
            <a:ext cx="4364413" cy="570497"/>
            <a:chOff x="0" y="0"/>
            <a:chExt cx="1056141" cy="138054"/>
          </a:xfrm>
        </p:grpSpPr>
        <p:sp>
          <p:nvSpPr>
            <p:cNvPr name="Freeform 5" id="5"/>
            <p:cNvSpPr/>
            <p:nvPr/>
          </p:nvSpPr>
          <p:spPr>
            <a:xfrm flipH="false" flipV="false" rot="0">
              <a:off x="0" y="0"/>
              <a:ext cx="1056141" cy="138054"/>
            </a:xfrm>
            <a:custGeom>
              <a:avLst/>
              <a:gdLst/>
              <a:ahLst/>
              <a:cxnLst/>
              <a:rect r="r" b="b" t="t" l="l"/>
              <a:pathLst>
                <a:path h="138054" w="1056141">
                  <a:moveTo>
                    <a:pt x="33704" y="0"/>
                  </a:moveTo>
                  <a:lnTo>
                    <a:pt x="1022438" y="0"/>
                  </a:lnTo>
                  <a:cubicBezTo>
                    <a:pt x="1041052" y="0"/>
                    <a:pt x="1056141" y="15090"/>
                    <a:pt x="1056141" y="33704"/>
                  </a:cubicBezTo>
                  <a:lnTo>
                    <a:pt x="1056141" y="104351"/>
                  </a:lnTo>
                  <a:cubicBezTo>
                    <a:pt x="1056141" y="122965"/>
                    <a:pt x="1041052" y="138054"/>
                    <a:pt x="1022438" y="138054"/>
                  </a:cubicBezTo>
                  <a:lnTo>
                    <a:pt x="33704" y="138054"/>
                  </a:lnTo>
                  <a:cubicBezTo>
                    <a:pt x="24765" y="138054"/>
                    <a:pt x="16192" y="134503"/>
                    <a:pt x="9872" y="128183"/>
                  </a:cubicBezTo>
                  <a:cubicBezTo>
                    <a:pt x="3551" y="121862"/>
                    <a:pt x="0" y="113289"/>
                    <a:pt x="0" y="104351"/>
                  </a:cubicBezTo>
                  <a:lnTo>
                    <a:pt x="0" y="33704"/>
                  </a:lnTo>
                  <a:cubicBezTo>
                    <a:pt x="0" y="24765"/>
                    <a:pt x="3551" y="16192"/>
                    <a:pt x="9872" y="9872"/>
                  </a:cubicBezTo>
                  <a:cubicBezTo>
                    <a:pt x="16192" y="3551"/>
                    <a:pt x="24765" y="0"/>
                    <a:pt x="33704" y="0"/>
                  </a:cubicBezTo>
                  <a:close/>
                </a:path>
              </a:pathLst>
            </a:custGeom>
            <a:gradFill rotWithShape="true">
              <a:gsLst>
                <a:gs pos="0">
                  <a:srgbClr val="5DD3D8">
                    <a:alpha val="100000"/>
                  </a:srgbClr>
                </a:gs>
                <a:gs pos="100000">
                  <a:srgbClr val="006D97">
                    <a:alpha val="100000"/>
                  </a:srgbClr>
                </a:gs>
              </a:gsLst>
              <a:lin ang="0"/>
            </a:gradFill>
          </p:spPr>
        </p:sp>
        <p:sp>
          <p:nvSpPr>
            <p:cNvPr name="TextBox 6" id="6"/>
            <p:cNvSpPr txBox="true"/>
            <p:nvPr/>
          </p:nvSpPr>
          <p:spPr>
            <a:xfrm>
              <a:off x="0" y="-38100"/>
              <a:ext cx="1056141" cy="176154"/>
            </a:xfrm>
            <a:prstGeom prst="rect">
              <a:avLst/>
            </a:prstGeom>
          </p:spPr>
          <p:txBody>
            <a:bodyPr anchor="ctr" rtlCol="false" tIns="50800" lIns="50800" bIns="50800" rIns="50800"/>
            <a:lstStyle/>
            <a:p>
              <a:pPr algn="ctr">
                <a:lnSpc>
                  <a:spcPts val="3499"/>
                </a:lnSpc>
              </a:pPr>
            </a:p>
          </p:txBody>
        </p:sp>
      </p:grpSp>
      <p:sp>
        <p:nvSpPr>
          <p:cNvPr name="Freeform 7" id="7"/>
          <p:cNvSpPr/>
          <p:nvPr/>
        </p:nvSpPr>
        <p:spPr>
          <a:xfrm flipH="false" flipV="false" rot="0">
            <a:off x="-3425205" y="5135703"/>
            <a:ext cx="9793926" cy="6480614"/>
          </a:xfrm>
          <a:custGeom>
            <a:avLst/>
            <a:gdLst/>
            <a:ahLst/>
            <a:cxnLst/>
            <a:rect r="r" b="b" t="t" l="l"/>
            <a:pathLst>
              <a:path h="6480614" w="9793926">
                <a:moveTo>
                  <a:pt x="0" y="0"/>
                </a:moveTo>
                <a:lnTo>
                  <a:pt x="9793925" y="0"/>
                </a:lnTo>
                <a:lnTo>
                  <a:pt x="9793925" y="6480614"/>
                </a:lnTo>
                <a:lnTo>
                  <a:pt x="0" y="64806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8" id="8"/>
          <p:cNvGrpSpPr/>
          <p:nvPr/>
        </p:nvGrpSpPr>
        <p:grpSpPr>
          <a:xfrm rot="0">
            <a:off x="800525" y="562743"/>
            <a:ext cx="16773396" cy="651202"/>
            <a:chOff x="0" y="0"/>
            <a:chExt cx="4417685" cy="171510"/>
          </a:xfrm>
        </p:grpSpPr>
        <p:sp>
          <p:nvSpPr>
            <p:cNvPr name="Freeform 9" id="9"/>
            <p:cNvSpPr/>
            <p:nvPr/>
          </p:nvSpPr>
          <p:spPr>
            <a:xfrm flipH="false" flipV="false" rot="0">
              <a:off x="0" y="0"/>
              <a:ext cx="4417685" cy="171510"/>
            </a:xfrm>
            <a:custGeom>
              <a:avLst/>
              <a:gdLst/>
              <a:ahLst/>
              <a:cxnLst/>
              <a:rect r="r" b="b" t="t" l="l"/>
              <a:pathLst>
                <a:path h="171510" w="4417685">
                  <a:moveTo>
                    <a:pt x="6462" y="0"/>
                  </a:moveTo>
                  <a:lnTo>
                    <a:pt x="4411223" y="0"/>
                  </a:lnTo>
                  <a:cubicBezTo>
                    <a:pt x="4412936" y="0"/>
                    <a:pt x="4414580" y="681"/>
                    <a:pt x="4415792" y="1893"/>
                  </a:cubicBezTo>
                  <a:cubicBezTo>
                    <a:pt x="4417004" y="3104"/>
                    <a:pt x="4417685" y="4748"/>
                    <a:pt x="4417685" y="6462"/>
                  </a:cubicBezTo>
                  <a:lnTo>
                    <a:pt x="4417685" y="165048"/>
                  </a:lnTo>
                  <a:cubicBezTo>
                    <a:pt x="4417685" y="168617"/>
                    <a:pt x="4414791" y="171510"/>
                    <a:pt x="4411223" y="171510"/>
                  </a:cubicBezTo>
                  <a:lnTo>
                    <a:pt x="6462" y="171510"/>
                  </a:lnTo>
                  <a:cubicBezTo>
                    <a:pt x="4748" y="171510"/>
                    <a:pt x="3104" y="170829"/>
                    <a:pt x="1893" y="169617"/>
                  </a:cubicBezTo>
                  <a:cubicBezTo>
                    <a:pt x="681" y="168406"/>
                    <a:pt x="0" y="166762"/>
                    <a:pt x="0" y="165048"/>
                  </a:cubicBezTo>
                  <a:lnTo>
                    <a:pt x="0" y="6462"/>
                  </a:lnTo>
                  <a:cubicBezTo>
                    <a:pt x="0" y="4748"/>
                    <a:pt x="681" y="3104"/>
                    <a:pt x="1893" y="1893"/>
                  </a:cubicBezTo>
                  <a:cubicBezTo>
                    <a:pt x="3104" y="681"/>
                    <a:pt x="4748" y="0"/>
                    <a:pt x="6462" y="0"/>
                  </a:cubicBezTo>
                  <a:close/>
                </a:path>
              </a:pathLst>
            </a:custGeom>
            <a:ln w="38100" cap="sq">
              <a:gradFill>
                <a:gsLst>
                  <a:gs pos="0">
                    <a:srgbClr val="5DD3D8">
                      <a:alpha val="100000"/>
                    </a:srgbClr>
                  </a:gs>
                  <a:gs pos="100000">
                    <a:srgbClr val="006D97">
                      <a:alpha val="100000"/>
                    </a:srgbClr>
                  </a:gs>
                </a:gsLst>
                <a:lin ang="5400000"/>
              </a:gradFill>
              <a:prstDash val="solid"/>
              <a:miter/>
            </a:ln>
          </p:spPr>
        </p:sp>
        <p:sp>
          <p:nvSpPr>
            <p:cNvPr name="TextBox 10" id="10"/>
            <p:cNvSpPr txBox="true"/>
            <p:nvPr/>
          </p:nvSpPr>
          <p:spPr>
            <a:xfrm>
              <a:off x="0" y="-38100"/>
              <a:ext cx="4417685" cy="209610"/>
            </a:xfrm>
            <a:prstGeom prst="rect">
              <a:avLst/>
            </a:prstGeom>
          </p:spPr>
          <p:txBody>
            <a:bodyPr anchor="ctr" rtlCol="false" tIns="50800" lIns="50800" bIns="50800" rIns="50800"/>
            <a:lstStyle/>
            <a:p>
              <a:pPr algn="ctr">
                <a:lnSpc>
                  <a:spcPts val="3499"/>
                </a:lnSpc>
              </a:pPr>
            </a:p>
          </p:txBody>
        </p:sp>
      </p:grpSp>
      <p:sp>
        <p:nvSpPr>
          <p:cNvPr name="TextBox 11" id="11"/>
          <p:cNvSpPr txBox="true"/>
          <p:nvPr/>
        </p:nvSpPr>
        <p:spPr>
          <a:xfrm rot="0">
            <a:off x="15678895" y="699741"/>
            <a:ext cx="1467181" cy="316263"/>
          </a:xfrm>
          <a:prstGeom prst="rect">
            <a:avLst/>
          </a:prstGeom>
        </p:spPr>
        <p:txBody>
          <a:bodyPr anchor="t" rtlCol="false" tIns="0" lIns="0" bIns="0" rIns="0">
            <a:spAutoFit/>
          </a:bodyPr>
          <a:lstStyle/>
          <a:p>
            <a:pPr algn="l">
              <a:lnSpc>
                <a:spcPts val="2520"/>
              </a:lnSpc>
            </a:pPr>
            <a:r>
              <a:rPr lang="en-US" sz="1800">
                <a:solidFill>
                  <a:srgbClr val="FFFFFF"/>
                </a:solidFill>
                <a:latin typeface="Tomorrow"/>
                <a:ea typeface="Tomorrow"/>
                <a:cs typeface="Tomorrow"/>
                <a:sym typeface="Tomorrow"/>
              </a:rPr>
              <a:t>NEXT PAGE</a:t>
            </a:r>
          </a:p>
        </p:txBody>
      </p:sp>
      <p:grpSp>
        <p:nvGrpSpPr>
          <p:cNvPr name="Group 12" id="12"/>
          <p:cNvGrpSpPr/>
          <p:nvPr/>
        </p:nvGrpSpPr>
        <p:grpSpPr>
          <a:xfrm rot="5400000">
            <a:off x="17078240" y="828987"/>
            <a:ext cx="135674" cy="118714"/>
            <a:chOff x="0" y="0"/>
            <a:chExt cx="812800" cy="711200"/>
          </a:xfrm>
        </p:grpSpPr>
        <p:sp>
          <p:nvSpPr>
            <p:cNvPr name="Freeform 13" id="13"/>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5DD3D8"/>
            </a:solidFill>
          </p:spPr>
        </p:sp>
        <p:sp>
          <p:nvSpPr>
            <p:cNvPr name="TextBox 14" id="14"/>
            <p:cNvSpPr txBox="true"/>
            <p:nvPr/>
          </p:nvSpPr>
          <p:spPr>
            <a:xfrm>
              <a:off x="127000" y="292100"/>
              <a:ext cx="558800" cy="368300"/>
            </a:xfrm>
            <a:prstGeom prst="rect">
              <a:avLst/>
            </a:prstGeom>
          </p:spPr>
          <p:txBody>
            <a:bodyPr anchor="ctr" rtlCol="false" tIns="50800" lIns="50800" bIns="50800" rIns="50800"/>
            <a:lstStyle/>
            <a:p>
              <a:pPr algn="ctr">
                <a:lnSpc>
                  <a:spcPts val="3499"/>
                </a:lnSpc>
              </a:pPr>
            </a:p>
          </p:txBody>
        </p:sp>
      </p:grpSp>
      <p:sp>
        <p:nvSpPr>
          <p:cNvPr name="Freeform 15" id="15"/>
          <p:cNvSpPr/>
          <p:nvPr/>
        </p:nvSpPr>
        <p:spPr>
          <a:xfrm flipH="false" flipV="false" rot="0">
            <a:off x="16412486" y="8545707"/>
            <a:ext cx="3471546" cy="3548978"/>
          </a:xfrm>
          <a:custGeom>
            <a:avLst/>
            <a:gdLst/>
            <a:ahLst/>
            <a:cxnLst/>
            <a:rect r="r" b="b" t="t" l="l"/>
            <a:pathLst>
              <a:path h="3548978" w="3471546">
                <a:moveTo>
                  <a:pt x="0" y="0"/>
                </a:moveTo>
                <a:lnTo>
                  <a:pt x="3471545" y="0"/>
                </a:lnTo>
                <a:lnTo>
                  <a:pt x="3471545" y="3548978"/>
                </a:lnTo>
                <a:lnTo>
                  <a:pt x="0" y="3548978"/>
                </a:lnTo>
                <a:lnTo>
                  <a:pt x="0" y="0"/>
                </a:lnTo>
                <a:close/>
              </a:path>
            </a:pathLst>
          </a:custGeom>
          <a:blipFill>
            <a:blip r:embed="rId6">
              <a:alphaModFix amt="42000"/>
              <a:extLst>
                <a:ext uri="{96DAC541-7B7A-43D3-8B79-37D633B846F1}">
                  <asvg:svgBlip xmlns:asvg="http://schemas.microsoft.com/office/drawing/2016/SVG/main" r:embed="rId7"/>
                </a:ext>
              </a:extLst>
            </a:blip>
            <a:stretch>
              <a:fillRect l="0" t="0" r="0" b="0"/>
            </a:stretch>
          </a:blipFill>
        </p:spPr>
      </p:sp>
      <p:grpSp>
        <p:nvGrpSpPr>
          <p:cNvPr name="Group 16" id="16"/>
          <p:cNvGrpSpPr/>
          <p:nvPr/>
        </p:nvGrpSpPr>
        <p:grpSpPr>
          <a:xfrm rot="0">
            <a:off x="9727140" y="1555871"/>
            <a:ext cx="8090263" cy="592262"/>
            <a:chOff x="0" y="0"/>
            <a:chExt cx="1957757" cy="143321"/>
          </a:xfrm>
        </p:grpSpPr>
        <p:sp>
          <p:nvSpPr>
            <p:cNvPr name="Freeform 17" id="17"/>
            <p:cNvSpPr/>
            <p:nvPr/>
          </p:nvSpPr>
          <p:spPr>
            <a:xfrm flipH="false" flipV="false" rot="0">
              <a:off x="0" y="0"/>
              <a:ext cx="1957757" cy="143321"/>
            </a:xfrm>
            <a:custGeom>
              <a:avLst/>
              <a:gdLst/>
              <a:ahLst/>
              <a:cxnLst/>
              <a:rect r="r" b="b" t="t" l="l"/>
              <a:pathLst>
                <a:path h="143321" w="1957757">
                  <a:moveTo>
                    <a:pt x="18182" y="0"/>
                  </a:moveTo>
                  <a:lnTo>
                    <a:pt x="1939576" y="0"/>
                  </a:lnTo>
                  <a:cubicBezTo>
                    <a:pt x="1949617" y="0"/>
                    <a:pt x="1957757" y="8140"/>
                    <a:pt x="1957757" y="18182"/>
                  </a:cubicBezTo>
                  <a:lnTo>
                    <a:pt x="1957757" y="125139"/>
                  </a:lnTo>
                  <a:cubicBezTo>
                    <a:pt x="1957757" y="135181"/>
                    <a:pt x="1949617" y="143321"/>
                    <a:pt x="1939576" y="143321"/>
                  </a:cubicBezTo>
                  <a:lnTo>
                    <a:pt x="18182" y="143321"/>
                  </a:lnTo>
                  <a:cubicBezTo>
                    <a:pt x="8140" y="143321"/>
                    <a:pt x="0" y="135181"/>
                    <a:pt x="0" y="125139"/>
                  </a:cubicBezTo>
                  <a:lnTo>
                    <a:pt x="0" y="18182"/>
                  </a:lnTo>
                  <a:cubicBezTo>
                    <a:pt x="0" y="8140"/>
                    <a:pt x="8140" y="0"/>
                    <a:pt x="18182" y="0"/>
                  </a:cubicBezTo>
                  <a:close/>
                </a:path>
              </a:pathLst>
            </a:custGeom>
            <a:gradFill rotWithShape="true">
              <a:gsLst>
                <a:gs pos="0">
                  <a:srgbClr val="5DD3D8">
                    <a:alpha val="100000"/>
                  </a:srgbClr>
                </a:gs>
                <a:gs pos="100000">
                  <a:srgbClr val="006D97">
                    <a:alpha val="100000"/>
                  </a:srgbClr>
                </a:gs>
              </a:gsLst>
              <a:lin ang="0"/>
            </a:gradFill>
          </p:spPr>
        </p:sp>
        <p:sp>
          <p:nvSpPr>
            <p:cNvPr name="TextBox 18" id="18"/>
            <p:cNvSpPr txBox="true"/>
            <p:nvPr/>
          </p:nvSpPr>
          <p:spPr>
            <a:xfrm>
              <a:off x="0" y="-38100"/>
              <a:ext cx="1957757" cy="181421"/>
            </a:xfrm>
            <a:prstGeom prst="rect">
              <a:avLst/>
            </a:prstGeom>
          </p:spPr>
          <p:txBody>
            <a:bodyPr anchor="ctr" rtlCol="false" tIns="50800" lIns="50800" bIns="50800" rIns="50800"/>
            <a:lstStyle/>
            <a:p>
              <a:pPr algn="ctr">
                <a:lnSpc>
                  <a:spcPts val="3499"/>
                </a:lnSpc>
              </a:pPr>
            </a:p>
          </p:txBody>
        </p:sp>
      </p:grpSp>
      <p:grpSp>
        <p:nvGrpSpPr>
          <p:cNvPr name="Group 19" id="19"/>
          <p:cNvGrpSpPr/>
          <p:nvPr/>
        </p:nvGrpSpPr>
        <p:grpSpPr>
          <a:xfrm rot="5400000">
            <a:off x="9371564" y="2867164"/>
            <a:ext cx="379282" cy="331871"/>
            <a:chOff x="0" y="0"/>
            <a:chExt cx="812800" cy="711200"/>
          </a:xfrm>
        </p:grpSpPr>
        <p:sp>
          <p:nvSpPr>
            <p:cNvPr name="Freeform 20" id="20"/>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5DD3D8"/>
            </a:solidFill>
          </p:spPr>
        </p:sp>
        <p:sp>
          <p:nvSpPr>
            <p:cNvPr name="TextBox 21" id="21"/>
            <p:cNvSpPr txBox="true"/>
            <p:nvPr/>
          </p:nvSpPr>
          <p:spPr>
            <a:xfrm>
              <a:off x="127000" y="292100"/>
              <a:ext cx="558800" cy="368300"/>
            </a:xfrm>
            <a:prstGeom prst="rect">
              <a:avLst/>
            </a:prstGeom>
          </p:spPr>
          <p:txBody>
            <a:bodyPr anchor="ctr" rtlCol="false" tIns="50800" lIns="50800" bIns="50800" rIns="50800"/>
            <a:lstStyle/>
            <a:p>
              <a:pPr algn="ctr">
                <a:lnSpc>
                  <a:spcPts val="3499"/>
                </a:lnSpc>
              </a:pPr>
            </a:p>
          </p:txBody>
        </p:sp>
      </p:grpSp>
      <p:grpSp>
        <p:nvGrpSpPr>
          <p:cNvPr name="Group 22" id="22"/>
          <p:cNvGrpSpPr/>
          <p:nvPr/>
        </p:nvGrpSpPr>
        <p:grpSpPr>
          <a:xfrm rot="5400000">
            <a:off x="9371564" y="3436885"/>
            <a:ext cx="379282" cy="331871"/>
            <a:chOff x="0" y="0"/>
            <a:chExt cx="812800" cy="711200"/>
          </a:xfrm>
        </p:grpSpPr>
        <p:sp>
          <p:nvSpPr>
            <p:cNvPr name="Freeform 23" id="23"/>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5DD3D8"/>
            </a:solidFill>
          </p:spPr>
        </p:sp>
        <p:sp>
          <p:nvSpPr>
            <p:cNvPr name="TextBox 24" id="24"/>
            <p:cNvSpPr txBox="true"/>
            <p:nvPr/>
          </p:nvSpPr>
          <p:spPr>
            <a:xfrm>
              <a:off x="127000" y="292100"/>
              <a:ext cx="558800" cy="368300"/>
            </a:xfrm>
            <a:prstGeom prst="rect">
              <a:avLst/>
            </a:prstGeom>
          </p:spPr>
          <p:txBody>
            <a:bodyPr anchor="ctr" rtlCol="false" tIns="50800" lIns="50800" bIns="50800" rIns="50800"/>
            <a:lstStyle/>
            <a:p>
              <a:pPr algn="ctr">
                <a:lnSpc>
                  <a:spcPts val="3499"/>
                </a:lnSpc>
              </a:pPr>
            </a:p>
          </p:txBody>
        </p:sp>
      </p:grpSp>
      <p:grpSp>
        <p:nvGrpSpPr>
          <p:cNvPr name="Group 25" id="25"/>
          <p:cNvGrpSpPr/>
          <p:nvPr/>
        </p:nvGrpSpPr>
        <p:grpSpPr>
          <a:xfrm rot="5400000">
            <a:off x="9371564" y="3949111"/>
            <a:ext cx="379282" cy="331871"/>
            <a:chOff x="0" y="0"/>
            <a:chExt cx="812800" cy="711200"/>
          </a:xfrm>
        </p:grpSpPr>
        <p:sp>
          <p:nvSpPr>
            <p:cNvPr name="Freeform 26" id="26"/>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5DD3D8"/>
            </a:solidFill>
          </p:spPr>
        </p:sp>
        <p:sp>
          <p:nvSpPr>
            <p:cNvPr name="TextBox 27" id="27"/>
            <p:cNvSpPr txBox="true"/>
            <p:nvPr/>
          </p:nvSpPr>
          <p:spPr>
            <a:xfrm>
              <a:off x="127000" y="292100"/>
              <a:ext cx="558800" cy="368300"/>
            </a:xfrm>
            <a:prstGeom prst="rect">
              <a:avLst/>
            </a:prstGeom>
          </p:spPr>
          <p:txBody>
            <a:bodyPr anchor="ctr" rtlCol="false" tIns="50800" lIns="50800" bIns="50800" rIns="50800"/>
            <a:lstStyle/>
            <a:p>
              <a:pPr algn="ctr">
                <a:lnSpc>
                  <a:spcPts val="3499"/>
                </a:lnSpc>
              </a:pPr>
            </a:p>
          </p:txBody>
        </p:sp>
      </p:grpSp>
      <p:grpSp>
        <p:nvGrpSpPr>
          <p:cNvPr name="Group 28" id="28"/>
          <p:cNvGrpSpPr/>
          <p:nvPr/>
        </p:nvGrpSpPr>
        <p:grpSpPr>
          <a:xfrm rot="5400000">
            <a:off x="9371564" y="4518892"/>
            <a:ext cx="379282" cy="331871"/>
            <a:chOff x="0" y="0"/>
            <a:chExt cx="812800" cy="711200"/>
          </a:xfrm>
        </p:grpSpPr>
        <p:sp>
          <p:nvSpPr>
            <p:cNvPr name="Freeform 29" id="29"/>
            <p:cNvSpPr/>
            <p:nvPr/>
          </p:nvSpPr>
          <p:spPr>
            <a:xfrm flipH="false" flipV="false" rot="0">
              <a:off x="0" y="0"/>
              <a:ext cx="812800" cy="711200"/>
            </a:xfrm>
            <a:custGeom>
              <a:avLst/>
              <a:gdLst/>
              <a:ahLst/>
              <a:cxnLst/>
              <a:rect r="r" b="b" t="t" l="l"/>
              <a:pathLst>
                <a:path h="711200" w="812800">
                  <a:moveTo>
                    <a:pt x="406400" y="0"/>
                  </a:moveTo>
                  <a:lnTo>
                    <a:pt x="812800" y="711200"/>
                  </a:lnTo>
                  <a:lnTo>
                    <a:pt x="0" y="711200"/>
                  </a:lnTo>
                  <a:lnTo>
                    <a:pt x="406400" y="0"/>
                  </a:lnTo>
                  <a:close/>
                </a:path>
              </a:pathLst>
            </a:custGeom>
            <a:solidFill>
              <a:srgbClr val="5DD3D8"/>
            </a:solidFill>
          </p:spPr>
        </p:sp>
        <p:sp>
          <p:nvSpPr>
            <p:cNvPr name="TextBox 30" id="30"/>
            <p:cNvSpPr txBox="true"/>
            <p:nvPr/>
          </p:nvSpPr>
          <p:spPr>
            <a:xfrm>
              <a:off x="127000" y="292100"/>
              <a:ext cx="558800" cy="368300"/>
            </a:xfrm>
            <a:prstGeom prst="rect">
              <a:avLst/>
            </a:prstGeom>
          </p:spPr>
          <p:txBody>
            <a:bodyPr anchor="ctr" rtlCol="false" tIns="50800" lIns="50800" bIns="50800" rIns="50800"/>
            <a:lstStyle/>
            <a:p>
              <a:pPr algn="ctr">
                <a:lnSpc>
                  <a:spcPts val="3499"/>
                </a:lnSpc>
              </a:pPr>
            </a:p>
          </p:txBody>
        </p:sp>
      </p:grpSp>
      <p:sp>
        <p:nvSpPr>
          <p:cNvPr name="Freeform 31" id="31"/>
          <p:cNvSpPr/>
          <p:nvPr/>
        </p:nvSpPr>
        <p:spPr>
          <a:xfrm flipH="false" flipV="false" rot="0">
            <a:off x="9438785" y="6093584"/>
            <a:ext cx="8666974" cy="2838434"/>
          </a:xfrm>
          <a:custGeom>
            <a:avLst/>
            <a:gdLst/>
            <a:ahLst/>
            <a:cxnLst/>
            <a:rect r="r" b="b" t="t" l="l"/>
            <a:pathLst>
              <a:path h="2838434" w="8666974">
                <a:moveTo>
                  <a:pt x="0" y="0"/>
                </a:moveTo>
                <a:lnTo>
                  <a:pt x="8666974" y="0"/>
                </a:lnTo>
                <a:lnTo>
                  <a:pt x="8666974" y="2838434"/>
                </a:lnTo>
                <a:lnTo>
                  <a:pt x="0" y="2838434"/>
                </a:lnTo>
                <a:lnTo>
                  <a:pt x="0" y="0"/>
                </a:lnTo>
                <a:close/>
              </a:path>
            </a:pathLst>
          </a:custGeom>
          <a:blipFill>
            <a:blip r:embed="rId3"/>
            <a:stretch>
              <a:fillRect l="0" t="0" r="0" b="0"/>
            </a:stretch>
          </a:blipFill>
        </p:spPr>
      </p:sp>
      <p:sp>
        <p:nvSpPr>
          <p:cNvPr name="TextBox 32" id="32"/>
          <p:cNvSpPr txBox="true"/>
          <p:nvPr/>
        </p:nvSpPr>
        <p:spPr>
          <a:xfrm rot="0">
            <a:off x="1218062" y="699741"/>
            <a:ext cx="3332215" cy="316263"/>
          </a:xfrm>
          <a:prstGeom prst="rect">
            <a:avLst/>
          </a:prstGeom>
        </p:spPr>
        <p:txBody>
          <a:bodyPr anchor="t" rtlCol="false" tIns="0" lIns="0" bIns="0" rIns="0">
            <a:spAutoFit/>
          </a:bodyPr>
          <a:lstStyle/>
          <a:p>
            <a:pPr algn="l">
              <a:lnSpc>
                <a:spcPts val="2520"/>
              </a:lnSpc>
            </a:pPr>
            <a:r>
              <a:rPr lang="en-US" sz="1800">
                <a:solidFill>
                  <a:srgbClr val="FFFFFF"/>
                </a:solidFill>
                <a:latin typeface="Tomorrow"/>
                <a:ea typeface="Tomorrow"/>
                <a:cs typeface="Tomorrow"/>
                <a:sym typeface="Tomorrow"/>
              </a:rPr>
              <a:t>C</a:t>
            </a:r>
            <a:r>
              <a:rPr lang="en-US" sz="1800">
                <a:solidFill>
                  <a:srgbClr val="FFFFFF"/>
                </a:solidFill>
                <a:latin typeface="Tomorrow"/>
                <a:ea typeface="Tomorrow"/>
                <a:cs typeface="Tomorrow"/>
                <a:sym typeface="Tomorrow"/>
              </a:rPr>
              <a:t>IRCUIT NETWORKS</a:t>
            </a:r>
          </a:p>
        </p:txBody>
      </p:sp>
      <p:sp>
        <p:nvSpPr>
          <p:cNvPr name="TextBox 33" id="33"/>
          <p:cNvSpPr txBox="true"/>
          <p:nvPr/>
        </p:nvSpPr>
        <p:spPr>
          <a:xfrm rot="0">
            <a:off x="800525" y="2392070"/>
            <a:ext cx="7446743" cy="2743633"/>
          </a:xfrm>
          <a:prstGeom prst="rect">
            <a:avLst/>
          </a:prstGeom>
        </p:spPr>
        <p:txBody>
          <a:bodyPr anchor="t" rtlCol="false" tIns="0" lIns="0" bIns="0" rIns="0">
            <a:spAutoFit/>
          </a:bodyPr>
          <a:lstStyle/>
          <a:p>
            <a:pPr algn="ctr">
              <a:lnSpc>
                <a:spcPts val="4390"/>
              </a:lnSpc>
              <a:spcBef>
                <a:spcPct val="0"/>
              </a:spcBef>
            </a:pPr>
            <a:r>
              <a:rPr lang="en-US" sz="3136">
                <a:solidFill>
                  <a:srgbClr val="FFFFFF"/>
                </a:solidFill>
                <a:latin typeface="Pattanakarn"/>
                <a:ea typeface="Pattanakarn"/>
                <a:cs typeface="Pattanakarn"/>
                <a:sym typeface="Pattanakarn"/>
              </a:rPr>
              <a:t>A noninverting amplifier increases the voltage of an input signal without changing its phase. Its gain is controlled by the feedback resistors Rf​ and R1​.</a:t>
            </a:r>
          </a:p>
        </p:txBody>
      </p:sp>
      <p:sp>
        <p:nvSpPr>
          <p:cNvPr name="TextBox 34" id="34"/>
          <p:cNvSpPr txBox="true"/>
          <p:nvPr/>
        </p:nvSpPr>
        <p:spPr>
          <a:xfrm rot="0">
            <a:off x="800525" y="1502435"/>
            <a:ext cx="2651671" cy="622936"/>
          </a:xfrm>
          <a:prstGeom prst="rect">
            <a:avLst/>
          </a:prstGeom>
        </p:spPr>
        <p:txBody>
          <a:bodyPr anchor="t" rtlCol="false" tIns="0" lIns="0" bIns="0" rIns="0">
            <a:spAutoFit/>
          </a:bodyPr>
          <a:lstStyle/>
          <a:p>
            <a:pPr algn="ctr">
              <a:lnSpc>
                <a:spcPts val="5039"/>
              </a:lnSpc>
              <a:spcBef>
                <a:spcPct val="0"/>
              </a:spcBef>
            </a:pPr>
            <a:r>
              <a:rPr lang="en-US" sz="3599">
                <a:solidFill>
                  <a:srgbClr val="FFFFFF"/>
                </a:solidFill>
                <a:latin typeface="Pattanakarn"/>
                <a:ea typeface="Pattanakarn"/>
                <a:cs typeface="Pattanakarn"/>
                <a:sym typeface="Pattanakarn"/>
              </a:rPr>
              <a:t>Conclusion:</a:t>
            </a:r>
          </a:p>
        </p:txBody>
      </p:sp>
      <p:sp>
        <p:nvSpPr>
          <p:cNvPr name="TextBox 35" id="35"/>
          <p:cNvSpPr txBox="true"/>
          <p:nvPr/>
        </p:nvSpPr>
        <p:spPr>
          <a:xfrm rot="0">
            <a:off x="587728" y="5571354"/>
            <a:ext cx="3962549" cy="505658"/>
          </a:xfrm>
          <a:prstGeom prst="rect">
            <a:avLst/>
          </a:prstGeom>
        </p:spPr>
        <p:txBody>
          <a:bodyPr anchor="t" rtlCol="false" tIns="0" lIns="0" bIns="0" rIns="0">
            <a:spAutoFit/>
          </a:bodyPr>
          <a:lstStyle/>
          <a:p>
            <a:pPr algn="ctr">
              <a:lnSpc>
                <a:spcPts val="4154"/>
              </a:lnSpc>
              <a:spcBef>
                <a:spcPct val="0"/>
              </a:spcBef>
            </a:pPr>
            <a:r>
              <a:rPr lang="en-US" sz="2967">
                <a:solidFill>
                  <a:srgbClr val="FFFFFF"/>
                </a:solidFill>
                <a:latin typeface="Pattanakarn"/>
                <a:ea typeface="Pattanakarn"/>
                <a:cs typeface="Pattanakarn"/>
                <a:sym typeface="Pattanakarn"/>
              </a:rPr>
              <a:t>The main equation is:</a:t>
            </a:r>
          </a:p>
        </p:txBody>
      </p:sp>
      <p:sp>
        <p:nvSpPr>
          <p:cNvPr name="TextBox 36" id="36"/>
          <p:cNvSpPr txBox="true"/>
          <p:nvPr/>
        </p:nvSpPr>
        <p:spPr>
          <a:xfrm rot="0">
            <a:off x="1844748" y="6835380"/>
            <a:ext cx="4102219" cy="641853"/>
          </a:xfrm>
          <a:prstGeom prst="rect">
            <a:avLst/>
          </a:prstGeom>
        </p:spPr>
        <p:txBody>
          <a:bodyPr anchor="t" rtlCol="false" tIns="0" lIns="0" bIns="0" rIns="0">
            <a:spAutoFit/>
          </a:bodyPr>
          <a:lstStyle/>
          <a:p>
            <a:pPr algn="ctr">
              <a:lnSpc>
                <a:spcPts val="5229"/>
              </a:lnSpc>
              <a:spcBef>
                <a:spcPct val="0"/>
              </a:spcBef>
            </a:pPr>
            <a:r>
              <a:rPr lang="en-US" sz="3735">
                <a:solidFill>
                  <a:srgbClr val="191E6B"/>
                </a:solidFill>
                <a:latin typeface="Pattanakarn"/>
                <a:ea typeface="Pattanakarn"/>
                <a:cs typeface="Pattanakarn"/>
                <a:sym typeface="Pattanakarn"/>
              </a:rPr>
              <a:t>Av      = 1+ Rf​</a:t>
            </a:r>
          </a:p>
        </p:txBody>
      </p:sp>
      <p:sp>
        <p:nvSpPr>
          <p:cNvPr name="TextBox 37" id="37"/>
          <p:cNvSpPr txBox="true"/>
          <p:nvPr/>
        </p:nvSpPr>
        <p:spPr>
          <a:xfrm rot="0">
            <a:off x="4754173" y="7632972"/>
            <a:ext cx="779486" cy="586943"/>
          </a:xfrm>
          <a:prstGeom prst="rect">
            <a:avLst/>
          </a:prstGeom>
        </p:spPr>
        <p:txBody>
          <a:bodyPr anchor="t" rtlCol="false" tIns="0" lIns="0" bIns="0" rIns="0">
            <a:spAutoFit/>
          </a:bodyPr>
          <a:lstStyle/>
          <a:p>
            <a:pPr algn="ctr">
              <a:lnSpc>
                <a:spcPts val="4872"/>
              </a:lnSpc>
              <a:spcBef>
                <a:spcPct val="0"/>
              </a:spcBef>
            </a:pPr>
            <a:r>
              <a:rPr lang="en-US" sz="3480">
                <a:solidFill>
                  <a:srgbClr val="191E6B"/>
                </a:solidFill>
                <a:latin typeface="Pattanakarn"/>
                <a:ea typeface="Pattanakarn"/>
                <a:cs typeface="Pattanakarn"/>
                <a:sym typeface="Pattanakarn"/>
              </a:rPr>
              <a:t>R1</a:t>
            </a:r>
          </a:p>
        </p:txBody>
      </p:sp>
      <p:sp>
        <p:nvSpPr>
          <p:cNvPr name="TextBox 38" id="38"/>
          <p:cNvSpPr txBox="true"/>
          <p:nvPr/>
        </p:nvSpPr>
        <p:spPr>
          <a:xfrm rot="0">
            <a:off x="4607286" y="7137257"/>
            <a:ext cx="1073260" cy="462898"/>
          </a:xfrm>
          <a:prstGeom prst="rect">
            <a:avLst/>
          </a:prstGeom>
        </p:spPr>
        <p:txBody>
          <a:bodyPr anchor="t" rtlCol="false" tIns="0" lIns="0" bIns="0" rIns="0">
            <a:spAutoFit/>
          </a:bodyPr>
          <a:lstStyle/>
          <a:p>
            <a:pPr algn="ctr">
              <a:lnSpc>
                <a:spcPts val="3774"/>
              </a:lnSpc>
              <a:spcBef>
                <a:spcPct val="0"/>
              </a:spcBef>
            </a:pPr>
            <a:r>
              <a:rPr lang="en-US" sz="2696">
                <a:solidFill>
                  <a:srgbClr val="191E6B"/>
                </a:solidFill>
                <a:latin typeface="Pattanakarn"/>
                <a:ea typeface="Pattanakarn"/>
                <a:cs typeface="Pattanakarn"/>
                <a:sym typeface="Pattanakarn"/>
              </a:rPr>
              <a:t>_____</a:t>
            </a:r>
          </a:p>
        </p:txBody>
      </p:sp>
      <p:sp>
        <p:nvSpPr>
          <p:cNvPr name="TextBox 39" id="39"/>
          <p:cNvSpPr txBox="true"/>
          <p:nvPr/>
        </p:nvSpPr>
        <p:spPr>
          <a:xfrm rot="0">
            <a:off x="2847914" y="7287855"/>
            <a:ext cx="1047943" cy="402266"/>
          </a:xfrm>
          <a:prstGeom prst="rect">
            <a:avLst/>
          </a:prstGeom>
        </p:spPr>
        <p:txBody>
          <a:bodyPr anchor="t" rtlCol="false" tIns="0" lIns="0" bIns="0" rIns="0">
            <a:spAutoFit/>
          </a:bodyPr>
          <a:lstStyle/>
          <a:p>
            <a:pPr algn="ctr">
              <a:lnSpc>
                <a:spcPts val="3324"/>
              </a:lnSpc>
              <a:spcBef>
                <a:spcPct val="0"/>
              </a:spcBef>
            </a:pPr>
            <a:r>
              <a:rPr lang="en-US" sz="2374">
                <a:solidFill>
                  <a:srgbClr val="191E6B"/>
                </a:solidFill>
                <a:latin typeface="Pattanakarn"/>
                <a:ea typeface="Pattanakarn"/>
                <a:cs typeface="Pattanakarn"/>
                <a:sym typeface="Pattanakarn"/>
              </a:rPr>
              <a:t>(CL)</a:t>
            </a:r>
          </a:p>
        </p:txBody>
      </p:sp>
      <p:sp>
        <p:nvSpPr>
          <p:cNvPr name="TextBox 40" id="40"/>
          <p:cNvSpPr txBox="true"/>
          <p:nvPr/>
        </p:nvSpPr>
        <p:spPr>
          <a:xfrm rot="0">
            <a:off x="10395797" y="1600498"/>
            <a:ext cx="7063443" cy="455384"/>
          </a:xfrm>
          <a:prstGeom prst="rect">
            <a:avLst/>
          </a:prstGeom>
        </p:spPr>
        <p:txBody>
          <a:bodyPr anchor="t" rtlCol="false" tIns="0" lIns="0" bIns="0" rIns="0">
            <a:spAutoFit/>
          </a:bodyPr>
          <a:lstStyle/>
          <a:p>
            <a:pPr algn="ctr">
              <a:lnSpc>
                <a:spcPts val="3809"/>
              </a:lnSpc>
              <a:spcBef>
                <a:spcPct val="0"/>
              </a:spcBef>
            </a:pPr>
            <a:r>
              <a:rPr lang="en-US" sz="2720">
                <a:solidFill>
                  <a:srgbClr val="FFFFFF"/>
                </a:solidFill>
                <a:latin typeface="Pattanakarn"/>
                <a:ea typeface="Pattanakarn"/>
                <a:cs typeface="Pattanakarn"/>
                <a:sym typeface="Pattanakarn"/>
              </a:rPr>
              <a:t>The circuit is useful because it provides:</a:t>
            </a:r>
          </a:p>
        </p:txBody>
      </p:sp>
      <p:sp>
        <p:nvSpPr>
          <p:cNvPr name="TextBox 41" id="41"/>
          <p:cNvSpPr txBox="true"/>
          <p:nvPr/>
        </p:nvSpPr>
        <p:spPr>
          <a:xfrm rot="0">
            <a:off x="9812614" y="2795834"/>
            <a:ext cx="8475386" cy="2590800"/>
          </a:xfrm>
          <a:prstGeom prst="rect">
            <a:avLst/>
          </a:prstGeom>
        </p:spPr>
        <p:txBody>
          <a:bodyPr anchor="t" rtlCol="false" tIns="0" lIns="0" bIns="0" rIns="0">
            <a:spAutoFit/>
          </a:bodyPr>
          <a:lstStyle/>
          <a:p>
            <a:pPr algn="l">
              <a:lnSpc>
                <a:spcPts val="4199"/>
              </a:lnSpc>
              <a:spcBef>
                <a:spcPct val="0"/>
              </a:spcBef>
            </a:pPr>
            <a:r>
              <a:rPr lang="en-US" sz="2999">
                <a:solidFill>
                  <a:srgbClr val="FFFFFF"/>
                </a:solidFill>
                <a:latin typeface="Pattanakarn"/>
                <a:ea typeface="Pattanakarn"/>
                <a:cs typeface="Pattanakarn"/>
                <a:sym typeface="Pattanakarn"/>
              </a:rPr>
              <a:t>Stable voltage gain.</a:t>
            </a:r>
          </a:p>
          <a:p>
            <a:pPr algn="l">
              <a:lnSpc>
                <a:spcPts val="4199"/>
              </a:lnSpc>
              <a:spcBef>
                <a:spcPct val="0"/>
              </a:spcBef>
            </a:pPr>
            <a:r>
              <a:rPr lang="en-US" sz="2999">
                <a:solidFill>
                  <a:srgbClr val="FFFFFF"/>
                </a:solidFill>
                <a:latin typeface="Pattanakarn"/>
                <a:ea typeface="Pattanakarn"/>
                <a:cs typeface="Pattanakarn"/>
                <a:sym typeface="Pattanakarn"/>
              </a:rPr>
              <a:t>High input impedance.</a:t>
            </a:r>
          </a:p>
          <a:p>
            <a:pPr algn="l">
              <a:lnSpc>
                <a:spcPts val="4199"/>
              </a:lnSpc>
              <a:spcBef>
                <a:spcPct val="0"/>
              </a:spcBef>
            </a:pPr>
            <a:r>
              <a:rPr lang="en-US" sz="2999">
                <a:solidFill>
                  <a:srgbClr val="FFFFFF"/>
                </a:solidFill>
                <a:latin typeface="Pattanakarn"/>
                <a:ea typeface="Pattanakarn"/>
                <a:cs typeface="Pattanakarn"/>
                <a:sym typeface="Pattanakarn"/>
              </a:rPr>
              <a:t>Low output impedance.</a:t>
            </a:r>
          </a:p>
          <a:p>
            <a:pPr algn="l">
              <a:lnSpc>
                <a:spcPts val="4199"/>
              </a:lnSpc>
              <a:spcBef>
                <a:spcPct val="0"/>
              </a:spcBef>
            </a:pPr>
            <a:r>
              <a:rPr lang="en-US" sz="2999">
                <a:solidFill>
                  <a:srgbClr val="FFFFFF"/>
                </a:solidFill>
                <a:latin typeface="Pattanakarn"/>
                <a:ea typeface="Pattanakarn"/>
                <a:cs typeface="Pattanakarn"/>
                <a:sym typeface="Pattanakarn"/>
              </a:rPr>
              <a:t>An output signal that is in phase with the input.</a:t>
            </a:r>
          </a:p>
        </p:txBody>
      </p:sp>
      <p:sp>
        <p:nvSpPr>
          <p:cNvPr name="TextBox 42" id="42"/>
          <p:cNvSpPr txBox="true"/>
          <p:nvPr/>
        </p:nvSpPr>
        <p:spPr>
          <a:xfrm rot="0">
            <a:off x="9812614" y="6375508"/>
            <a:ext cx="7898035" cy="2165350"/>
          </a:xfrm>
          <a:prstGeom prst="rect">
            <a:avLst/>
          </a:prstGeom>
        </p:spPr>
        <p:txBody>
          <a:bodyPr anchor="t" rtlCol="false" tIns="0" lIns="0" bIns="0" rIns="0">
            <a:spAutoFit/>
          </a:bodyPr>
          <a:lstStyle/>
          <a:p>
            <a:pPr algn="ctr">
              <a:lnSpc>
                <a:spcPts val="3499"/>
              </a:lnSpc>
              <a:spcBef>
                <a:spcPct val="0"/>
              </a:spcBef>
            </a:pPr>
            <a:r>
              <a:rPr lang="en-US" sz="2499">
                <a:solidFill>
                  <a:srgbClr val="010B54"/>
                </a:solidFill>
                <a:latin typeface="Pattanakarn"/>
                <a:ea typeface="Pattanakarn"/>
                <a:cs typeface="Pattanakarn"/>
                <a:sym typeface="Pattanakarn"/>
              </a:rPr>
              <a:t>The circuit must operate in its linear region. If the required output voltage is greater than the op-amp can provide, the output will become saturated and the calculated result will not be accurate.</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83416" r="0" b="-83416"/>
            </a:stretch>
          </a:blipFill>
        </p:spPr>
      </p:sp>
      <p:sp>
        <p:nvSpPr>
          <p:cNvPr name="Freeform 3" id="3"/>
          <p:cNvSpPr/>
          <p:nvPr/>
        </p:nvSpPr>
        <p:spPr>
          <a:xfrm flipH="false" flipV="false" rot="-763965">
            <a:off x="695400" y="6092657"/>
            <a:ext cx="2414477" cy="3618427"/>
          </a:xfrm>
          <a:custGeom>
            <a:avLst/>
            <a:gdLst/>
            <a:ahLst/>
            <a:cxnLst/>
            <a:rect r="r" b="b" t="t" l="l"/>
            <a:pathLst>
              <a:path h="3618427" w="2414477">
                <a:moveTo>
                  <a:pt x="0" y="0"/>
                </a:moveTo>
                <a:lnTo>
                  <a:pt x="2414477" y="0"/>
                </a:lnTo>
                <a:lnTo>
                  <a:pt x="2414477" y="3618427"/>
                </a:lnTo>
                <a:lnTo>
                  <a:pt x="0" y="361842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640895">
            <a:off x="13918395" y="763385"/>
            <a:ext cx="3670729" cy="1579267"/>
          </a:xfrm>
          <a:custGeom>
            <a:avLst/>
            <a:gdLst/>
            <a:ahLst/>
            <a:cxnLst/>
            <a:rect r="r" b="b" t="t" l="l"/>
            <a:pathLst>
              <a:path h="1579267" w="3670729">
                <a:moveTo>
                  <a:pt x="0" y="0"/>
                </a:moveTo>
                <a:lnTo>
                  <a:pt x="3670729" y="0"/>
                </a:lnTo>
                <a:lnTo>
                  <a:pt x="3670729" y="1579267"/>
                </a:lnTo>
                <a:lnTo>
                  <a:pt x="0" y="157926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true" flipV="false" rot="344870">
            <a:off x="14901271" y="6470089"/>
            <a:ext cx="2665717" cy="2863563"/>
          </a:xfrm>
          <a:custGeom>
            <a:avLst/>
            <a:gdLst/>
            <a:ahLst/>
            <a:cxnLst/>
            <a:rect r="r" b="b" t="t" l="l"/>
            <a:pathLst>
              <a:path h="2863563" w="2665717">
                <a:moveTo>
                  <a:pt x="2665718" y="0"/>
                </a:moveTo>
                <a:lnTo>
                  <a:pt x="0" y="0"/>
                </a:lnTo>
                <a:lnTo>
                  <a:pt x="0" y="2863563"/>
                </a:lnTo>
                <a:lnTo>
                  <a:pt x="2665718" y="2863563"/>
                </a:lnTo>
                <a:lnTo>
                  <a:pt x="2665718"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808180">
            <a:off x="613723" y="648964"/>
            <a:ext cx="2419657" cy="2419657"/>
          </a:xfrm>
          <a:custGeom>
            <a:avLst/>
            <a:gdLst/>
            <a:ahLst/>
            <a:cxnLst/>
            <a:rect r="r" b="b" t="t" l="l"/>
            <a:pathLst>
              <a:path h="2419657" w="2419657">
                <a:moveTo>
                  <a:pt x="0" y="0"/>
                </a:moveTo>
                <a:lnTo>
                  <a:pt x="2419657" y="0"/>
                </a:lnTo>
                <a:lnTo>
                  <a:pt x="2419657" y="2419657"/>
                </a:lnTo>
                <a:lnTo>
                  <a:pt x="0" y="241965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7" id="7"/>
          <p:cNvSpPr txBox="true"/>
          <p:nvPr/>
        </p:nvSpPr>
        <p:spPr>
          <a:xfrm rot="0">
            <a:off x="2653195" y="3639893"/>
            <a:ext cx="12981611" cy="3245338"/>
          </a:xfrm>
          <a:prstGeom prst="rect">
            <a:avLst/>
          </a:prstGeom>
        </p:spPr>
        <p:txBody>
          <a:bodyPr anchor="t" rtlCol="false" tIns="0" lIns="0" bIns="0" rIns="0">
            <a:spAutoFit/>
          </a:bodyPr>
          <a:lstStyle/>
          <a:p>
            <a:pPr algn="ctr">
              <a:lnSpc>
                <a:spcPts val="12467"/>
              </a:lnSpc>
            </a:pPr>
            <a:r>
              <a:rPr lang="en-US" b="true" sz="12467">
                <a:solidFill>
                  <a:srgbClr val="FFFFFF"/>
                </a:solidFill>
                <a:latin typeface="Space Mono Bold"/>
                <a:ea typeface="Space Mono Bold"/>
                <a:cs typeface="Space Mono Bold"/>
                <a:sym typeface="Space Mono Bold"/>
              </a:rPr>
              <a:t>THANK</a:t>
            </a:r>
          </a:p>
          <a:p>
            <a:pPr algn="ctr">
              <a:lnSpc>
                <a:spcPts val="12467"/>
              </a:lnSpc>
            </a:pPr>
            <a:r>
              <a:rPr lang="en-US" b="true" sz="12467">
                <a:solidFill>
                  <a:srgbClr val="FFFFFF"/>
                </a:solidFill>
                <a:latin typeface="Space Mono Bold"/>
                <a:ea typeface="Space Mono Bold"/>
                <a:cs typeface="Space Mono Bold"/>
                <a:sym typeface="Space Mono Bold"/>
              </a:rPr>
              <a:t>YOU</a:t>
            </a:r>
          </a:p>
        </p:txBody>
      </p:sp>
      <p:sp>
        <p:nvSpPr>
          <p:cNvPr name="Freeform 8" id="8"/>
          <p:cNvSpPr/>
          <p:nvPr/>
        </p:nvSpPr>
        <p:spPr>
          <a:xfrm flipH="false" flipV="false" rot="-1093760">
            <a:off x="552535" y="3997413"/>
            <a:ext cx="1193391" cy="1193391"/>
          </a:xfrm>
          <a:custGeom>
            <a:avLst/>
            <a:gdLst/>
            <a:ahLst/>
            <a:cxnLst/>
            <a:rect r="r" b="b" t="t" l="l"/>
            <a:pathLst>
              <a:path h="1193391" w="1193391">
                <a:moveTo>
                  <a:pt x="0" y="0"/>
                </a:moveTo>
                <a:lnTo>
                  <a:pt x="1193391" y="0"/>
                </a:lnTo>
                <a:lnTo>
                  <a:pt x="1193391" y="1193391"/>
                </a:lnTo>
                <a:lnTo>
                  <a:pt x="0" y="119339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9" id="9"/>
          <p:cNvSpPr/>
          <p:nvPr/>
        </p:nvSpPr>
        <p:spPr>
          <a:xfrm flipH="false" flipV="false" rot="0">
            <a:off x="16234130" y="3813668"/>
            <a:ext cx="1329832" cy="1329832"/>
          </a:xfrm>
          <a:custGeom>
            <a:avLst/>
            <a:gdLst/>
            <a:ahLst/>
            <a:cxnLst/>
            <a:rect r="r" b="b" t="t" l="l"/>
            <a:pathLst>
              <a:path h="1329832" w="1329832">
                <a:moveTo>
                  <a:pt x="0" y="0"/>
                </a:moveTo>
                <a:lnTo>
                  <a:pt x="1329832" y="0"/>
                </a:lnTo>
                <a:lnTo>
                  <a:pt x="1329832" y="1329832"/>
                </a:lnTo>
                <a:lnTo>
                  <a:pt x="0" y="132983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DAHTxY059U0</dc:identifier>
  <dcterms:modified xsi:type="dcterms:W3CDTF">2011-08-01T06:04:30Z</dcterms:modified>
  <cp:revision>1</cp:revision>
  <dc:title>Blue Modern Tech Sensor &amp; Data Presentation</dc:title>
</cp:coreProperties>
</file>